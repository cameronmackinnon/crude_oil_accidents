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56" r:id="rId3"/>
    <p:sldId id="265" r:id="rId4"/>
    <p:sldId id="264" r:id="rId5"/>
    <p:sldId id="266" r:id="rId6"/>
    <p:sldId id="278" r:id="rId7"/>
    <p:sldId id="279" r:id="rId8"/>
    <p:sldId id="288" r:id="rId9"/>
    <p:sldId id="271" r:id="rId10"/>
    <p:sldId id="283" r:id="rId11"/>
    <p:sldId id="282" r:id="rId12"/>
    <p:sldId id="286" r:id="rId13"/>
    <p:sldId id="274" r:id="rId14"/>
    <p:sldId id="267" r:id="rId15"/>
    <p:sldId id="263" r:id="rId16"/>
    <p:sldId id="277" r:id="rId17"/>
    <p:sldId id="287"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9FC"/>
    <a:srgbClr val="0A2636"/>
    <a:srgbClr val="2DAAAF"/>
    <a:srgbClr val="175C61"/>
    <a:srgbClr val="FF0000"/>
    <a:srgbClr val="2CABAF"/>
    <a:srgbClr val="F6F9FB"/>
    <a:srgbClr val="36AAB0"/>
    <a:srgbClr val="FFC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40"/>
    <p:restoredTop sz="94609"/>
  </p:normalViewPr>
  <p:slideViewPr>
    <p:cSldViewPr snapToGrid="0">
      <p:cViewPr varScale="1">
        <p:scale>
          <a:sx n="147" d="100"/>
          <a:sy n="147" d="100"/>
        </p:scale>
        <p:origin x="15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4D0A-E1ED-5C57-0D99-B029F91DC5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6C0ADC-07C5-0123-1C9B-27AEC2EC11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A630FE-1D7B-7BB8-B07D-7B1179486125}"/>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5" name="Footer Placeholder 4">
            <a:extLst>
              <a:ext uri="{FF2B5EF4-FFF2-40B4-BE49-F238E27FC236}">
                <a16:creationId xmlns:a16="http://schemas.microsoft.com/office/drawing/2014/main" id="{4552BF43-605E-560E-FA8D-DAB08F3F6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B871D0-8173-D3B6-6E66-9BB502CC18B1}"/>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320172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E6529-5BE5-0AD8-CBC7-2ED6A8D099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D7B846-0CB8-C82A-05C5-7F9FC1D438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DF5E7-DAEB-33D0-4684-D9719C6DEC7C}"/>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5" name="Footer Placeholder 4">
            <a:extLst>
              <a:ext uri="{FF2B5EF4-FFF2-40B4-BE49-F238E27FC236}">
                <a16:creationId xmlns:a16="http://schemas.microsoft.com/office/drawing/2014/main" id="{ADDCB93A-7F23-4CEE-C8D4-7980371916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33780-3C2D-EEC4-59D0-90918FEF9383}"/>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168175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1EC98-330C-CE06-0378-5C02F8B43E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B7DCBC-D9D3-9263-8DB2-3623EEA554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56E002-8F61-561F-86DB-40AB9AB570DB}"/>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5" name="Footer Placeholder 4">
            <a:extLst>
              <a:ext uri="{FF2B5EF4-FFF2-40B4-BE49-F238E27FC236}">
                <a16:creationId xmlns:a16="http://schemas.microsoft.com/office/drawing/2014/main" id="{1DE34117-CEC8-40CA-0A61-8BBC67A79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F6604-EACD-042C-4A34-1527D979109B}"/>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30624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06DAB-6F3C-D3B6-F9C5-993AA5190E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590C6E-9CEA-B52A-E10C-D8D9B8FB6E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3D157F-A9B5-9703-AC0C-FB6D8E4602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9B00BB-4211-C4B9-C9F7-80BB246F6353}"/>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6" name="Footer Placeholder 5">
            <a:extLst>
              <a:ext uri="{FF2B5EF4-FFF2-40B4-BE49-F238E27FC236}">
                <a16:creationId xmlns:a16="http://schemas.microsoft.com/office/drawing/2014/main" id="{470EB9D0-4D83-7ABA-F369-7C7189AAD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AF73CD-26B1-E97D-773B-6C7243EF6255}"/>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24791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18774-24C1-6B70-E733-A582313BA9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B8002E-7618-100E-EA3B-6CBF5CFCD9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591FFC-B8EC-FA38-4CF7-F2F1130C09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FF3533-EE77-981D-2105-259256E7C4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A876E7-62C5-18D1-BEED-B851930BC9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81756A-D127-74BD-A17A-B90B5EACA62C}"/>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8" name="Footer Placeholder 7">
            <a:extLst>
              <a:ext uri="{FF2B5EF4-FFF2-40B4-BE49-F238E27FC236}">
                <a16:creationId xmlns:a16="http://schemas.microsoft.com/office/drawing/2014/main" id="{1055A8B8-86AF-1434-1CFE-7EF2D53B84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EFC9DB-C534-742D-6CD3-8420E29DD316}"/>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174012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42785-F6CF-8AAF-64C1-5004BC1B0A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87C524-2E0E-CF5D-FD4B-D1AC319488CB}"/>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4" name="Footer Placeholder 3">
            <a:extLst>
              <a:ext uri="{FF2B5EF4-FFF2-40B4-BE49-F238E27FC236}">
                <a16:creationId xmlns:a16="http://schemas.microsoft.com/office/drawing/2014/main" id="{2DEE261A-4E0F-06A8-1E4C-A798E42FB6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01D0BF-7E8D-D99E-BEF6-91D6645B8845}"/>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7949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A2D605-B790-F0D4-8378-2CEDFF2A74FE}"/>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3" name="Footer Placeholder 2">
            <a:extLst>
              <a:ext uri="{FF2B5EF4-FFF2-40B4-BE49-F238E27FC236}">
                <a16:creationId xmlns:a16="http://schemas.microsoft.com/office/drawing/2014/main" id="{53238132-0A4F-03DF-58B1-94BF9128DF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6177E9-763D-2D5D-9D8C-97B20F8E4A7F}"/>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410957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F000-DE8A-CE9E-41F4-F694C6CBC1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E82CB7-DF53-D0A9-F02E-92927C209C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594C14-7299-956F-C961-BED0731CD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009C1-E38C-C2A1-7912-337666758055}"/>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6" name="Footer Placeholder 5">
            <a:extLst>
              <a:ext uri="{FF2B5EF4-FFF2-40B4-BE49-F238E27FC236}">
                <a16:creationId xmlns:a16="http://schemas.microsoft.com/office/drawing/2014/main" id="{E817D2FF-00E2-5DCA-C61F-695D851285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2D0CA8-769C-1161-F822-37861152E99E}"/>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3268242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2AE2-56A6-1953-1EC6-1C380A044A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07935E-DE29-E13C-2EFF-A731AE506F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573276-6F92-B28B-DFF6-B85B15CA0B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E0E02C-8F0E-0766-10B8-3D13F31EBC6D}"/>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6" name="Footer Placeholder 5">
            <a:extLst>
              <a:ext uri="{FF2B5EF4-FFF2-40B4-BE49-F238E27FC236}">
                <a16:creationId xmlns:a16="http://schemas.microsoft.com/office/drawing/2014/main" id="{39382496-98D3-8388-AD22-0F4E4D699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F996A0-FC2B-88E3-5E35-2293932622B5}"/>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158459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6E25-C21D-D50B-12F1-31691B1134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38063E-5F85-1778-60EC-43CE288313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4A609A-6CF0-65DD-7EB1-6AACF166AC98}"/>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5" name="Footer Placeholder 4">
            <a:extLst>
              <a:ext uri="{FF2B5EF4-FFF2-40B4-BE49-F238E27FC236}">
                <a16:creationId xmlns:a16="http://schemas.microsoft.com/office/drawing/2014/main" id="{0C48029D-4661-8072-483E-2EDA5A22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99EDA1-A260-41E2-9E3A-54A9E1629DAA}"/>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2081663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17EE9-2527-9EAC-DEDA-46B849C1D0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E14748-244C-0064-4007-8F59163AEA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82F76A-A9E6-D00E-72F6-74D78A1A8B43}"/>
              </a:ext>
            </a:extLst>
          </p:cNvPr>
          <p:cNvSpPr>
            <a:spLocks noGrp="1"/>
          </p:cNvSpPr>
          <p:nvPr>
            <p:ph type="dt" sz="half" idx="10"/>
          </p:nvPr>
        </p:nvSpPr>
        <p:spPr/>
        <p:txBody>
          <a:bodyPr/>
          <a:lstStyle/>
          <a:p>
            <a:fld id="{F2B6BF67-2978-CE4D-8D5C-6E816D1CE5DA}" type="datetimeFigureOut">
              <a:rPr lang="en-US" smtClean="0"/>
              <a:t>1/28/24</a:t>
            </a:fld>
            <a:endParaRPr lang="en-US"/>
          </a:p>
        </p:txBody>
      </p:sp>
      <p:sp>
        <p:nvSpPr>
          <p:cNvPr id="5" name="Footer Placeholder 4">
            <a:extLst>
              <a:ext uri="{FF2B5EF4-FFF2-40B4-BE49-F238E27FC236}">
                <a16:creationId xmlns:a16="http://schemas.microsoft.com/office/drawing/2014/main" id="{288FDC10-B7C5-1653-745E-520E93224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A00E2E-4D15-2875-D036-3FB9C012BBAC}"/>
              </a:ext>
            </a:extLst>
          </p:cNvPr>
          <p:cNvSpPr>
            <a:spLocks noGrp="1"/>
          </p:cNvSpPr>
          <p:nvPr>
            <p:ph type="sldNum" sz="quarter" idx="12"/>
          </p:nvPr>
        </p:nvSpPr>
        <p:spPr/>
        <p:txBody>
          <a:bodyPr/>
          <a:lstStyle/>
          <a:p>
            <a:fld id="{A7330F7D-D613-E24A-9838-C4B5C3515E0D}" type="slidenum">
              <a:rPr lang="en-US" smtClean="0"/>
              <a:t>‹#›</a:t>
            </a:fld>
            <a:endParaRPr lang="en-US"/>
          </a:p>
        </p:txBody>
      </p:sp>
    </p:spTree>
    <p:extLst>
      <p:ext uri="{BB962C8B-B14F-4D97-AF65-F5344CB8AC3E}">
        <p14:creationId xmlns:p14="http://schemas.microsoft.com/office/powerpoint/2010/main" val="140224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0EE122-A685-2B1F-28CC-3E492A8655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F6834F-F1AC-C207-8881-5AA24912A8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0FF414-9283-03A5-C327-17E5CB0EFD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B6BF67-2978-CE4D-8D5C-6E816D1CE5DA}" type="datetimeFigureOut">
              <a:rPr lang="en-US" smtClean="0"/>
              <a:t>1/28/24</a:t>
            </a:fld>
            <a:endParaRPr lang="en-US"/>
          </a:p>
        </p:txBody>
      </p:sp>
      <p:sp>
        <p:nvSpPr>
          <p:cNvPr id="5" name="Footer Placeholder 4">
            <a:extLst>
              <a:ext uri="{FF2B5EF4-FFF2-40B4-BE49-F238E27FC236}">
                <a16:creationId xmlns:a16="http://schemas.microsoft.com/office/drawing/2014/main" id="{0258DD94-17DC-117C-0836-3192D08ACE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6908EB-6321-127E-2E17-10E2F54E60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30F7D-D613-E24A-9838-C4B5C3515E0D}" type="slidenum">
              <a:rPr lang="en-US" smtClean="0"/>
              <a:t>‹#›</a:t>
            </a:fld>
            <a:endParaRPr lang="en-US"/>
          </a:p>
        </p:txBody>
      </p:sp>
    </p:spTree>
    <p:extLst>
      <p:ext uri="{BB962C8B-B14F-4D97-AF65-F5344CB8AC3E}">
        <p14:creationId xmlns:p14="http://schemas.microsoft.com/office/powerpoint/2010/main" val="1450351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epa.gov/emergency-response/types-crude-oil"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eia.gov/dnav/pet/TblDefs/pet_pnp_crq_tbldef2.asp" TargetMode="External"/><Relationship Id="rId7" Type="http://schemas.openxmlformats.org/officeDocument/2006/relationships/hyperlink" Target="https://www.phmsa.dot.gov/regulations"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natural-resources.canada.ca/our-natural-resources/energy-sources-distribution/fossil-fuels/pipelines/faqs-federally-regulated-petroleum-pipelines-canada/5893#h-4-1" TargetMode="External"/><Relationship Id="rId5" Type="http://schemas.openxmlformats.org/officeDocument/2006/relationships/hyperlink" Target="https://www.phmsa.dot.gov/incident-reporting/accident-investigation-division/pipeline-failure-causes" TargetMode="External"/><Relationship Id="rId4" Type="http://schemas.openxmlformats.org/officeDocument/2006/relationships/hyperlink" Target="https://www.pipesearch.com/blog/sweet-and-sour-crude-oil/136"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41E8-7A77-B683-CBCA-B721AC37DB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2D54F5-96FD-BFB9-21CC-0BD88CE6E898}"/>
              </a:ext>
            </a:extLst>
          </p:cNvPr>
          <p:cNvSpPr>
            <a:spLocks noGrp="1"/>
          </p:cNvSpPr>
          <p:nvPr>
            <p:ph idx="1"/>
          </p:nvPr>
        </p:nvSpPr>
        <p:spPr/>
        <p:txBody>
          <a:bodyPr/>
          <a:lstStyle/>
          <a:p>
            <a:endParaRPr lang="en-US"/>
          </a:p>
        </p:txBody>
      </p:sp>
      <p:pic>
        <p:nvPicPr>
          <p:cNvPr id="6146" name="Picture 2" descr="Why Is Validere a Great Place to Work? - Validere">
            <a:extLst>
              <a:ext uri="{FF2B5EF4-FFF2-40B4-BE49-F238E27FC236}">
                <a16:creationId xmlns:a16="http://schemas.microsoft.com/office/drawing/2014/main" id="{D4130606-64FB-7738-40AD-DD2BE50BA0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556"/>
          <a:stretch/>
        </p:blipFill>
        <p:spPr bwMode="auto">
          <a:xfrm flipH="1" flipV="1">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DB5877E-665B-64F8-9EF0-1F08DC10C61F}"/>
              </a:ext>
            </a:extLst>
          </p:cNvPr>
          <p:cNvSpPr/>
          <p:nvPr/>
        </p:nvSpPr>
        <p:spPr>
          <a:xfrm>
            <a:off x="729573" y="1784737"/>
            <a:ext cx="6698838" cy="12202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chemeClr val="bg1"/>
                </a:solidFill>
                <a:latin typeface="Spectral" panose="02020502060000000000" pitchFamily="18" charset="77"/>
              </a:rPr>
              <a:t>Properties of Crude Oil Responsible for Pipeline Accidents</a:t>
            </a:r>
          </a:p>
        </p:txBody>
      </p:sp>
      <p:sp>
        <p:nvSpPr>
          <p:cNvPr id="5" name="Rectangle 4">
            <a:extLst>
              <a:ext uri="{FF2B5EF4-FFF2-40B4-BE49-F238E27FC236}">
                <a16:creationId xmlns:a16="http://schemas.microsoft.com/office/drawing/2014/main" id="{88A1459F-5616-25FF-A46F-2D925E859077}"/>
              </a:ext>
            </a:extLst>
          </p:cNvPr>
          <p:cNvSpPr/>
          <p:nvPr/>
        </p:nvSpPr>
        <p:spPr>
          <a:xfrm>
            <a:off x="729573" y="3769767"/>
            <a:ext cx="5969541" cy="3615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IBM Plex Sans Condensed" panose="020B0506050203000203" pitchFamily="34" charset="77"/>
              </a:rPr>
              <a:t>Date: January 29, 2023</a:t>
            </a:r>
          </a:p>
        </p:txBody>
      </p:sp>
      <p:sp>
        <p:nvSpPr>
          <p:cNvPr id="6" name="Rectangle 5">
            <a:extLst>
              <a:ext uri="{FF2B5EF4-FFF2-40B4-BE49-F238E27FC236}">
                <a16:creationId xmlns:a16="http://schemas.microsoft.com/office/drawing/2014/main" id="{479A94D8-104F-A669-9211-52C5BED1D9DE}"/>
              </a:ext>
            </a:extLst>
          </p:cNvPr>
          <p:cNvSpPr/>
          <p:nvPr/>
        </p:nvSpPr>
        <p:spPr>
          <a:xfrm>
            <a:off x="729573" y="3420858"/>
            <a:ext cx="5969541" cy="3489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IBM Plex Sans Condensed" panose="020B0506050203000203" pitchFamily="34" charset="77"/>
              </a:rPr>
              <a:t>Created By: Cameron MacKinnon</a:t>
            </a:r>
          </a:p>
        </p:txBody>
      </p:sp>
      <p:cxnSp>
        <p:nvCxnSpPr>
          <p:cNvPr id="7" name="Straight Connector 6">
            <a:extLst>
              <a:ext uri="{FF2B5EF4-FFF2-40B4-BE49-F238E27FC236}">
                <a16:creationId xmlns:a16="http://schemas.microsoft.com/office/drawing/2014/main" id="{FE3C0BFB-6277-8E26-2255-59D04F6A73B4}"/>
              </a:ext>
            </a:extLst>
          </p:cNvPr>
          <p:cNvCxnSpPr>
            <a:cxnSpLocks/>
          </p:cNvCxnSpPr>
          <p:nvPr/>
        </p:nvCxnSpPr>
        <p:spPr>
          <a:xfrm>
            <a:off x="836023" y="3283404"/>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pic>
        <p:nvPicPr>
          <p:cNvPr id="8" name="Picture 2" descr="Validere Acquires Regulatory Reporting Platform Clairifi - Validere">
            <a:extLst>
              <a:ext uri="{FF2B5EF4-FFF2-40B4-BE49-F238E27FC236}">
                <a16:creationId xmlns:a16="http://schemas.microsoft.com/office/drawing/2014/main" id="{3BF0D8B9-1BB4-7CC2-EDF9-838BE3BCC4B7}"/>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224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Table of Contents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DA76F35-D9B8-C9A4-D281-3E7D21973AFB}"/>
              </a:ext>
            </a:extLst>
          </p:cNvPr>
          <p:cNvSpPr txBox="1"/>
          <p:nvPr/>
        </p:nvSpPr>
        <p:spPr>
          <a:xfrm>
            <a:off x="348343" y="1489166"/>
            <a:ext cx="10162903" cy="3970318"/>
          </a:xfrm>
          <a:prstGeom prst="rect">
            <a:avLst/>
          </a:prstGeom>
          <a:noFill/>
        </p:spPr>
        <p:txBody>
          <a:bodyPr wrap="square" rtlCol="0">
            <a:spAutoFit/>
          </a:bodyPr>
          <a:lstStyle/>
          <a:p>
            <a:pPr marL="342900" indent="-342900">
              <a:buFont typeface="Arial" panose="020B0604020202020204" pitchFamily="34" charset="0"/>
              <a:buChar char="•"/>
            </a:pPr>
            <a:r>
              <a:rPr lang="en-US" dirty="0">
                <a:latin typeface="IBM Plex Sans Condensed" panose="020B0506050203000203" pitchFamily="34" charset="77"/>
              </a:rPr>
              <a:t>Problem Statement</a:t>
            </a:r>
          </a:p>
          <a:p>
            <a:pPr marL="342900" indent="-342900">
              <a:buFont typeface="Arial" panose="020B0604020202020204" pitchFamily="34" charset="0"/>
              <a:buChar char="•"/>
            </a:pPr>
            <a:r>
              <a:rPr lang="en-US" dirty="0">
                <a:latin typeface="IBM Plex Sans Condensed" panose="020B0506050203000203" pitchFamily="34" charset="77"/>
              </a:rPr>
              <a:t>Scope</a:t>
            </a:r>
          </a:p>
          <a:p>
            <a:pPr marL="800100" lvl="1" indent="-342900">
              <a:buFont typeface="Arial" panose="020B0604020202020204" pitchFamily="34" charset="0"/>
              <a:buChar char="•"/>
            </a:pPr>
            <a:r>
              <a:rPr lang="en-US" dirty="0">
                <a:latin typeface="IBM Plex Sans Condensed" panose="020B0506050203000203" pitchFamily="34" charset="77"/>
              </a:rPr>
              <a:t>Pipeline Accidents</a:t>
            </a:r>
          </a:p>
          <a:p>
            <a:pPr marL="800100" lvl="1" indent="-342900">
              <a:buFont typeface="Arial" panose="020B0604020202020204" pitchFamily="34" charset="0"/>
              <a:buChar char="•"/>
            </a:pPr>
            <a:r>
              <a:rPr lang="en-US" dirty="0">
                <a:latin typeface="IBM Plex Sans Condensed" panose="020B0506050203000203" pitchFamily="34" charset="77"/>
              </a:rPr>
              <a:t>Pipeline Materials</a:t>
            </a:r>
          </a:p>
          <a:p>
            <a:pPr marL="342900" indent="-342900">
              <a:buFont typeface="Arial" panose="020B0604020202020204" pitchFamily="34" charset="0"/>
              <a:buChar char="•"/>
            </a:pPr>
            <a:r>
              <a:rPr lang="en-US" dirty="0">
                <a:latin typeface="IBM Plex Sans Condensed" panose="020B0506050203000203" pitchFamily="34" charset="77"/>
              </a:rPr>
              <a:t>Approach</a:t>
            </a:r>
          </a:p>
          <a:p>
            <a:pPr marL="800100" lvl="1" indent="-342900">
              <a:buFont typeface="Arial" panose="020B0604020202020204" pitchFamily="34" charset="0"/>
              <a:buChar char="•"/>
            </a:pPr>
            <a:r>
              <a:rPr lang="en-US" dirty="0">
                <a:latin typeface="IBM Plex Sans Condensed" panose="020B0506050203000203" pitchFamily="34" charset="77"/>
              </a:rPr>
              <a:t>Physical and Chemical Properties of Crude Oil</a:t>
            </a:r>
          </a:p>
          <a:p>
            <a:pPr marL="800100" lvl="1" indent="-342900">
              <a:buFont typeface="Arial" panose="020B0604020202020204" pitchFamily="34" charset="0"/>
              <a:buChar char="•"/>
            </a:pPr>
            <a:r>
              <a:rPr lang="en-US" dirty="0">
                <a:latin typeface="IBM Plex Sans Condensed" panose="020B0506050203000203" pitchFamily="34" charset="77"/>
              </a:rPr>
              <a:t>Hypothesis</a:t>
            </a:r>
          </a:p>
          <a:p>
            <a:pPr marL="342900" indent="-342900">
              <a:buFont typeface="Arial" panose="020B0604020202020204" pitchFamily="34" charset="0"/>
              <a:buChar char="•"/>
            </a:pPr>
            <a:r>
              <a:rPr lang="en-US" dirty="0">
                <a:latin typeface="IBM Plex Sans Condensed" panose="020B0506050203000203" pitchFamily="34" charset="77"/>
              </a:rPr>
              <a:t>Datasets</a:t>
            </a:r>
          </a:p>
          <a:p>
            <a:pPr marL="342900" indent="-342900">
              <a:buFont typeface="Arial" panose="020B0604020202020204" pitchFamily="34" charset="0"/>
              <a:buChar char="•"/>
            </a:pPr>
            <a:r>
              <a:rPr lang="en-US" dirty="0">
                <a:latin typeface="IBM Plex Sans Condensed" panose="020B0506050203000203" pitchFamily="34" charset="77"/>
              </a:rPr>
              <a:t>Analysis</a:t>
            </a:r>
          </a:p>
          <a:p>
            <a:pPr marL="342900" indent="-342900">
              <a:buFont typeface="Arial" panose="020B0604020202020204" pitchFamily="34" charset="0"/>
              <a:buChar char="•"/>
            </a:pPr>
            <a:r>
              <a:rPr lang="en-US" dirty="0">
                <a:latin typeface="IBM Plex Sans Condensed" panose="020B0506050203000203" pitchFamily="34" charset="77"/>
              </a:rPr>
              <a:t>Results</a:t>
            </a:r>
          </a:p>
          <a:p>
            <a:pPr marL="342900" indent="-342900">
              <a:buFont typeface="Arial" panose="020B0604020202020204" pitchFamily="34" charset="0"/>
              <a:buChar char="•"/>
            </a:pPr>
            <a:r>
              <a:rPr lang="en-US" dirty="0">
                <a:latin typeface="IBM Plex Sans Condensed" panose="020B0506050203000203" pitchFamily="34" charset="77"/>
              </a:rPr>
              <a:t>Conclusion / Future Investigation</a:t>
            </a:r>
          </a:p>
          <a:p>
            <a:pPr marL="342900" indent="-342900">
              <a:buFont typeface="Arial" panose="020B0604020202020204" pitchFamily="34" charset="0"/>
              <a:buChar char="•"/>
            </a:pPr>
            <a:r>
              <a:rPr lang="en-US" dirty="0">
                <a:latin typeface="IBM Plex Sans Condensed" panose="020B0506050203000203" pitchFamily="34" charset="77"/>
              </a:rPr>
              <a:t>Regulations &amp; Implications</a:t>
            </a:r>
          </a:p>
          <a:p>
            <a:pPr marL="342900" indent="-342900">
              <a:buFont typeface="Arial" panose="020B0604020202020204" pitchFamily="34" charset="0"/>
              <a:buChar char="•"/>
            </a:pPr>
            <a:r>
              <a:rPr lang="en-US" dirty="0">
                <a:latin typeface="IBM Plex Sans Condensed" panose="020B0506050203000203" pitchFamily="34" charset="77"/>
              </a:rPr>
              <a:t>References</a:t>
            </a:r>
          </a:p>
          <a:p>
            <a:pPr marL="342900" indent="-342900">
              <a:buFont typeface="Arial" panose="020B0604020202020204" pitchFamily="34" charset="0"/>
              <a:buChar char="•"/>
            </a:pPr>
            <a:r>
              <a:rPr lang="en-US" dirty="0">
                <a:latin typeface="IBM Plex Sans Condensed" panose="020B0506050203000203" pitchFamily="34" charset="77"/>
              </a:rPr>
              <a:t>Appendix</a:t>
            </a:r>
          </a:p>
        </p:txBody>
      </p:sp>
      <p:cxnSp>
        <p:nvCxnSpPr>
          <p:cNvPr id="8" name="Straight Connector 7">
            <a:extLst>
              <a:ext uri="{FF2B5EF4-FFF2-40B4-BE49-F238E27FC236}">
                <a16:creationId xmlns:a16="http://schemas.microsoft.com/office/drawing/2014/main" id="{367ED728-390F-3F8A-5857-EA1F707AD76B}"/>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48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Problem Statement</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348343" y="1047347"/>
            <a:ext cx="11325495" cy="307777"/>
          </a:xfrm>
          <a:prstGeom prst="rect">
            <a:avLst/>
          </a:prstGeom>
          <a:noFill/>
        </p:spPr>
        <p:txBody>
          <a:bodyPr wrap="square" rtlCol="0">
            <a:spAutoFit/>
          </a:bodyPr>
          <a:lstStyle/>
          <a:p>
            <a:r>
              <a:rPr lang="en-US" sz="1400" dirty="0">
                <a:latin typeface="IBM Plex Sans Condensed" panose="020B0506050203000203" pitchFamily="34" charset="77"/>
              </a:rPr>
              <a:t>What qualities of crude oil lead to pipeline accidents and what are the related regulations?  </a:t>
            </a:r>
          </a:p>
        </p:txBody>
      </p:sp>
      <p:sp>
        <p:nvSpPr>
          <p:cNvPr id="3" name="Rectangle 2">
            <a:extLst>
              <a:ext uri="{FF2B5EF4-FFF2-40B4-BE49-F238E27FC236}">
                <a16:creationId xmlns:a16="http://schemas.microsoft.com/office/drawing/2014/main" id="{3AE8F328-242B-CA62-B910-BC5A7CA5CCB1}"/>
              </a:ext>
            </a:extLst>
          </p:cNvPr>
          <p:cNvSpPr/>
          <p:nvPr/>
        </p:nvSpPr>
        <p:spPr>
          <a:xfrm>
            <a:off x="431075" y="1802089"/>
            <a:ext cx="11325495" cy="489857"/>
          </a:xfrm>
          <a:prstGeom prst="rect">
            <a:avLst/>
          </a:prstGeom>
          <a:solidFill>
            <a:srgbClr val="0A26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Spectral" panose="02020502060000000000" pitchFamily="18" charset="77"/>
              </a:rPr>
              <a:t>Part A</a:t>
            </a:r>
          </a:p>
        </p:txBody>
      </p:sp>
      <p:sp>
        <p:nvSpPr>
          <p:cNvPr id="5" name="Rectangle 4">
            <a:extLst>
              <a:ext uri="{FF2B5EF4-FFF2-40B4-BE49-F238E27FC236}">
                <a16:creationId xmlns:a16="http://schemas.microsoft.com/office/drawing/2014/main" id="{BE1D5ACF-9C1F-29AA-A958-C9A2470EADB8}"/>
              </a:ext>
            </a:extLst>
          </p:cNvPr>
          <p:cNvSpPr/>
          <p:nvPr/>
        </p:nvSpPr>
        <p:spPr>
          <a:xfrm>
            <a:off x="431075" y="3473696"/>
            <a:ext cx="11325495" cy="489857"/>
          </a:xfrm>
          <a:prstGeom prst="rect">
            <a:avLst/>
          </a:prstGeom>
          <a:solidFill>
            <a:srgbClr val="0A263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Spectral" panose="02020502060000000000" pitchFamily="18" charset="77"/>
              </a:rPr>
              <a:t>Part B – Regulations &amp; Implications</a:t>
            </a:r>
          </a:p>
        </p:txBody>
      </p:sp>
      <p:sp>
        <p:nvSpPr>
          <p:cNvPr id="9" name="Rectangle 8">
            <a:extLst>
              <a:ext uri="{FF2B5EF4-FFF2-40B4-BE49-F238E27FC236}">
                <a16:creationId xmlns:a16="http://schemas.microsoft.com/office/drawing/2014/main" id="{C3EE2856-0C0B-F380-15D8-332C8F627E12}"/>
              </a:ext>
            </a:extLst>
          </p:cNvPr>
          <p:cNvSpPr/>
          <p:nvPr/>
        </p:nvSpPr>
        <p:spPr>
          <a:xfrm>
            <a:off x="431075" y="2291946"/>
            <a:ext cx="11325495" cy="489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IBM Plex Sans Condensed" panose="020B0506050203000203" pitchFamily="34" charset="77"/>
              </a:rPr>
              <a:t>What physical or chemical properties of crude oil could be responsible for pipeline accidents?</a:t>
            </a:r>
          </a:p>
        </p:txBody>
      </p:sp>
      <p:sp>
        <p:nvSpPr>
          <p:cNvPr id="10" name="Rectangle 9">
            <a:extLst>
              <a:ext uri="{FF2B5EF4-FFF2-40B4-BE49-F238E27FC236}">
                <a16:creationId xmlns:a16="http://schemas.microsoft.com/office/drawing/2014/main" id="{4BD953D9-371A-5C60-4681-88D91CACE5C3}"/>
              </a:ext>
            </a:extLst>
          </p:cNvPr>
          <p:cNvSpPr/>
          <p:nvPr/>
        </p:nvSpPr>
        <p:spPr>
          <a:xfrm>
            <a:off x="431075" y="3963554"/>
            <a:ext cx="11325495" cy="9234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IBM Plex Sans Condensed" panose="020B0506050203000203" pitchFamily="34" charset="77"/>
              </a:rPr>
              <a:t>- What regulations on those properties would you recommend?</a:t>
            </a:r>
          </a:p>
          <a:p>
            <a:r>
              <a:rPr lang="en-US" sz="1400" dirty="0">
                <a:solidFill>
                  <a:schemeClr val="tx1"/>
                </a:solidFill>
                <a:latin typeface="IBM Plex Sans Condensed" panose="020B0506050203000203" pitchFamily="34" charset="77"/>
              </a:rPr>
              <a:t>- Have we gotten better at regulating those properties over time?</a:t>
            </a:r>
          </a:p>
          <a:p>
            <a:r>
              <a:rPr lang="en-US" sz="1400" dirty="0">
                <a:solidFill>
                  <a:schemeClr val="tx1"/>
                </a:solidFill>
                <a:latin typeface="IBM Plex Sans Condensed" panose="020B0506050203000203" pitchFamily="34" charset="77"/>
              </a:rPr>
              <a:t>- What implications on the oil market would these regulations have? </a:t>
            </a:r>
          </a:p>
          <a:p>
            <a:r>
              <a:rPr lang="en-US" sz="1400" dirty="0">
                <a:solidFill>
                  <a:schemeClr val="tx1"/>
                </a:solidFill>
                <a:latin typeface="IBM Plex Sans Condensed" panose="020B0506050203000203" pitchFamily="34" charset="77"/>
              </a:rPr>
              <a:t>- How can success of these regulations be quantified in the short term and long term? </a:t>
            </a:r>
          </a:p>
        </p:txBody>
      </p:sp>
      <p:cxnSp>
        <p:nvCxnSpPr>
          <p:cNvPr id="7" name="Straight Connector 6">
            <a:extLst>
              <a:ext uri="{FF2B5EF4-FFF2-40B4-BE49-F238E27FC236}">
                <a16:creationId xmlns:a16="http://schemas.microsoft.com/office/drawing/2014/main" id="{B72CE26C-5458-3228-D8C6-D4D8D57F8BCE}"/>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674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ESG Is Not a Black Box - Validere">
            <a:extLst>
              <a:ext uri="{FF2B5EF4-FFF2-40B4-BE49-F238E27FC236}">
                <a16:creationId xmlns:a16="http://schemas.microsoft.com/office/drawing/2014/main" id="{EA3C2ED1-6235-120F-BB67-8B382C3EA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7F40E04-0FF0-4058-E5B2-051685ADDEDB}"/>
              </a:ext>
            </a:extLst>
          </p:cNvPr>
          <p:cNvSpPr/>
          <p:nvPr/>
        </p:nvSpPr>
        <p:spPr>
          <a:xfrm>
            <a:off x="729573" y="2208713"/>
            <a:ext cx="6698838" cy="12202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latin typeface="Spectral" panose="02020502060000000000" pitchFamily="18" charset="77"/>
              </a:rPr>
              <a:t>Part A – Physical or Chemical Properties of Crude Oil that could be Responsible for Pipeline Accidents </a:t>
            </a:r>
          </a:p>
        </p:txBody>
      </p:sp>
      <p:pic>
        <p:nvPicPr>
          <p:cNvPr id="4" name="Picture 2" descr="Validere Acquires Regulatory Reporting Platform Clairifi - Validere">
            <a:extLst>
              <a:ext uri="{FF2B5EF4-FFF2-40B4-BE49-F238E27FC236}">
                <a16:creationId xmlns:a16="http://schemas.microsoft.com/office/drawing/2014/main" id="{FB7EE65E-8925-81A8-2BFC-A52991598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137" y="6313713"/>
            <a:ext cx="2377441" cy="247559"/>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Connector 1">
            <a:extLst>
              <a:ext uri="{FF2B5EF4-FFF2-40B4-BE49-F238E27FC236}">
                <a16:creationId xmlns:a16="http://schemas.microsoft.com/office/drawing/2014/main" id="{3B597046-2C0C-F03C-1EBC-7E510934E079}"/>
              </a:ext>
            </a:extLst>
          </p:cNvPr>
          <p:cNvCxnSpPr>
            <a:cxnSpLocks/>
          </p:cNvCxnSpPr>
          <p:nvPr/>
        </p:nvCxnSpPr>
        <p:spPr>
          <a:xfrm>
            <a:off x="827314" y="3579789"/>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639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Crude Oil</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2" name="Rounded Rectangle 21">
            <a:extLst>
              <a:ext uri="{FF2B5EF4-FFF2-40B4-BE49-F238E27FC236}">
                <a16:creationId xmlns:a16="http://schemas.microsoft.com/office/drawing/2014/main" id="{931CF134-3B7B-7650-80AD-962A8EAEF00A}"/>
              </a:ext>
            </a:extLst>
          </p:cNvPr>
          <p:cNvSpPr/>
          <p:nvPr/>
        </p:nvSpPr>
        <p:spPr>
          <a:xfrm>
            <a:off x="333468" y="2646674"/>
            <a:ext cx="7589505" cy="461550"/>
          </a:xfrm>
          <a:prstGeom prst="roundRect">
            <a:avLst/>
          </a:prstGeom>
          <a:solidFill>
            <a:srgbClr val="1D2C3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Physical Properties</a:t>
            </a:r>
          </a:p>
        </p:txBody>
      </p:sp>
      <p:sp>
        <p:nvSpPr>
          <p:cNvPr id="23" name="Rectangle 22">
            <a:extLst>
              <a:ext uri="{FF2B5EF4-FFF2-40B4-BE49-F238E27FC236}">
                <a16:creationId xmlns:a16="http://schemas.microsoft.com/office/drawing/2014/main" id="{4DC245F1-BD6C-B40D-D10E-8BF1FCF2A1E5}"/>
              </a:ext>
            </a:extLst>
          </p:cNvPr>
          <p:cNvSpPr/>
          <p:nvPr/>
        </p:nvSpPr>
        <p:spPr>
          <a:xfrm>
            <a:off x="2510047" y="3232044"/>
            <a:ext cx="2432595"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A: LIGHT, VOLATILE OILS [2]</a:t>
            </a:r>
          </a:p>
        </p:txBody>
      </p:sp>
      <p:sp>
        <p:nvSpPr>
          <p:cNvPr id="24" name="Rectangle 23">
            <a:extLst>
              <a:ext uri="{FF2B5EF4-FFF2-40B4-BE49-F238E27FC236}">
                <a16:creationId xmlns:a16="http://schemas.microsoft.com/office/drawing/2014/main" id="{6F991887-4F70-54B3-1E4C-724330DDE77F}"/>
              </a:ext>
            </a:extLst>
          </p:cNvPr>
          <p:cNvSpPr/>
          <p:nvPr/>
        </p:nvSpPr>
        <p:spPr>
          <a:xfrm>
            <a:off x="5141298" y="3232044"/>
            <a:ext cx="2354218"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B: NON-STICKY OILS</a:t>
            </a:r>
          </a:p>
        </p:txBody>
      </p:sp>
      <p:sp>
        <p:nvSpPr>
          <p:cNvPr id="27" name="Rectangle 26">
            <a:extLst>
              <a:ext uri="{FF2B5EF4-FFF2-40B4-BE49-F238E27FC236}">
                <a16:creationId xmlns:a16="http://schemas.microsoft.com/office/drawing/2014/main" id="{2C1BD15A-2798-62AE-DFDA-FFE460ECC393}"/>
              </a:ext>
            </a:extLst>
          </p:cNvPr>
          <p:cNvSpPr/>
          <p:nvPr/>
        </p:nvSpPr>
        <p:spPr>
          <a:xfrm>
            <a:off x="2588423" y="3445667"/>
            <a:ext cx="2354219" cy="12591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Highly fluid</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Often clear</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Spread rapidly on solid or water surfaces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Have a strong odor</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High evaporation rate</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Usually flammable</a:t>
            </a:r>
          </a:p>
        </p:txBody>
      </p:sp>
      <p:sp>
        <p:nvSpPr>
          <p:cNvPr id="28" name="Rectangle 27">
            <a:extLst>
              <a:ext uri="{FF2B5EF4-FFF2-40B4-BE49-F238E27FC236}">
                <a16:creationId xmlns:a16="http://schemas.microsoft.com/office/drawing/2014/main" id="{9B82BC63-92A6-BAD7-FCAE-E227149A0273}"/>
              </a:ext>
            </a:extLst>
          </p:cNvPr>
          <p:cNvSpPr/>
          <p:nvPr/>
        </p:nvSpPr>
        <p:spPr>
          <a:xfrm>
            <a:off x="5197905" y="3489322"/>
            <a:ext cx="2354219" cy="8736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Waxy or oily</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Less toxic</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Penetrate porous substances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Evaporation of volatiles leads to Class C or D residue</a:t>
            </a:r>
          </a:p>
        </p:txBody>
      </p:sp>
      <p:sp>
        <p:nvSpPr>
          <p:cNvPr id="32" name="Rectangle 31">
            <a:extLst>
              <a:ext uri="{FF2B5EF4-FFF2-40B4-BE49-F238E27FC236}">
                <a16:creationId xmlns:a16="http://schemas.microsoft.com/office/drawing/2014/main" id="{EAD76F7A-6529-9CBD-E072-A32C5FC52596}"/>
              </a:ext>
            </a:extLst>
          </p:cNvPr>
          <p:cNvSpPr/>
          <p:nvPr/>
        </p:nvSpPr>
        <p:spPr>
          <a:xfrm>
            <a:off x="2510047" y="4901786"/>
            <a:ext cx="2354218"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C: HEAVY, STICKY OILS</a:t>
            </a:r>
          </a:p>
        </p:txBody>
      </p:sp>
      <p:sp>
        <p:nvSpPr>
          <p:cNvPr id="33" name="Rectangle 32">
            <a:extLst>
              <a:ext uri="{FF2B5EF4-FFF2-40B4-BE49-F238E27FC236}">
                <a16:creationId xmlns:a16="http://schemas.microsoft.com/office/drawing/2014/main" id="{A3482493-CBB1-0892-F82B-E77BB0377AA3}"/>
              </a:ext>
            </a:extLst>
          </p:cNvPr>
          <p:cNvSpPr/>
          <p:nvPr/>
        </p:nvSpPr>
        <p:spPr>
          <a:xfrm>
            <a:off x="2602216" y="5159064"/>
            <a:ext cx="2354219" cy="4885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Viscous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Sticky or tarry</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Brown or black</a:t>
            </a:r>
          </a:p>
        </p:txBody>
      </p:sp>
      <p:sp>
        <p:nvSpPr>
          <p:cNvPr id="38" name="Rectangle 37">
            <a:extLst>
              <a:ext uri="{FF2B5EF4-FFF2-40B4-BE49-F238E27FC236}">
                <a16:creationId xmlns:a16="http://schemas.microsoft.com/office/drawing/2014/main" id="{BE0A8636-50D8-8BCA-BD06-E24328315222}"/>
              </a:ext>
            </a:extLst>
          </p:cNvPr>
          <p:cNvSpPr/>
          <p:nvPr/>
        </p:nvSpPr>
        <p:spPr>
          <a:xfrm>
            <a:off x="5141298" y="4865265"/>
            <a:ext cx="2354218" cy="2136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2CABAF"/>
                </a:solidFill>
                <a:latin typeface="IBM Plex Sans Condensed" panose="020B0506050203000203" pitchFamily="34" charset="77"/>
              </a:rPr>
              <a:t>CLASS D: NON-FLUID OILS</a:t>
            </a:r>
          </a:p>
        </p:txBody>
      </p:sp>
      <p:sp>
        <p:nvSpPr>
          <p:cNvPr id="39" name="Rectangle 38">
            <a:extLst>
              <a:ext uri="{FF2B5EF4-FFF2-40B4-BE49-F238E27FC236}">
                <a16:creationId xmlns:a16="http://schemas.microsoft.com/office/drawing/2014/main" id="{45CB12EF-39C5-C1EA-E6D2-4AD38E8E2400}"/>
              </a:ext>
            </a:extLst>
          </p:cNvPr>
          <p:cNvSpPr/>
          <p:nvPr/>
        </p:nvSpPr>
        <p:spPr>
          <a:xfrm>
            <a:off x="5197905" y="5089066"/>
            <a:ext cx="2354219" cy="5585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Relatively non-toxic</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Do not penetrate porous substances</a:t>
            </a:r>
          </a:p>
          <a:p>
            <a:pPr marL="285750" indent="-285750">
              <a:buFont typeface="Arial" panose="020B0604020202020204" pitchFamily="34" charset="0"/>
              <a:buChar char="•"/>
            </a:pPr>
            <a:r>
              <a:rPr lang="en-US" sz="1000" dirty="0">
                <a:solidFill>
                  <a:schemeClr val="tx1"/>
                </a:solidFill>
                <a:latin typeface="IBM Plex Sans Condensed" panose="020B0506050203000203" pitchFamily="34" charset="77"/>
              </a:rPr>
              <a:t>Black or dark brown</a:t>
            </a:r>
          </a:p>
        </p:txBody>
      </p:sp>
      <p:sp>
        <p:nvSpPr>
          <p:cNvPr id="43" name="TextBox 42">
            <a:extLst>
              <a:ext uri="{FF2B5EF4-FFF2-40B4-BE49-F238E27FC236}">
                <a16:creationId xmlns:a16="http://schemas.microsoft.com/office/drawing/2014/main" id="{AFFB841C-5C20-E60C-EE55-8F36671D336B}"/>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To determine what underlying properties of crude oil could be contributing to pipeline accidents, we need to first understand the composition of crude oil. This includes its chemical composition, its physical properties, and any additional qualities that could be related to pipeline incidents. </a:t>
            </a:r>
          </a:p>
        </p:txBody>
      </p:sp>
      <p:sp>
        <p:nvSpPr>
          <p:cNvPr id="44" name="Rectangle 43">
            <a:extLst>
              <a:ext uri="{FF2B5EF4-FFF2-40B4-BE49-F238E27FC236}">
                <a16:creationId xmlns:a16="http://schemas.microsoft.com/office/drawing/2014/main" id="{A7BC24F4-A733-EE42-36D2-6F38A6418BE4}"/>
              </a:ext>
            </a:extLst>
          </p:cNvPr>
          <p:cNvSpPr/>
          <p:nvPr/>
        </p:nvSpPr>
        <p:spPr>
          <a:xfrm>
            <a:off x="420522" y="3232044"/>
            <a:ext cx="1719937" cy="177206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The weight of crude oils is measured on an arbitrary scale based on their relative gravity/density to water, where water has 10 API gravity. Heavy crudes have an API of 22 or below, lighter crudes generally exceed 38 API. [3]</a:t>
            </a:r>
          </a:p>
        </p:txBody>
      </p:sp>
      <p:sp>
        <p:nvSpPr>
          <p:cNvPr id="45" name="Rounded Rectangle 44">
            <a:extLst>
              <a:ext uri="{FF2B5EF4-FFF2-40B4-BE49-F238E27FC236}">
                <a16:creationId xmlns:a16="http://schemas.microsoft.com/office/drawing/2014/main" id="{694DB9D0-D312-B8AA-E32A-4F32A40D98D3}"/>
              </a:ext>
            </a:extLst>
          </p:cNvPr>
          <p:cNvSpPr/>
          <p:nvPr/>
        </p:nvSpPr>
        <p:spPr>
          <a:xfrm>
            <a:off x="8042740" y="2646674"/>
            <a:ext cx="3713828" cy="461550"/>
          </a:xfrm>
          <a:prstGeom prst="roundRect">
            <a:avLst/>
          </a:prstGeom>
          <a:solidFill>
            <a:srgbClr val="1D2C3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Chemical Properties</a:t>
            </a:r>
          </a:p>
        </p:txBody>
      </p:sp>
      <p:sp>
        <p:nvSpPr>
          <p:cNvPr id="46" name="Rectangle 45">
            <a:extLst>
              <a:ext uri="{FF2B5EF4-FFF2-40B4-BE49-F238E27FC236}">
                <a16:creationId xmlns:a16="http://schemas.microsoft.com/office/drawing/2014/main" id="{85C717E0-6867-EA79-8DA1-6F3460CE9E1A}"/>
              </a:ext>
            </a:extLst>
          </p:cNvPr>
          <p:cNvSpPr/>
          <p:nvPr/>
        </p:nvSpPr>
        <p:spPr>
          <a:xfrm>
            <a:off x="8000088" y="3232044"/>
            <a:ext cx="3713828" cy="5943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Crude Oil is also known for containing varying concentrations of sulfur.</a:t>
            </a:r>
          </a:p>
        </p:txBody>
      </p:sp>
      <p:sp>
        <p:nvSpPr>
          <p:cNvPr id="47" name="Rectangle 46">
            <a:extLst>
              <a:ext uri="{FF2B5EF4-FFF2-40B4-BE49-F238E27FC236}">
                <a16:creationId xmlns:a16="http://schemas.microsoft.com/office/drawing/2014/main" id="{3677D8AB-7D27-B849-6DFE-2264A5BC024C}"/>
              </a:ext>
            </a:extLst>
          </p:cNvPr>
          <p:cNvSpPr/>
          <p:nvPr/>
        </p:nvSpPr>
        <p:spPr>
          <a:xfrm>
            <a:off x="8975640" y="4190709"/>
            <a:ext cx="1953617" cy="2819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SOUR:</a:t>
            </a:r>
            <a:r>
              <a:rPr lang="en-US" sz="1100" b="1" dirty="0">
                <a:solidFill>
                  <a:srgbClr val="2CABAF"/>
                </a:solidFill>
                <a:latin typeface="IBM Plex Sans Condensed" panose="020B0506050203000203" pitchFamily="34" charset="77"/>
              </a:rPr>
              <a:t> </a:t>
            </a:r>
            <a:r>
              <a:rPr lang="en-US" sz="1100" dirty="0">
                <a:solidFill>
                  <a:schemeClr val="tx1"/>
                </a:solidFill>
                <a:latin typeface="IBM Plex Sans Condensed" panose="020B0506050203000203" pitchFamily="34" charset="77"/>
              </a:rPr>
              <a:t>&gt;=0.5% sulfur content </a:t>
            </a:r>
          </a:p>
        </p:txBody>
      </p:sp>
      <p:sp>
        <p:nvSpPr>
          <p:cNvPr id="53" name="Rounded Rectangle 52">
            <a:extLst>
              <a:ext uri="{FF2B5EF4-FFF2-40B4-BE49-F238E27FC236}">
                <a16:creationId xmlns:a16="http://schemas.microsoft.com/office/drawing/2014/main" id="{BEB6DF96-3E5E-8BA4-6E9A-4CBEC1C4FC2B}"/>
              </a:ext>
            </a:extLst>
          </p:cNvPr>
          <p:cNvSpPr/>
          <p:nvPr/>
        </p:nvSpPr>
        <p:spPr>
          <a:xfrm>
            <a:off x="348341" y="1669256"/>
            <a:ext cx="11408227" cy="853598"/>
          </a:xfrm>
          <a:prstGeom prst="roundRect">
            <a:avLst/>
          </a:prstGeom>
          <a:solidFill>
            <a:srgbClr val="F6F9FB"/>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General </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Crude oils are primarily composed of hydrocarbon gases and liquids. A sample breakdown of Bakken crude oil, considered a light crude oil, is given in Appendix A [1]. </a:t>
            </a:r>
            <a:r>
              <a:rPr lang="en-US" sz="1100" dirty="0">
                <a:solidFill>
                  <a:schemeClr val="tx1"/>
                </a:solidFill>
                <a:highlight>
                  <a:srgbClr val="FFFF00"/>
                </a:highlight>
                <a:latin typeface="IBM Plex Sans Condensed" panose="020B0506050203000203" pitchFamily="34" charset="77"/>
              </a:rPr>
              <a:t>[anything else here cam???!!!] talk about chemical physical ….</a:t>
            </a:r>
          </a:p>
        </p:txBody>
      </p:sp>
      <p:sp>
        <p:nvSpPr>
          <p:cNvPr id="50" name="Rectangle 49">
            <a:extLst>
              <a:ext uri="{FF2B5EF4-FFF2-40B4-BE49-F238E27FC236}">
                <a16:creationId xmlns:a16="http://schemas.microsoft.com/office/drawing/2014/main" id="{3120FFF6-8CAD-A2BF-1EB7-99B7624328D6}"/>
              </a:ext>
            </a:extLst>
          </p:cNvPr>
          <p:cNvSpPr/>
          <p:nvPr/>
        </p:nvSpPr>
        <p:spPr>
          <a:xfrm>
            <a:off x="8962570" y="3940402"/>
            <a:ext cx="1874168" cy="2819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SWEET: </a:t>
            </a:r>
            <a:r>
              <a:rPr lang="en-US" sz="1100" dirty="0">
                <a:solidFill>
                  <a:schemeClr val="tx1"/>
                </a:solidFill>
                <a:latin typeface="IBM Plex Sans Condensed" panose="020B0506050203000203" pitchFamily="34" charset="77"/>
              </a:rPr>
              <a:t>&lt;0.5% sulfur content</a:t>
            </a:r>
          </a:p>
        </p:txBody>
      </p:sp>
      <p:cxnSp>
        <p:nvCxnSpPr>
          <p:cNvPr id="2" name="Straight Connector 1">
            <a:extLst>
              <a:ext uri="{FF2B5EF4-FFF2-40B4-BE49-F238E27FC236}">
                <a16:creationId xmlns:a16="http://schemas.microsoft.com/office/drawing/2014/main" id="{CA24A5D1-B41C-6EE6-2F1E-5D71E93BD29B}"/>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951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Pipeline Accidents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The PHMSA lists 10 unique causes for pipeline failures along with notable characteristics and what percentage they make up of total pipeline incidents [5]. Given these failure types, we want to determine which could be potentially relevant to our analysis so that we can filter our data accordingly.  </a:t>
            </a:r>
          </a:p>
        </p:txBody>
      </p:sp>
      <p:graphicFrame>
        <p:nvGraphicFramePr>
          <p:cNvPr id="24" name="Table 23">
            <a:extLst>
              <a:ext uri="{FF2B5EF4-FFF2-40B4-BE49-F238E27FC236}">
                <a16:creationId xmlns:a16="http://schemas.microsoft.com/office/drawing/2014/main" id="{A199F87B-86AF-4F3F-A7D3-7F396998EB84}"/>
              </a:ext>
            </a:extLst>
          </p:cNvPr>
          <p:cNvGraphicFramePr>
            <a:graphicFrameLocks noGrp="1"/>
          </p:cNvGraphicFramePr>
          <p:nvPr>
            <p:extLst>
              <p:ext uri="{D42A27DB-BD31-4B8C-83A1-F6EECF244321}">
                <p14:modId xmlns:p14="http://schemas.microsoft.com/office/powerpoint/2010/main" val="3888486892"/>
              </p:ext>
            </p:extLst>
          </p:nvPr>
        </p:nvGraphicFramePr>
        <p:xfrm>
          <a:off x="348342" y="1909213"/>
          <a:ext cx="8534401" cy="4053840"/>
        </p:xfrm>
        <a:graphic>
          <a:graphicData uri="http://schemas.openxmlformats.org/drawingml/2006/table">
            <a:tbl>
              <a:tblPr firstRow="1" bandRow="1">
                <a:tableStyleId>{5C22544A-7EE6-4342-B048-85BDC9FD1C3A}</a:tableStyleId>
              </a:tblPr>
              <a:tblGrid>
                <a:gridCol w="1341121">
                  <a:extLst>
                    <a:ext uri="{9D8B030D-6E8A-4147-A177-3AD203B41FA5}">
                      <a16:colId xmlns:a16="http://schemas.microsoft.com/office/drawing/2014/main" val="2774616000"/>
                    </a:ext>
                  </a:extLst>
                </a:gridCol>
                <a:gridCol w="3361508">
                  <a:extLst>
                    <a:ext uri="{9D8B030D-6E8A-4147-A177-3AD203B41FA5}">
                      <a16:colId xmlns:a16="http://schemas.microsoft.com/office/drawing/2014/main" val="3179188171"/>
                    </a:ext>
                  </a:extLst>
                </a:gridCol>
                <a:gridCol w="1645920">
                  <a:extLst>
                    <a:ext uri="{9D8B030D-6E8A-4147-A177-3AD203B41FA5}">
                      <a16:colId xmlns:a16="http://schemas.microsoft.com/office/drawing/2014/main" val="3542846944"/>
                    </a:ext>
                  </a:extLst>
                </a:gridCol>
                <a:gridCol w="975360">
                  <a:extLst>
                    <a:ext uri="{9D8B030D-6E8A-4147-A177-3AD203B41FA5}">
                      <a16:colId xmlns:a16="http://schemas.microsoft.com/office/drawing/2014/main" val="47899730"/>
                    </a:ext>
                  </a:extLst>
                </a:gridCol>
                <a:gridCol w="1210492">
                  <a:extLst>
                    <a:ext uri="{9D8B030D-6E8A-4147-A177-3AD203B41FA5}">
                      <a16:colId xmlns:a16="http://schemas.microsoft.com/office/drawing/2014/main" val="2679204528"/>
                    </a:ext>
                  </a:extLst>
                </a:gridCol>
              </a:tblGrid>
              <a:tr h="234734">
                <a:tc>
                  <a:txBody>
                    <a:bodyPr/>
                    <a:lstStyle/>
                    <a:p>
                      <a:pPr algn="l"/>
                      <a:r>
                        <a:rPr lang="en-US" sz="1000" b="0" dirty="0">
                          <a:solidFill>
                            <a:schemeClr val="bg1"/>
                          </a:solidFill>
                          <a:latin typeface="IBM Plex Sans Condensed" panose="020B0506050203000203" pitchFamily="34" charset="77"/>
                        </a:rPr>
                        <a:t>Pipeline Failure Cause</a:t>
                      </a:r>
                    </a:p>
                  </a:txBody>
                  <a:tcPr anchor="ctr">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l"/>
                      <a:r>
                        <a:rPr lang="en-US" sz="1000" b="0" dirty="0">
                          <a:solidFill>
                            <a:schemeClr val="bg1"/>
                          </a:solidFill>
                          <a:latin typeface="IBM Plex Sans Condensed" panose="020B0506050203000203" pitchFamily="34" charset="77"/>
                        </a:rPr>
                        <a:t>Description</a:t>
                      </a:r>
                    </a:p>
                  </a:txBody>
                  <a:tcPr anchor="ctr">
                    <a:lnL w="12700" cmpd="sng">
                      <a:noFill/>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ctr"/>
                      <a:r>
                        <a:rPr lang="en-US" sz="1000" b="0" dirty="0">
                          <a:solidFill>
                            <a:schemeClr val="bg1"/>
                          </a:solidFill>
                          <a:latin typeface="IBM Plex Sans Condensed" panose="020B0506050203000203" pitchFamily="34" charset="77"/>
                        </a:rPr>
                        <a:t>1998-2017 Percentage Pipeline Accidents</a:t>
                      </a:r>
                    </a:p>
                  </a:txBody>
                  <a:tcPr anchor="ctr">
                    <a:lnL w="12700" cmpd="sng">
                      <a:noFill/>
                    </a:lnL>
                    <a:lnR w="6350" cap="flat" cmpd="sng" algn="ctr">
                      <a:solidFill>
                        <a:schemeClr val="tx1"/>
                      </a:solidFill>
                      <a:prstDash val="dash"/>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ctr"/>
                      <a:r>
                        <a:rPr lang="en-US" sz="1000" b="0" dirty="0">
                          <a:solidFill>
                            <a:schemeClr val="bg1"/>
                          </a:solidFill>
                          <a:latin typeface="IBM Plex Sans Condensed" panose="020B0506050203000203" pitchFamily="34" charset="77"/>
                        </a:rPr>
                        <a:t>Weight-relevant?</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tc>
                  <a:txBody>
                    <a:bodyPr/>
                    <a:lstStyle/>
                    <a:p>
                      <a:pPr algn="ctr"/>
                      <a:r>
                        <a:rPr lang="en-US" sz="1000" b="0" dirty="0">
                          <a:solidFill>
                            <a:schemeClr val="bg1"/>
                          </a:solidFill>
                          <a:latin typeface="IBM Plex Sans Condensed" panose="020B0506050203000203" pitchFamily="34" charset="77"/>
                        </a:rPr>
                        <a:t>Sulfur-relevant?</a:t>
                      </a:r>
                    </a:p>
                  </a:txBody>
                  <a:tcPr anchor="ctr">
                    <a:lnL w="28575" cap="flat" cmpd="sng" algn="ctr">
                      <a:noFill/>
                      <a:prstDash val="dash"/>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A2636"/>
                    </a:solidFill>
                  </a:tcPr>
                </a:tc>
                <a:extLst>
                  <a:ext uri="{0D108BD9-81ED-4DB2-BD59-A6C34878D82A}">
                    <a16:rowId xmlns:a16="http://schemas.microsoft.com/office/drawing/2014/main" val="3241934697"/>
                  </a:ext>
                </a:extLst>
              </a:tr>
              <a:tr h="234734">
                <a:tc>
                  <a:txBody>
                    <a:bodyPr/>
                    <a:lstStyle/>
                    <a:p>
                      <a:pPr algn="l"/>
                      <a:r>
                        <a:rPr lang="en-US" sz="1000" dirty="0">
                          <a:solidFill>
                            <a:schemeClr val="tx1"/>
                          </a:solidFill>
                          <a:latin typeface="IBM Plex Sans Condensed" panose="020B0506050203000203" pitchFamily="34" charset="77"/>
                        </a:rPr>
                        <a:t>External Corrosion</a:t>
                      </a:r>
                    </a:p>
                  </a:txBody>
                  <a:tcPr anchor="ct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Due to environmental conditions on the outside of the pipe</a:t>
                      </a:r>
                    </a:p>
                  </a:txBody>
                  <a:tcPr anchor="ctr">
                    <a:lnL w="12700" cmpd="sng">
                      <a:noFill/>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8 %</a:t>
                      </a:r>
                    </a:p>
                  </a:txBody>
                  <a:tcPr anchor="ctr">
                    <a:lnL w="12700" cmpd="sng">
                      <a:noFill/>
                    </a:lnL>
                    <a:lnR w="6350" cap="flat" cmpd="sng" algn="ctr">
                      <a:solidFill>
                        <a:schemeClr val="tx1"/>
                      </a:solidFill>
                      <a:prstDash val="dash"/>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63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9457090"/>
                  </a:ext>
                </a:extLst>
              </a:tr>
              <a:tr h="234734">
                <a:tc>
                  <a:txBody>
                    <a:bodyPr/>
                    <a:lstStyle/>
                    <a:p>
                      <a:pPr algn="l"/>
                      <a:r>
                        <a:rPr lang="en-US" sz="1000" dirty="0">
                          <a:solidFill>
                            <a:schemeClr val="tx1"/>
                          </a:solidFill>
                          <a:latin typeface="IBM Plex Sans Condensed" panose="020B0506050203000203" pitchFamily="34" charset="77"/>
                        </a:rPr>
                        <a:t>Internal Corrosion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Contaminants naturally contained within the transported commodity, such as hydrogen sulfide, carbon dioxide, or other chemicals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12 %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Yes</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43196518"/>
                  </a:ext>
                </a:extLst>
              </a:tr>
              <a:tr h="234734">
                <a:tc>
                  <a:txBody>
                    <a:bodyPr/>
                    <a:lstStyle/>
                    <a:p>
                      <a:pPr algn="l"/>
                      <a:r>
                        <a:rPr lang="en-US" sz="1000" dirty="0">
                          <a:solidFill>
                            <a:schemeClr val="tx1"/>
                          </a:solidFill>
                          <a:latin typeface="IBM Plex Sans Condensed" panose="020B0506050203000203" pitchFamily="34" charset="77"/>
                        </a:rPr>
                        <a:t>Stress Corrosion Cracking</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Environmentally-assisted cracking that reduces the pressure-carrying capability of the pipe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Maybe</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000" dirty="0">
                          <a:solidFill>
                            <a:schemeClr val="tx1"/>
                          </a:solidFill>
                          <a:latin typeface="IBM Plex Sans Condensed" panose="020B0506050203000203" pitchFamily="34" charset="77"/>
                        </a:rPr>
                        <a:t>Maybe</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94841422"/>
                  </a:ext>
                </a:extLst>
              </a:tr>
              <a:tr h="234734">
                <a:tc>
                  <a:txBody>
                    <a:bodyPr/>
                    <a:lstStyle/>
                    <a:p>
                      <a:pPr algn="l"/>
                      <a:r>
                        <a:rPr lang="en-US" sz="1000" dirty="0">
                          <a:solidFill>
                            <a:schemeClr val="tx1"/>
                          </a:solidFill>
                          <a:latin typeface="IBM Plex Sans Condensed" panose="020B0506050203000203" pitchFamily="34" charset="77"/>
                        </a:rPr>
                        <a:t>Selective Seam Corrosion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Localized corrosion along specific welding points. Generally, has been fixed since 1970 due to upgrade materials.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43164737"/>
                  </a:ext>
                </a:extLst>
              </a:tr>
              <a:tr h="234734">
                <a:tc>
                  <a:txBody>
                    <a:bodyPr/>
                    <a:lstStyle/>
                    <a:p>
                      <a:pPr algn="l"/>
                      <a:r>
                        <a:rPr lang="en-US" sz="1000" dirty="0">
                          <a:solidFill>
                            <a:schemeClr val="tx1"/>
                          </a:solidFill>
                          <a:latin typeface="IBM Plex Sans Condensed" panose="020B0506050203000203" pitchFamily="34" charset="77"/>
                        </a:rPr>
                        <a:t>Excavation Damage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Excavator damaging exterior of pipeline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15 %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3626185"/>
                  </a:ext>
                </a:extLst>
              </a:tr>
              <a:tr h="234734">
                <a:tc>
                  <a:txBody>
                    <a:bodyPr/>
                    <a:lstStyle/>
                    <a:p>
                      <a:pPr algn="l"/>
                      <a:r>
                        <a:rPr lang="en-US" sz="1000" dirty="0">
                          <a:solidFill>
                            <a:schemeClr val="tx1"/>
                          </a:solidFill>
                          <a:latin typeface="IBM Plex Sans Condensed" panose="020B0506050203000203" pitchFamily="34" charset="77"/>
                        </a:rPr>
                        <a:t>Natural Force Damage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Naturally occurring events, such as earth movement or heavy rains.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9 %</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625405"/>
                  </a:ext>
                </a:extLst>
              </a:tr>
              <a:tr h="234734">
                <a:tc>
                  <a:txBody>
                    <a:bodyPr/>
                    <a:lstStyle/>
                    <a:p>
                      <a:pPr algn="l"/>
                      <a:r>
                        <a:rPr lang="en-US" sz="1000" dirty="0">
                          <a:solidFill>
                            <a:schemeClr val="tx1"/>
                          </a:solidFill>
                          <a:latin typeface="IBM Plex Sans Condensed" panose="020B0506050203000203" pitchFamily="34" charset="77"/>
                        </a:rPr>
                        <a:t>Other Outside Force Damage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Vehicle or equipment contact; vandalism; damage caused by accidents, etc.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&lt;1</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3680749"/>
                  </a:ext>
                </a:extLst>
              </a:tr>
              <a:tr h="234734">
                <a:tc>
                  <a:txBody>
                    <a:bodyPr/>
                    <a:lstStyle/>
                    <a:p>
                      <a:pPr algn="l"/>
                      <a:r>
                        <a:rPr lang="en-US" sz="1000" dirty="0">
                          <a:solidFill>
                            <a:schemeClr val="tx1"/>
                          </a:solidFill>
                          <a:latin typeface="IBM Plex Sans Condensed" panose="020B0506050203000203" pitchFamily="34" charset="77"/>
                        </a:rPr>
                        <a:t>Material/Weld Failure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Impurities remaining in the molten steel upon manufacturing.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Not Provided</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Maybe</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000" dirty="0">
                          <a:solidFill>
                            <a:schemeClr val="tx1"/>
                          </a:solidFill>
                          <a:latin typeface="IBM Plex Sans Condensed" panose="020B0506050203000203" pitchFamily="34" charset="77"/>
                        </a:rPr>
                        <a:t>Maybe</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457711238"/>
                  </a:ext>
                </a:extLst>
              </a:tr>
              <a:tr h="234734">
                <a:tc>
                  <a:txBody>
                    <a:bodyPr/>
                    <a:lstStyle/>
                    <a:p>
                      <a:pPr algn="l"/>
                      <a:r>
                        <a:rPr lang="en-US" sz="1000" dirty="0">
                          <a:solidFill>
                            <a:schemeClr val="tx1"/>
                          </a:solidFill>
                          <a:latin typeface="IBM Plex Sans Condensed" panose="020B0506050203000203" pitchFamily="34" charset="77"/>
                        </a:rPr>
                        <a:t>Equipment Failure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Pipeline component other than the pipe. E.g., pumps and compressors, meters and metering equipment, valves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Not Provided</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Yes</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1000" dirty="0">
                          <a:solidFill>
                            <a:schemeClr val="tx1"/>
                          </a:solidFill>
                          <a:latin typeface="IBM Plex Sans Condensed" panose="020B0506050203000203" pitchFamily="34" charset="77"/>
                        </a:rPr>
                        <a:t>Maybe</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354135380"/>
                  </a:ext>
                </a:extLst>
              </a:tr>
              <a:tr h="234734">
                <a:tc>
                  <a:txBody>
                    <a:bodyPr/>
                    <a:lstStyle/>
                    <a:p>
                      <a:pPr algn="l"/>
                      <a:r>
                        <a:rPr lang="en-US" sz="1000" dirty="0">
                          <a:solidFill>
                            <a:schemeClr val="tx1"/>
                          </a:solidFill>
                          <a:latin typeface="IBM Plex Sans Condensed" panose="020B0506050203000203" pitchFamily="34" charset="77"/>
                        </a:rPr>
                        <a:t>Incorrect Operation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sz="1000" dirty="0">
                          <a:solidFill>
                            <a:schemeClr val="tx1"/>
                          </a:solidFill>
                          <a:latin typeface="IBM Plex Sans Condensed" panose="020B0506050203000203" pitchFamily="34" charset="77"/>
                        </a:rPr>
                        <a:t>Direct or indirect cause of a pipeline failure; e.g., wrong valve open, overfilling a tank, over-pressuring a piece of equipment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Not Provided</a:t>
                      </a:r>
                    </a:p>
                  </a:txBody>
                  <a:tcPr anchor="ctr">
                    <a:lnL w="12700" cmpd="sng">
                      <a:noFill/>
                    </a:lnL>
                    <a:lnR w="6350" cap="flat" cmpd="sng" algn="ctr">
                      <a:solidFill>
                        <a:schemeClr val="tx1"/>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6350" cap="flat" cmpd="sng" algn="ctr">
                      <a:solidFill>
                        <a:schemeClr val="tx1"/>
                      </a:solidFill>
                      <a:prstDash val="dash"/>
                      <a:round/>
                      <a:headEnd type="none" w="med" len="med"/>
                      <a:tailEnd type="none" w="med" len="med"/>
                    </a:lnL>
                    <a:lnR w="28575" cap="flat" cmpd="sng" algn="ctr">
                      <a:no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000" dirty="0">
                          <a:solidFill>
                            <a:schemeClr val="tx1"/>
                          </a:solidFill>
                          <a:latin typeface="IBM Plex Sans Condensed" panose="020B0506050203000203" pitchFamily="34" charset="77"/>
                        </a:rPr>
                        <a:t>No</a:t>
                      </a:r>
                    </a:p>
                  </a:txBody>
                  <a:tcPr anchor="ctr">
                    <a:lnL w="28575" cap="flat" cmpd="sng" algn="ctr">
                      <a:no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38458305"/>
                  </a:ext>
                </a:extLst>
              </a:tr>
            </a:tbl>
          </a:graphicData>
        </a:graphic>
      </p:graphicFrame>
      <p:sp>
        <p:nvSpPr>
          <p:cNvPr id="26" name="Rounded Rectangle 25">
            <a:extLst>
              <a:ext uri="{FF2B5EF4-FFF2-40B4-BE49-F238E27FC236}">
                <a16:creationId xmlns:a16="http://schemas.microsoft.com/office/drawing/2014/main" id="{288012E2-37BF-D378-E9E6-08972EB3C34E}"/>
              </a:ext>
            </a:extLst>
          </p:cNvPr>
          <p:cNvSpPr/>
          <p:nvPr/>
        </p:nvSpPr>
        <p:spPr>
          <a:xfrm>
            <a:off x="9448800" y="2098766"/>
            <a:ext cx="2159726" cy="357051"/>
          </a:xfrm>
          <a:prstGeom prst="round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Spectral" panose="02020502060000000000" pitchFamily="18" charset="77"/>
              </a:rPr>
              <a:t>Key Takeaways</a:t>
            </a:r>
          </a:p>
        </p:txBody>
      </p:sp>
      <p:sp>
        <p:nvSpPr>
          <p:cNvPr id="27" name="Rounded Rectangle 26">
            <a:extLst>
              <a:ext uri="{FF2B5EF4-FFF2-40B4-BE49-F238E27FC236}">
                <a16:creationId xmlns:a16="http://schemas.microsoft.com/office/drawing/2014/main" id="{AE372507-7327-9467-631A-68204B2106EF}"/>
              </a:ext>
            </a:extLst>
          </p:cNvPr>
          <p:cNvSpPr/>
          <p:nvPr/>
        </p:nvSpPr>
        <p:spPr>
          <a:xfrm>
            <a:off x="9448800" y="2626965"/>
            <a:ext cx="2159726" cy="130060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PHYSICAL PROPERTIES</a:t>
            </a:r>
          </a:p>
          <a:p>
            <a:r>
              <a:rPr lang="en-US" sz="1100" dirty="0">
                <a:solidFill>
                  <a:schemeClr val="tx1"/>
                </a:solidFill>
                <a:latin typeface="IBM Plex Sans Condensed" panose="020B0506050203000203" pitchFamily="34" charset="77"/>
              </a:rPr>
              <a:t>Focus on accidents in which the weight of the substance could have exacerbated stress corrosion, or material/equipment failure.</a:t>
            </a:r>
          </a:p>
        </p:txBody>
      </p:sp>
      <p:sp>
        <p:nvSpPr>
          <p:cNvPr id="28" name="Rounded Rectangle 27">
            <a:extLst>
              <a:ext uri="{FF2B5EF4-FFF2-40B4-BE49-F238E27FC236}">
                <a16:creationId xmlns:a16="http://schemas.microsoft.com/office/drawing/2014/main" id="{055FB232-17B8-0D0D-FBD8-B081FFF982D2}"/>
              </a:ext>
            </a:extLst>
          </p:cNvPr>
          <p:cNvSpPr/>
          <p:nvPr/>
        </p:nvSpPr>
        <p:spPr>
          <a:xfrm>
            <a:off x="9448800" y="4002920"/>
            <a:ext cx="2159726" cy="1600058"/>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2CABAF"/>
                </a:solidFill>
                <a:latin typeface="IBM Plex Sans Condensed" panose="020B0506050203000203" pitchFamily="34" charset="77"/>
              </a:rPr>
              <a:t>CHEMICAL PROPERTIES</a:t>
            </a:r>
          </a:p>
          <a:p>
            <a:r>
              <a:rPr lang="en-US" sz="1100" dirty="0">
                <a:solidFill>
                  <a:schemeClr val="tx1"/>
                </a:solidFill>
                <a:latin typeface="IBM Plex Sans Condensed" panose="020B0506050203000203" pitchFamily="34" charset="77"/>
              </a:rPr>
              <a:t>Focus on incidents in which internal corrosion occurred, or material failures where the substance could have deteriorated the performance of the equipment/system. </a:t>
            </a:r>
          </a:p>
        </p:txBody>
      </p:sp>
      <p:cxnSp>
        <p:nvCxnSpPr>
          <p:cNvPr id="3" name="Straight Connector 2">
            <a:extLst>
              <a:ext uri="{FF2B5EF4-FFF2-40B4-BE49-F238E27FC236}">
                <a16:creationId xmlns:a16="http://schemas.microsoft.com/office/drawing/2014/main" id="{D3DA9930-B04A-FF47-40A0-13F7DDE24AC7}"/>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35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Dataset Collection</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26CFC8-9196-77DE-28B4-BD7F7CB3C76A}"/>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We need to source data that contains information on pipeline incidents. The ideal dataset will contain detailed information on the substances that are being transported and the cause of the accident. Additional information about pipeline specifications could be valuable. </a:t>
            </a:r>
          </a:p>
        </p:txBody>
      </p:sp>
      <p:sp>
        <p:nvSpPr>
          <p:cNvPr id="5" name="TextBox 4">
            <a:extLst>
              <a:ext uri="{FF2B5EF4-FFF2-40B4-BE49-F238E27FC236}">
                <a16:creationId xmlns:a16="http://schemas.microsoft.com/office/drawing/2014/main" id="{04D9FF41-E4C7-367E-B017-FB5F1E06DF59}"/>
              </a:ext>
            </a:extLst>
          </p:cNvPr>
          <p:cNvSpPr txBox="1"/>
          <p:nvPr/>
        </p:nvSpPr>
        <p:spPr>
          <a:xfrm>
            <a:off x="348341" y="2091357"/>
            <a:ext cx="2272940" cy="1954381"/>
          </a:xfrm>
          <a:prstGeom prst="rect">
            <a:avLst/>
          </a:prstGeom>
          <a:noFill/>
        </p:spPr>
        <p:txBody>
          <a:bodyPr wrap="square" rtlCol="0">
            <a:spAutoFit/>
          </a:bodyPr>
          <a:lstStyle/>
          <a:p>
            <a:r>
              <a:rPr lang="en-US" sz="1100" dirty="0">
                <a:latin typeface="IBM Plex Sans Condensed" panose="020B0506050203000203" pitchFamily="34" charset="77"/>
              </a:rPr>
              <a:t>The Canada Energy Regulator (CER) (formally the National Energy Board) regulates pipelines that cross inter-provincial or international boundaries; pipelines that are intra-provincial are regulated by each individual province [6]. The Onshore Pipeline Regulations (OPR) were created by the CER to ensure companies are meeting pipeline safety requirements.</a:t>
            </a:r>
          </a:p>
        </p:txBody>
      </p:sp>
      <p:graphicFrame>
        <p:nvGraphicFramePr>
          <p:cNvPr id="9" name="Table 8">
            <a:extLst>
              <a:ext uri="{FF2B5EF4-FFF2-40B4-BE49-F238E27FC236}">
                <a16:creationId xmlns:a16="http://schemas.microsoft.com/office/drawing/2014/main" id="{36E4C231-EE62-F6F4-7E1B-F4F91A77BFD5}"/>
              </a:ext>
            </a:extLst>
          </p:cNvPr>
          <p:cNvGraphicFramePr>
            <a:graphicFrameLocks noGrp="1"/>
          </p:cNvGraphicFramePr>
          <p:nvPr>
            <p:extLst>
              <p:ext uri="{D42A27DB-BD31-4B8C-83A1-F6EECF244321}">
                <p14:modId xmlns:p14="http://schemas.microsoft.com/office/powerpoint/2010/main" val="352853919"/>
              </p:ext>
            </p:extLst>
          </p:nvPr>
        </p:nvGraphicFramePr>
        <p:xfrm>
          <a:off x="2943496" y="1694467"/>
          <a:ext cx="8813073" cy="4358640"/>
        </p:xfrm>
        <a:graphic>
          <a:graphicData uri="http://schemas.openxmlformats.org/drawingml/2006/table">
            <a:tbl>
              <a:tblPr firstRow="1" bandRow="1">
                <a:tableStyleId>{5C22544A-7EE6-4342-B048-85BDC9FD1C3A}</a:tableStyleId>
              </a:tblPr>
              <a:tblGrid>
                <a:gridCol w="480428">
                  <a:extLst>
                    <a:ext uri="{9D8B030D-6E8A-4147-A177-3AD203B41FA5}">
                      <a16:colId xmlns:a16="http://schemas.microsoft.com/office/drawing/2014/main" val="4109172394"/>
                    </a:ext>
                  </a:extLst>
                </a:gridCol>
                <a:gridCol w="1043573">
                  <a:extLst>
                    <a:ext uri="{9D8B030D-6E8A-4147-A177-3AD203B41FA5}">
                      <a16:colId xmlns:a16="http://schemas.microsoft.com/office/drawing/2014/main" val="1864110391"/>
                    </a:ext>
                  </a:extLst>
                </a:gridCol>
                <a:gridCol w="1314994">
                  <a:extLst>
                    <a:ext uri="{9D8B030D-6E8A-4147-A177-3AD203B41FA5}">
                      <a16:colId xmlns:a16="http://schemas.microsoft.com/office/drawing/2014/main" val="2570560924"/>
                    </a:ext>
                  </a:extLst>
                </a:gridCol>
                <a:gridCol w="792480">
                  <a:extLst>
                    <a:ext uri="{9D8B030D-6E8A-4147-A177-3AD203B41FA5}">
                      <a16:colId xmlns:a16="http://schemas.microsoft.com/office/drawing/2014/main" val="2579643522"/>
                    </a:ext>
                  </a:extLst>
                </a:gridCol>
                <a:gridCol w="731520">
                  <a:extLst>
                    <a:ext uri="{9D8B030D-6E8A-4147-A177-3AD203B41FA5}">
                      <a16:colId xmlns:a16="http://schemas.microsoft.com/office/drawing/2014/main" val="1114013748"/>
                    </a:ext>
                  </a:extLst>
                </a:gridCol>
                <a:gridCol w="1001486">
                  <a:extLst>
                    <a:ext uri="{9D8B030D-6E8A-4147-A177-3AD203B41FA5}">
                      <a16:colId xmlns:a16="http://schemas.microsoft.com/office/drawing/2014/main" val="1117030240"/>
                    </a:ext>
                  </a:extLst>
                </a:gridCol>
                <a:gridCol w="801189">
                  <a:extLst>
                    <a:ext uri="{9D8B030D-6E8A-4147-A177-3AD203B41FA5}">
                      <a16:colId xmlns:a16="http://schemas.microsoft.com/office/drawing/2014/main" val="1794540429"/>
                    </a:ext>
                  </a:extLst>
                </a:gridCol>
                <a:gridCol w="853440">
                  <a:extLst>
                    <a:ext uri="{9D8B030D-6E8A-4147-A177-3AD203B41FA5}">
                      <a16:colId xmlns:a16="http://schemas.microsoft.com/office/drawing/2014/main" val="3983182840"/>
                    </a:ext>
                  </a:extLst>
                </a:gridCol>
                <a:gridCol w="1793963">
                  <a:extLst>
                    <a:ext uri="{9D8B030D-6E8A-4147-A177-3AD203B41FA5}">
                      <a16:colId xmlns:a16="http://schemas.microsoft.com/office/drawing/2014/main" val="4117142743"/>
                    </a:ext>
                  </a:extLst>
                </a:gridCol>
              </a:tblGrid>
              <a:tr h="248019">
                <a:tc>
                  <a:txBody>
                    <a:bodyPr/>
                    <a:lstStyle/>
                    <a:p>
                      <a:pPr algn="ctr"/>
                      <a:r>
                        <a:rPr lang="en-US" sz="1000" b="0" dirty="0">
                          <a:solidFill>
                            <a:schemeClr val="bg1"/>
                          </a:solidFill>
                          <a:latin typeface="IBM Plex Sans Condensed" panose="020B0506050203000203" pitchFamily="34" charset="77"/>
                        </a:rPr>
                        <a:t>Label</a:t>
                      </a:r>
                    </a:p>
                  </a:txBody>
                  <a:tcPr anchor="ctr">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Dataset Name</a:t>
                      </a:r>
                    </a:p>
                  </a:txBody>
                  <a:tcPr anchor="ctr">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Description</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Date Range</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 Records</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Crude Oil Types</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Weight-specific info?</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Sulfur-specific info? </a:t>
                      </a:r>
                    </a:p>
                  </a:txBody>
                  <a:tcPr anchor="ctr">
                    <a:lnB w="635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Accident-specific info</a:t>
                      </a:r>
                    </a:p>
                  </a:txBody>
                  <a:tcPr anchor="ctr">
                    <a:lnB w="6350" cap="flat" cmpd="sng" algn="ctr">
                      <a:solidFill>
                        <a:schemeClr val="tx1"/>
                      </a:solidFill>
                      <a:prstDash val="solid"/>
                      <a:round/>
                      <a:headEnd type="none" w="med" len="med"/>
                      <a:tailEnd type="none" w="med" len="med"/>
                    </a:lnB>
                    <a:solidFill>
                      <a:srgbClr val="0A2636"/>
                    </a:solidFill>
                  </a:tcPr>
                </a:tc>
                <a:extLst>
                  <a:ext uri="{0D108BD9-81ED-4DB2-BD59-A6C34878D82A}">
                    <a16:rowId xmlns:a16="http://schemas.microsoft.com/office/drawing/2014/main" val="2343394472"/>
                  </a:ext>
                </a:extLst>
              </a:tr>
              <a:tr h="337324">
                <a:tc>
                  <a:txBody>
                    <a:bodyPr/>
                    <a:lstStyle/>
                    <a:p>
                      <a:pPr algn="ctr"/>
                      <a:r>
                        <a:rPr lang="en-US" sz="1000" dirty="0">
                          <a:solidFill>
                            <a:schemeClr val="bg1"/>
                          </a:solidFill>
                          <a:latin typeface="IBM Plex Sans Condensed" panose="020B0506050203000203" pitchFamily="34" charset="77"/>
                        </a:rPr>
                        <a:t>A</a:t>
                      </a:r>
                    </a:p>
                  </a:txBody>
                  <a:tcPr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rgbClr val="2DAAAF"/>
                    </a:solidFill>
                  </a:tcPr>
                </a:tc>
                <a:tc>
                  <a:txBody>
                    <a:bodyPr/>
                    <a:lstStyle/>
                    <a:p>
                      <a:r>
                        <a:rPr lang="en-US" sz="800" dirty="0">
                          <a:solidFill>
                            <a:schemeClr val="tx1"/>
                          </a:solidFill>
                          <a:latin typeface="IBM Plex Sans Condensed" panose="020B0506050203000203" pitchFamily="34" charset="77"/>
                        </a:rPr>
                        <a:t>Pipeline-incidents-comprehensive-</a:t>
                      </a:r>
                      <a:r>
                        <a:rPr lang="en-US" sz="800" dirty="0" err="1">
                          <a:solidFill>
                            <a:schemeClr val="tx1"/>
                          </a:solidFill>
                          <a:latin typeface="IBM Plex Sans Condensed" panose="020B0506050203000203" pitchFamily="34" charset="77"/>
                        </a:rPr>
                        <a:t>data.csv</a:t>
                      </a:r>
                      <a:endParaRPr lang="en-US" sz="800" dirty="0">
                        <a:solidFill>
                          <a:schemeClr val="tx1"/>
                        </a:solidFill>
                        <a:latin typeface="IBM Plex Sans Condensed" panose="020B0506050203000203" pitchFamily="34" charset="77"/>
                      </a:endParaRPr>
                    </a:p>
                  </a:txBody>
                  <a:tcPr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Pipeline incidents as defined by OPR and Processing Plant regulations</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2008 to Present</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1856</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Crude Oil, Crude Oil (Heavy, Light, Sour, and Sweet)</a:t>
                      </a:r>
                    </a:p>
                  </a:txBody>
                  <a:tcPr anchor="ctr">
                    <a:lnT w="6350" cap="flat" cmpd="sng" algn="ctr">
                      <a:solidFill>
                        <a:schemeClr val="tx1"/>
                      </a:solidFill>
                      <a:prstDash val="solid"/>
                      <a:round/>
                      <a:headEnd type="none" w="med" len="med"/>
                      <a:tailEnd type="none" w="med" len="med"/>
                    </a:lnT>
                    <a:noFill/>
                  </a:tcPr>
                </a:tc>
                <a:tc>
                  <a:txBody>
                    <a:bodyPr/>
                    <a:lstStyle/>
                    <a:p>
                      <a:r>
                        <a:rPr lang="en-US" sz="800" dirty="0">
                          <a:solidFill>
                            <a:schemeClr val="tx1"/>
                          </a:solidFill>
                          <a:latin typeface="IBM Plex Sans Condensed" panose="020B0506050203000203" pitchFamily="34" charset="77"/>
                        </a:rPr>
                        <a:t>No</a:t>
                      </a:r>
                    </a:p>
                  </a:txBody>
                  <a:tcPr anchor="ctr">
                    <a:lnT w="6350" cap="flat" cmpd="sng" algn="ctr">
                      <a:solidFill>
                        <a:schemeClr val="tx1"/>
                      </a:solidFill>
                      <a:prstDash val="solid"/>
                      <a:round/>
                      <a:headEnd type="none" w="med" len="med"/>
                      <a:tailEnd type="none" w="med" len="med"/>
                    </a:lnT>
                    <a:solidFill>
                      <a:srgbClr val="FF0000">
                        <a:alpha val="20000"/>
                      </a:srgbClr>
                    </a:solidFill>
                  </a:tcPr>
                </a:tc>
                <a:tc>
                  <a:txBody>
                    <a:bodyPr/>
                    <a:lstStyle/>
                    <a:p>
                      <a:r>
                        <a:rPr lang="en-US" sz="800" dirty="0">
                          <a:solidFill>
                            <a:schemeClr val="tx1"/>
                          </a:solidFill>
                          <a:latin typeface="IBM Plex Sans Condensed" panose="020B0506050203000203" pitchFamily="34" charset="77"/>
                        </a:rPr>
                        <a:t>No – grouped together</a:t>
                      </a:r>
                    </a:p>
                  </a:txBody>
                  <a:tcPr anchor="ctr">
                    <a:lnT w="6350" cap="flat" cmpd="sng" algn="ctr">
                      <a:solidFill>
                        <a:schemeClr val="tx1"/>
                      </a:solidFill>
                      <a:prstDash val="solid"/>
                      <a:round/>
                      <a:headEnd type="none" w="med" len="med"/>
                      <a:tailEnd type="none" w="med" len="med"/>
                    </a:lnT>
                    <a:solidFill>
                      <a:srgbClr val="FF0000">
                        <a:alpha val="20000"/>
                      </a:srgbClr>
                    </a:solidFill>
                  </a:tcPr>
                </a:tc>
                <a:tc>
                  <a:txBody>
                    <a:bodyPr/>
                    <a:lstStyle/>
                    <a:p>
                      <a:r>
                        <a:rPr lang="en-US" sz="800" b="1" i="0" dirty="0">
                          <a:solidFill>
                            <a:schemeClr val="tx1"/>
                          </a:solidFill>
                          <a:latin typeface="IBM Plex Sans Condensed" panose="020B0506050203000203" pitchFamily="34" charset="77"/>
                        </a:rPr>
                        <a:t>What happened</a:t>
                      </a:r>
                      <a:r>
                        <a:rPr lang="en-US" sz="800" i="1" dirty="0">
                          <a:solidFill>
                            <a:schemeClr val="tx1"/>
                          </a:solidFill>
                          <a:latin typeface="IBM Plex Sans Condensed" panose="020B0506050203000203" pitchFamily="34" charset="77"/>
                        </a:rPr>
                        <a:t>: </a:t>
                      </a:r>
                      <a:r>
                        <a:rPr lang="en-US" sz="800" dirty="0">
                          <a:solidFill>
                            <a:schemeClr val="tx1"/>
                          </a:solidFill>
                          <a:latin typeface="IBM Plex Sans Condensed" panose="020B0506050203000203" pitchFamily="34" charset="77"/>
                        </a:rPr>
                        <a:t>damage, deterioration, construction, etc.; </a:t>
                      </a:r>
                      <a:r>
                        <a:rPr lang="en-US" sz="800" b="1" i="0" dirty="0">
                          <a:solidFill>
                            <a:schemeClr val="tx1"/>
                          </a:solidFill>
                          <a:latin typeface="IBM Plex Sans Condensed" panose="020B0506050203000203" pitchFamily="34" charset="77"/>
                        </a:rPr>
                        <a:t>Incident type:</a:t>
                      </a:r>
                      <a:r>
                        <a:rPr lang="en-US" sz="800" i="1" dirty="0">
                          <a:solidFill>
                            <a:schemeClr val="tx1"/>
                          </a:solidFill>
                          <a:latin typeface="IBM Plex Sans Condensed" panose="020B0506050203000203" pitchFamily="34" charset="77"/>
                        </a:rPr>
                        <a:t> </a:t>
                      </a:r>
                      <a:r>
                        <a:rPr lang="en-US" sz="800" dirty="0">
                          <a:solidFill>
                            <a:schemeClr val="tx1"/>
                          </a:solidFill>
                          <a:latin typeface="IBM Plex Sans Condensed" panose="020B0506050203000203" pitchFamily="34" charset="77"/>
                        </a:rPr>
                        <a:t>fire, release of substance, etc.</a:t>
                      </a:r>
                    </a:p>
                  </a:txBody>
                  <a:tcPr anchor="ctr">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861430521"/>
                  </a:ext>
                </a:extLst>
              </a:tr>
              <a:tr h="248019">
                <a:tc>
                  <a:txBody>
                    <a:bodyPr/>
                    <a:lstStyle/>
                    <a:p>
                      <a:pPr algn="ctr"/>
                      <a:r>
                        <a:rPr lang="en-US" sz="1000" dirty="0">
                          <a:solidFill>
                            <a:schemeClr val="bg1"/>
                          </a:solidFill>
                          <a:latin typeface="IBM Plex Sans Condensed" panose="020B0506050203000203" pitchFamily="34" charset="77"/>
                        </a:rPr>
                        <a:t>B</a:t>
                      </a:r>
                    </a:p>
                  </a:txBody>
                  <a:tcPr anchor="ctr">
                    <a:lnR w="6350" cap="flat" cmpd="sng" algn="ctr">
                      <a:solidFill>
                        <a:schemeClr val="tx1"/>
                      </a:solidFill>
                      <a:prstDash val="solid"/>
                      <a:round/>
                      <a:headEnd type="none" w="med" len="med"/>
                      <a:tailEnd type="none" w="med" len="med"/>
                    </a:lnR>
                    <a:solidFill>
                      <a:srgbClr val="2DAAAF"/>
                    </a:solidFill>
                  </a:tcPr>
                </a:tc>
                <a:tc>
                  <a:txBody>
                    <a:bodyPr/>
                    <a:lstStyle/>
                    <a:p>
                      <a:r>
                        <a:rPr lang="en-US" sz="800" dirty="0" err="1">
                          <a:solidFill>
                            <a:schemeClr val="tx1"/>
                          </a:solidFill>
                          <a:latin typeface="IBM Plex Sans Condensed" panose="020B0506050203000203" pitchFamily="34" charset="77"/>
                        </a:rPr>
                        <a:t>PODSdb_MDOTW_VW_OCCURRENCE_PUBLIC.csv</a:t>
                      </a:r>
                      <a:endParaRPr lang="en-US" sz="800" dirty="0">
                        <a:solidFill>
                          <a:schemeClr val="tx1"/>
                        </a:solidFill>
                        <a:latin typeface="IBM Plex Sans Condensed" panose="020B0506050203000203" pitchFamily="34" charset="77"/>
                      </a:endParaRPr>
                    </a:p>
                  </a:txBody>
                  <a:tcPr anchor="ctr">
                    <a:lnL w="6350" cap="flat" cmpd="sng" algn="ctr">
                      <a:solidFill>
                        <a:schemeClr val="tx1"/>
                      </a:solidFill>
                      <a:prstDash val="solid"/>
                      <a:round/>
                      <a:headEnd type="none" w="med" len="med"/>
                      <a:tailEnd type="none" w="med" len="med"/>
                    </a:lnL>
                    <a:noFill/>
                  </a:tcPr>
                </a:tc>
                <a:tc>
                  <a:txBody>
                    <a:bodyPr/>
                    <a:lstStyle/>
                    <a:p>
                      <a:r>
                        <a:rPr lang="en-US" sz="800" dirty="0">
                          <a:solidFill>
                            <a:schemeClr val="tx1"/>
                          </a:solidFill>
                          <a:latin typeface="IBM Plex Sans Condensed" panose="020B0506050203000203" pitchFamily="34" charset="77"/>
                        </a:rPr>
                        <a:t>Incidents at CER-regulated pipelines </a:t>
                      </a:r>
                      <a:r>
                        <a:rPr lang="en-US" sz="800" b="1" dirty="0">
                          <a:solidFill>
                            <a:schemeClr val="tx1"/>
                          </a:solidFill>
                          <a:latin typeface="IBM Plex Sans Condensed" panose="020B0506050203000203" pitchFamily="34" charset="77"/>
                        </a:rPr>
                        <a:t>and facilities </a:t>
                      </a:r>
                      <a:r>
                        <a:rPr lang="en-US" sz="800" dirty="0">
                          <a:solidFill>
                            <a:schemeClr val="tx1"/>
                          </a:solidFill>
                          <a:latin typeface="IBM Plex Sans Condensed" panose="020B0506050203000203" pitchFamily="34" charset="77"/>
                        </a:rPr>
                        <a:t>as defined by OPR </a:t>
                      </a:r>
                    </a:p>
                  </a:txBody>
                  <a:tcPr anchor="ctr">
                    <a:noFill/>
                  </a:tcPr>
                </a:tc>
                <a:tc>
                  <a:txBody>
                    <a:bodyPr/>
                    <a:lstStyle/>
                    <a:p>
                      <a:r>
                        <a:rPr lang="en-US" sz="800" dirty="0">
                          <a:solidFill>
                            <a:schemeClr val="tx1"/>
                          </a:solidFill>
                          <a:latin typeface="IBM Plex Sans Condensed" panose="020B0506050203000203" pitchFamily="34" charset="77"/>
                        </a:rPr>
                        <a:t>2008 to current</a:t>
                      </a:r>
                    </a:p>
                  </a:txBody>
                  <a:tcPr anchor="ctr">
                    <a:noFill/>
                  </a:tcPr>
                </a:tc>
                <a:tc>
                  <a:txBody>
                    <a:bodyPr/>
                    <a:lstStyle/>
                    <a:p>
                      <a:r>
                        <a:rPr lang="en-US" sz="800" dirty="0">
                          <a:solidFill>
                            <a:schemeClr val="tx1"/>
                          </a:solidFill>
                          <a:latin typeface="IBM Plex Sans Condensed" panose="020B0506050203000203" pitchFamily="34" charset="77"/>
                        </a:rPr>
                        <a:t>3265</a:t>
                      </a:r>
                    </a:p>
                  </a:txBody>
                  <a:tcPr anchor="ctr">
                    <a:noFill/>
                  </a:tcPr>
                </a:tc>
                <a:tc>
                  <a:txBody>
                    <a:bodyPr/>
                    <a:lstStyle/>
                    <a:p>
                      <a:r>
                        <a:rPr lang="en-US" sz="800" dirty="0">
                          <a:solidFill>
                            <a:schemeClr val="tx1"/>
                          </a:solidFill>
                          <a:latin typeface="IBM Plex Sans Condensed" panose="020B0506050203000203" pitchFamily="34" charset="77"/>
                        </a:rPr>
                        <a:t>Crude Oil, Crude Oil-Sour</a:t>
                      </a:r>
                    </a:p>
                  </a:txBody>
                  <a:tcPr anchor="ctr">
                    <a:noFill/>
                  </a:tcPr>
                </a:tc>
                <a:tc>
                  <a:txBody>
                    <a:bodyPr/>
                    <a:lstStyle/>
                    <a:p>
                      <a:r>
                        <a:rPr lang="en-US" sz="800" dirty="0">
                          <a:solidFill>
                            <a:schemeClr val="tx1"/>
                          </a:solidFill>
                          <a:latin typeface="IBM Plex Sans Condensed" panose="020B0506050203000203" pitchFamily="34" charset="77"/>
                        </a:rPr>
                        <a:t>No</a:t>
                      </a:r>
                    </a:p>
                  </a:txBody>
                  <a:tcPr anchor="ctr">
                    <a:solidFill>
                      <a:srgbClr val="FF0000">
                        <a:alpha val="20000"/>
                      </a:srgbClr>
                    </a:solidFill>
                  </a:tcPr>
                </a:tc>
                <a:tc>
                  <a:txBody>
                    <a:bodyPr/>
                    <a:lstStyle/>
                    <a:p>
                      <a:r>
                        <a:rPr lang="en-US" sz="800" dirty="0">
                          <a:solidFill>
                            <a:schemeClr val="tx1"/>
                          </a:solidFill>
                          <a:latin typeface="IBM Plex Sans Condensed" panose="020B0506050203000203" pitchFamily="34" charset="77"/>
                        </a:rPr>
                        <a:t>Sour vs. not sour</a:t>
                      </a:r>
                    </a:p>
                  </a:txBody>
                  <a:tcPr anchor="ctr">
                    <a:solidFill>
                      <a:schemeClr val="accent4">
                        <a:lumMod val="20000"/>
                        <a:lumOff val="80000"/>
                        <a:alpha val="49804"/>
                      </a:schemeClr>
                    </a:solidFill>
                  </a:tcPr>
                </a:tc>
                <a:tc>
                  <a:txBody>
                    <a:bodyPr/>
                    <a:lstStyle/>
                    <a:p>
                      <a:r>
                        <a:rPr lang="en-US" sz="800" b="1" i="0" dirty="0">
                          <a:solidFill>
                            <a:schemeClr val="tx1"/>
                          </a:solidFill>
                          <a:latin typeface="IBM Plex Sans Condensed" panose="020B0506050203000203" pitchFamily="34" charset="77"/>
                        </a:rPr>
                        <a:t>Classification of Occurrence </a:t>
                      </a:r>
                      <a:r>
                        <a:rPr lang="en-US" sz="800" dirty="0">
                          <a:solidFill>
                            <a:schemeClr val="tx1"/>
                          </a:solidFill>
                          <a:latin typeface="IBM Plex Sans Condensed" panose="020B0506050203000203" pitchFamily="34" charset="77"/>
                        </a:rPr>
                        <a:t>(encoded); </a:t>
                      </a:r>
                      <a:r>
                        <a:rPr lang="en-US" sz="800" b="1" i="0" dirty="0">
                          <a:solidFill>
                            <a:schemeClr val="tx1"/>
                          </a:solidFill>
                          <a:latin typeface="IBM Plex Sans Condensed" panose="020B0506050203000203" pitchFamily="34" charset="77"/>
                        </a:rPr>
                        <a:t>occurrence summary</a:t>
                      </a:r>
                    </a:p>
                  </a:txBody>
                  <a:tcPr anchor="ctr">
                    <a:noFill/>
                  </a:tcPr>
                </a:tc>
                <a:extLst>
                  <a:ext uri="{0D108BD9-81ED-4DB2-BD59-A6C34878D82A}">
                    <a16:rowId xmlns:a16="http://schemas.microsoft.com/office/drawing/2014/main" val="3984137333"/>
                  </a:ext>
                </a:extLst>
              </a:tr>
              <a:tr h="248019">
                <a:tc>
                  <a:txBody>
                    <a:bodyPr/>
                    <a:lstStyle/>
                    <a:p>
                      <a:pPr algn="ctr"/>
                      <a:r>
                        <a:rPr lang="en-US" sz="1000" dirty="0">
                          <a:solidFill>
                            <a:schemeClr val="bg1"/>
                          </a:solidFill>
                          <a:latin typeface="IBM Plex Sans Condensed" panose="020B0506050203000203" pitchFamily="34" charset="77"/>
                        </a:rPr>
                        <a:t>C</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Accident_hazardous_liquid_pre1986.txt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Incidents within Hazardous Liquid and Carbon Dioxide Pipelines from 1968 to 1985</a:t>
                      </a:r>
                    </a:p>
                  </a:txBody>
                  <a:tcPr anchor="ctr">
                    <a:noFill/>
                  </a:tcPr>
                </a:tc>
                <a:tc>
                  <a:txBody>
                    <a:bodyPr/>
                    <a:lstStyle/>
                    <a:p>
                      <a:r>
                        <a:rPr lang="en-US" sz="800" dirty="0">
                          <a:latin typeface="IBM Plex Sans Condensed" panose="020B0506050203000203" pitchFamily="34" charset="77"/>
                        </a:rPr>
                        <a:t>1968 to 1985</a:t>
                      </a:r>
                    </a:p>
                  </a:txBody>
                  <a:tcPr anchor="ctr">
                    <a:noFill/>
                  </a:tcPr>
                </a:tc>
                <a:tc>
                  <a:txBody>
                    <a:bodyPr/>
                    <a:lstStyle/>
                    <a:p>
                      <a:r>
                        <a:rPr lang="en-US" sz="800" dirty="0">
                          <a:latin typeface="IBM Plex Sans Condensed" panose="020B0506050203000203" pitchFamily="34" charset="77"/>
                        </a:rPr>
                        <a:t>4734</a:t>
                      </a:r>
                    </a:p>
                  </a:txBody>
                  <a:tcPr anchor="ctr">
                    <a:noFill/>
                  </a:tcPr>
                </a:tc>
                <a:tc>
                  <a:txBody>
                    <a:bodyPr/>
                    <a:lstStyle/>
                    <a:p>
                      <a:r>
                        <a:rPr lang="en-US" sz="800" dirty="0">
                          <a:latin typeface="IBM Plex Sans Condensed" panose="020B0506050203000203" pitchFamily="34" charset="77"/>
                        </a:rPr>
                        <a:t>Crude Oil</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i="0" dirty="0">
                          <a:latin typeface="IBM Plex Sans Condensed" panose="020B0506050203000203" pitchFamily="34" charset="77"/>
                        </a:rPr>
                        <a:t>PRIMARY_CAUSE: </a:t>
                      </a:r>
                      <a:r>
                        <a:rPr lang="en-US" sz="800" dirty="0">
                          <a:latin typeface="IBM Plex Sans Condensed" panose="020B0506050203000203" pitchFamily="34" charset="77"/>
                        </a:rPr>
                        <a:t>corrosion, equipment, defective pipe, etc.</a:t>
                      </a:r>
                    </a:p>
                  </a:txBody>
                  <a:tcPr anchor="ctr">
                    <a:noFill/>
                  </a:tcPr>
                </a:tc>
                <a:extLst>
                  <a:ext uri="{0D108BD9-81ED-4DB2-BD59-A6C34878D82A}">
                    <a16:rowId xmlns:a16="http://schemas.microsoft.com/office/drawing/2014/main" val="3479032449"/>
                  </a:ext>
                </a:extLst>
              </a:tr>
              <a:tr h="248019">
                <a:tc>
                  <a:txBody>
                    <a:bodyPr/>
                    <a:lstStyle/>
                    <a:p>
                      <a:pPr algn="ctr"/>
                      <a:r>
                        <a:rPr lang="en-US" sz="1000" dirty="0">
                          <a:solidFill>
                            <a:schemeClr val="bg1"/>
                          </a:solidFill>
                          <a:latin typeface="IBM Plex Sans Condensed" panose="020B0506050203000203" pitchFamily="34" charset="77"/>
                        </a:rPr>
                        <a:t>D</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Accident_hazardous_liquid_1986_jan2002.txt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 [1986:2002]</a:t>
                      </a:r>
                    </a:p>
                  </a:txBody>
                  <a:tcPr anchor="ctr">
                    <a:noFill/>
                  </a:tcPr>
                </a:tc>
                <a:tc>
                  <a:txBody>
                    <a:bodyPr/>
                    <a:lstStyle/>
                    <a:p>
                      <a:r>
                        <a:rPr lang="en-US" sz="800" dirty="0">
                          <a:latin typeface="IBM Plex Sans Condensed" panose="020B0506050203000203" pitchFamily="34" charset="77"/>
                        </a:rPr>
                        <a:t>1986 to 2002</a:t>
                      </a:r>
                    </a:p>
                  </a:txBody>
                  <a:tcPr anchor="ctr">
                    <a:noFill/>
                  </a:tcPr>
                </a:tc>
                <a:tc>
                  <a:txBody>
                    <a:bodyPr/>
                    <a:lstStyle/>
                    <a:p>
                      <a:r>
                        <a:rPr lang="en-US" sz="800" dirty="0">
                          <a:latin typeface="IBM Plex Sans Condensed" panose="020B0506050203000203" pitchFamily="34" charset="77"/>
                        </a:rPr>
                        <a:t>3095</a:t>
                      </a:r>
                    </a:p>
                  </a:txBody>
                  <a:tcPr anchor="ctr">
                    <a:noFill/>
                  </a:tcPr>
                </a:tc>
                <a:tc>
                  <a:txBody>
                    <a:bodyPr/>
                    <a:lstStyle/>
                    <a:p>
                      <a:r>
                        <a:rPr lang="en-US" sz="800" dirty="0">
                          <a:latin typeface="IBM Plex Sans Condensed" panose="020B0506050203000203" pitchFamily="34" charset="77"/>
                        </a:rPr>
                        <a:t>Crude Oil</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dirty="0">
                          <a:latin typeface="IBM Plex Sans Condensed" panose="020B0506050203000203" pitchFamily="34" charset="77"/>
                        </a:rPr>
                        <a:t>CAUS: </a:t>
                      </a:r>
                      <a:r>
                        <a:rPr lang="en-US" sz="800" dirty="0">
                          <a:latin typeface="IBM Plex Sans Condensed" panose="020B0506050203000203" pitchFamily="34" charset="77"/>
                        </a:rPr>
                        <a:t>corrosion, failed pipe, malfunction, etc. ; </a:t>
                      </a:r>
                      <a:r>
                        <a:rPr lang="en-US" sz="800" b="1" dirty="0">
                          <a:latin typeface="IBM Plex Sans Condensed" panose="020B0506050203000203" pitchFamily="34" charset="77"/>
                        </a:rPr>
                        <a:t>CAUSO:</a:t>
                      </a:r>
                      <a:r>
                        <a:rPr lang="en-US" sz="800" dirty="0">
                          <a:latin typeface="IBM Plex Sans Condensed" panose="020B0506050203000203" pitchFamily="34" charset="77"/>
                        </a:rPr>
                        <a:t> breakdown of CAUS; </a:t>
                      </a:r>
                      <a:r>
                        <a:rPr lang="en-US" sz="800" b="1" dirty="0">
                          <a:latin typeface="IBM Plex Sans Condensed" panose="020B0506050203000203" pitchFamily="34" charset="77"/>
                        </a:rPr>
                        <a:t>NARRATIVE</a:t>
                      </a:r>
                    </a:p>
                  </a:txBody>
                  <a:tcPr anchor="ctr">
                    <a:noFill/>
                  </a:tcPr>
                </a:tc>
                <a:extLst>
                  <a:ext uri="{0D108BD9-81ED-4DB2-BD59-A6C34878D82A}">
                    <a16:rowId xmlns:a16="http://schemas.microsoft.com/office/drawing/2014/main" val="2307539387"/>
                  </a:ext>
                </a:extLst>
              </a:tr>
              <a:tr h="248019">
                <a:tc>
                  <a:txBody>
                    <a:bodyPr/>
                    <a:lstStyle/>
                    <a:p>
                      <a:pPr algn="ctr"/>
                      <a:r>
                        <a:rPr lang="en-US" sz="1000" dirty="0">
                          <a:solidFill>
                            <a:schemeClr val="bg1"/>
                          </a:solidFill>
                          <a:latin typeface="IBM Plex Sans Condensed" panose="020B0506050203000203" pitchFamily="34" charset="77"/>
                        </a:rPr>
                        <a:t>E</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Accident_hazardous_liquid_jan2002_dec2009</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 [2002:2009]</a:t>
                      </a:r>
                    </a:p>
                  </a:txBody>
                  <a:tcPr anchor="ctr">
                    <a:noFill/>
                  </a:tcPr>
                </a:tc>
                <a:tc>
                  <a:txBody>
                    <a:bodyPr/>
                    <a:lstStyle/>
                    <a:p>
                      <a:r>
                        <a:rPr lang="en-US" sz="800" dirty="0">
                          <a:latin typeface="IBM Plex Sans Condensed" panose="020B0506050203000203" pitchFamily="34" charset="77"/>
                        </a:rPr>
                        <a:t>2002 to 2009</a:t>
                      </a:r>
                    </a:p>
                  </a:txBody>
                  <a:tcPr anchor="ctr">
                    <a:noFill/>
                  </a:tcPr>
                </a:tc>
                <a:tc>
                  <a:txBody>
                    <a:bodyPr/>
                    <a:lstStyle/>
                    <a:p>
                      <a:r>
                        <a:rPr lang="en-US" sz="800" dirty="0">
                          <a:latin typeface="IBM Plex Sans Condensed" panose="020B0506050203000203" pitchFamily="34" charset="77"/>
                        </a:rPr>
                        <a:t>3031</a:t>
                      </a:r>
                    </a:p>
                  </a:txBody>
                  <a:tcPr anchor="ctr">
                    <a:noFill/>
                  </a:tcPr>
                </a:tc>
                <a:tc>
                  <a:txBody>
                    <a:bodyPr/>
                    <a:lstStyle/>
                    <a:p>
                      <a:r>
                        <a:rPr lang="en-US" sz="800" dirty="0">
                          <a:latin typeface="IBM Plex Sans Condensed" panose="020B0506050203000203" pitchFamily="34" charset="77"/>
                        </a:rPr>
                        <a:t>Crude Oil, Crude Oil Heavy, Crude Oil Sour, Crude Oil / Location, and more</a:t>
                      </a:r>
                    </a:p>
                  </a:txBody>
                  <a:tcPr anchor="ctr">
                    <a:noFill/>
                  </a:tcPr>
                </a:tc>
                <a:tc>
                  <a:txBody>
                    <a:bodyPr/>
                    <a:lstStyle/>
                    <a:p>
                      <a:r>
                        <a:rPr lang="en-US" sz="800" dirty="0">
                          <a:latin typeface="IBM Plex Sans Condensed" panose="020B0506050203000203" pitchFamily="34" charset="77"/>
                        </a:rPr>
                        <a:t>Not explicitly; can be roughly extrapolated</a:t>
                      </a:r>
                    </a:p>
                  </a:txBody>
                  <a:tcPr anchor="ctr">
                    <a:solidFill>
                      <a:schemeClr val="accent4">
                        <a:lumMod val="20000"/>
                        <a:lumOff val="80000"/>
                        <a:alpha val="50588"/>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IBM Plex Sans Condensed" panose="020B0506050203000203" pitchFamily="34" charset="77"/>
                        </a:rPr>
                        <a:t>Not explicitly; can be roughly extrapolated</a:t>
                      </a:r>
                    </a:p>
                  </a:txBody>
                  <a:tcPr anchor="ctr">
                    <a:solidFill>
                      <a:schemeClr val="accent4">
                        <a:lumMod val="20000"/>
                        <a:lumOff val="80000"/>
                        <a:alpha val="50588"/>
                      </a:schemeClr>
                    </a:solidFill>
                  </a:tcPr>
                </a:tc>
                <a:tc>
                  <a:txBody>
                    <a:bodyPr/>
                    <a:lstStyle/>
                    <a:p>
                      <a:r>
                        <a:rPr lang="en-US" sz="800" dirty="0">
                          <a:latin typeface="IBM Plex Sans Condensed" panose="020B0506050203000203" pitchFamily="34" charset="77"/>
                        </a:rPr>
                        <a:t>Small spills: </a:t>
                      </a:r>
                      <a:r>
                        <a:rPr lang="en-US" sz="800" b="1" dirty="0">
                          <a:latin typeface="IBM Plex Sans Condensed" panose="020B0506050203000203" pitchFamily="34" charset="77"/>
                        </a:rPr>
                        <a:t>GEN_CAUSE </a:t>
                      </a:r>
                      <a:r>
                        <a:rPr lang="en-US" sz="800" dirty="0">
                          <a:latin typeface="IBM Plex Sans Condensed" panose="020B0506050203000203" pitchFamily="34" charset="77"/>
                        </a:rPr>
                        <a:t>(equipment, corrosion, etc.)</a:t>
                      </a:r>
                    </a:p>
                    <a:p>
                      <a:r>
                        <a:rPr lang="en-US" sz="800" dirty="0">
                          <a:latin typeface="IBM Plex Sans Condensed" panose="020B0506050203000203" pitchFamily="34" charset="77"/>
                        </a:rPr>
                        <a:t>Big spills: </a:t>
                      </a:r>
                      <a:r>
                        <a:rPr lang="en-US" sz="800" b="1" dirty="0">
                          <a:latin typeface="IBM Plex Sans Condensed" panose="020B0506050203000203" pitchFamily="34" charset="77"/>
                        </a:rPr>
                        <a:t>CAUSE </a:t>
                      </a:r>
                      <a:r>
                        <a:rPr lang="en-US" sz="800" dirty="0">
                          <a:latin typeface="IBM Plex Sans Condensed" panose="020B0506050203000203" pitchFamily="34" charset="77"/>
                        </a:rPr>
                        <a:t>(more detailed than small spills); </a:t>
                      </a:r>
                      <a:r>
                        <a:rPr lang="en-US" sz="800" b="1" dirty="0">
                          <a:latin typeface="IBM Plex Sans Condensed" panose="020B0506050203000203" pitchFamily="34" charset="77"/>
                        </a:rPr>
                        <a:t>NARRATIVE</a:t>
                      </a:r>
                    </a:p>
                  </a:txBody>
                  <a:tcPr anchor="ctr">
                    <a:noFill/>
                  </a:tcPr>
                </a:tc>
                <a:extLst>
                  <a:ext uri="{0D108BD9-81ED-4DB2-BD59-A6C34878D82A}">
                    <a16:rowId xmlns:a16="http://schemas.microsoft.com/office/drawing/2014/main" val="1771338020"/>
                  </a:ext>
                </a:extLst>
              </a:tr>
              <a:tr h="248019">
                <a:tc>
                  <a:txBody>
                    <a:bodyPr/>
                    <a:lstStyle/>
                    <a:p>
                      <a:pPr algn="ctr"/>
                      <a:r>
                        <a:rPr lang="en-US" sz="1000" dirty="0">
                          <a:solidFill>
                            <a:schemeClr val="bg1"/>
                          </a:solidFill>
                          <a:latin typeface="IBM Plex Sans Condensed" panose="020B0506050203000203" pitchFamily="34" charset="77"/>
                        </a:rPr>
                        <a:t>F</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Accident_hazardous_liquid_jan2010_present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 [2010:2023]</a:t>
                      </a:r>
                    </a:p>
                  </a:txBody>
                  <a:tcPr anchor="ctr">
                    <a:noFill/>
                  </a:tcPr>
                </a:tc>
                <a:tc>
                  <a:txBody>
                    <a:bodyPr/>
                    <a:lstStyle/>
                    <a:p>
                      <a:r>
                        <a:rPr lang="en-US" sz="800" dirty="0">
                          <a:latin typeface="IBM Plex Sans Condensed" panose="020B0506050203000203" pitchFamily="34" charset="77"/>
                        </a:rPr>
                        <a:t>2010 to 2023</a:t>
                      </a:r>
                    </a:p>
                  </a:txBody>
                  <a:tcPr anchor="ctr">
                    <a:noFill/>
                  </a:tcPr>
                </a:tc>
                <a:tc>
                  <a:txBody>
                    <a:bodyPr/>
                    <a:lstStyle/>
                    <a:p>
                      <a:r>
                        <a:rPr lang="en-US" sz="800" dirty="0">
                          <a:latin typeface="IBM Plex Sans Condensed" panose="020B0506050203000203" pitchFamily="34" charset="77"/>
                        </a:rPr>
                        <a:t>5248</a:t>
                      </a:r>
                    </a:p>
                  </a:txBody>
                  <a:tcPr anchor="ctr">
                    <a:noFill/>
                  </a:tcPr>
                </a:tc>
                <a:tc>
                  <a:txBody>
                    <a:bodyPr/>
                    <a:lstStyle/>
                    <a:p>
                      <a:r>
                        <a:rPr lang="en-US" sz="800" dirty="0">
                          <a:latin typeface="IBM Plex Sans Condensed" panose="020B0506050203000203" pitchFamily="34" charset="77"/>
                        </a:rPr>
                        <a:t>Crude Oil</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dirty="0">
                          <a:latin typeface="IBM Plex Sans Condensed" panose="020B0506050203000203" pitchFamily="34" charset="77"/>
                        </a:rPr>
                        <a:t>CAUSE:</a:t>
                      </a:r>
                      <a:r>
                        <a:rPr lang="en-US" sz="800" dirty="0">
                          <a:latin typeface="IBM Plex Sans Condensed" panose="020B0506050203000203" pitchFamily="34" charset="77"/>
                        </a:rPr>
                        <a:t> corrosion, equipment, manual error, etc.</a:t>
                      </a:r>
                    </a:p>
                    <a:p>
                      <a:r>
                        <a:rPr lang="en-US" sz="800" b="1" dirty="0">
                          <a:latin typeface="IBM Plex Sans Condensed" panose="020B0506050203000203" pitchFamily="34" charset="77"/>
                        </a:rPr>
                        <a:t>CAUSE_DETAILS: </a:t>
                      </a:r>
                      <a:r>
                        <a:rPr lang="en-US" sz="800" dirty="0">
                          <a:latin typeface="IBM Plex Sans Condensed" panose="020B0506050203000203" pitchFamily="34" charset="77"/>
                        </a:rPr>
                        <a:t>more detailed than above; </a:t>
                      </a:r>
                      <a:r>
                        <a:rPr lang="en-US" sz="800" b="1" dirty="0">
                          <a:latin typeface="IBM Plex Sans Condensed" panose="020B0506050203000203" pitchFamily="34" charset="77"/>
                        </a:rPr>
                        <a:t>NARRATIVE</a:t>
                      </a:r>
                    </a:p>
                  </a:txBody>
                  <a:tcPr anchor="ctr">
                    <a:noFill/>
                  </a:tcPr>
                </a:tc>
                <a:extLst>
                  <a:ext uri="{0D108BD9-81ED-4DB2-BD59-A6C34878D82A}">
                    <a16:rowId xmlns:a16="http://schemas.microsoft.com/office/drawing/2014/main" val="2476054352"/>
                  </a:ext>
                </a:extLst>
              </a:tr>
              <a:tr h="248019">
                <a:tc>
                  <a:txBody>
                    <a:bodyPr/>
                    <a:lstStyle/>
                    <a:p>
                      <a:pPr algn="ctr"/>
                      <a:r>
                        <a:rPr lang="en-US" sz="1000" dirty="0">
                          <a:solidFill>
                            <a:schemeClr val="bg1"/>
                          </a:solidFill>
                          <a:latin typeface="IBM Plex Sans Condensed" panose="020B0506050203000203" pitchFamily="34" charset="77"/>
                        </a:rPr>
                        <a:t>G</a:t>
                      </a:r>
                    </a:p>
                  </a:txBody>
                  <a:tcPr anchor="ctr">
                    <a:lnR w="6350" cap="flat" cmpd="sng" algn="ctr">
                      <a:solidFill>
                        <a:schemeClr val="tx1"/>
                      </a:solidFill>
                      <a:prstDash val="solid"/>
                      <a:round/>
                      <a:headEnd type="none" w="med" len="med"/>
                      <a:tailEnd type="none" w="med" len="med"/>
                    </a:lnR>
                    <a:solidFill>
                      <a:srgbClr val="175C61"/>
                    </a:solidFill>
                  </a:tcPr>
                </a:tc>
                <a:tc>
                  <a:txBody>
                    <a:bodyPr/>
                    <a:lstStyle/>
                    <a:p>
                      <a:r>
                        <a:rPr lang="en-US" sz="800" dirty="0">
                          <a:latin typeface="IBM Plex Sans Condensed" panose="020B0506050203000203" pitchFamily="34" charset="77"/>
                        </a:rPr>
                        <a:t>Accident_gravity_reporting_regulated_jul2020_present.txt</a:t>
                      </a:r>
                    </a:p>
                  </a:txBody>
                  <a:tcPr anchor="ctr">
                    <a:lnL w="6350" cap="flat" cmpd="sng" algn="ctr">
                      <a:solidFill>
                        <a:schemeClr val="tx1"/>
                      </a:solidFill>
                      <a:prstDash val="solid"/>
                      <a:round/>
                      <a:headEnd type="none" w="med" len="med"/>
                      <a:tailEnd type="none" w="med" len="med"/>
                    </a:lnL>
                    <a:noFill/>
                  </a:tcPr>
                </a:tc>
                <a:tc>
                  <a:txBody>
                    <a:bodyPr/>
                    <a:lstStyle/>
                    <a:p>
                      <a:r>
                        <a:rPr lang="en-US" sz="800" dirty="0">
                          <a:latin typeface="IBM Plex Sans Condensed" panose="020B0506050203000203" pitchFamily="34" charset="77"/>
                        </a:rPr>
                        <a:t>Transportation incidents of hazardous liquids flowing through gravity pipelines. </a:t>
                      </a:r>
                    </a:p>
                  </a:txBody>
                  <a:tcPr anchor="ctr">
                    <a:noFill/>
                  </a:tcPr>
                </a:tc>
                <a:tc>
                  <a:txBody>
                    <a:bodyPr/>
                    <a:lstStyle/>
                    <a:p>
                      <a:r>
                        <a:rPr lang="en-US" sz="800" dirty="0">
                          <a:latin typeface="IBM Plex Sans Condensed" panose="020B0506050203000203" pitchFamily="34" charset="77"/>
                        </a:rPr>
                        <a:t>2021 to 2023</a:t>
                      </a:r>
                    </a:p>
                  </a:txBody>
                  <a:tcPr anchor="ctr">
                    <a:noFill/>
                  </a:tcPr>
                </a:tc>
                <a:tc>
                  <a:txBody>
                    <a:bodyPr/>
                    <a:lstStyle/>
                    <a:p>
                      <a:r>
                        <a:rPr lang="en-US" sz="800" dirty="0">
                          <a:latin typeface="IBM Plex Sans Condensed" panose="020B0506050203000203" pitchFamily="34" charset="77"/>
                        </a:rPr>
                        <a:t>297</a:t>
                      </a:r>
                    </a:p>
                  </a:txBody>
                  <a:tcPr anchor="ctr">
                    <a:noFill/>
                  </a:tcPr>
                </a:tc>
                <a:tc>
                  <a:txBody>
                    <a:bodyPr/>
                    <a:lstStyle/>
                    <a:p>
                      <a:r>
                        <a:rPr lang="en-US" sz="800" dirty="0">
                          <a:latin typeface="IBM Plex Sans Condensed" panose="020B0506050203000203" pitchFamily="34" charset="77"/>
                        </a:rPr>
                        <a:t>Crude Oil (Nothing else)</a:t>
                      </a:r>
                    </a:p>
                  </a:txBody>
                  <a:tcPr anchor="ctr">
                    <a:no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dirty="0">
                          <a:latin typeface="IBM Plex Sans Condensed" panose="020B0506050203000203" pitchFamily="34" charset="77"/>
                        </a:rPr>
                        <a:t>No</a:t>
                      </a:r>
                    </a:p>
                  </a:txBody>
                  <a:tcPr anchor="ctr">
                    <a:solidFill>
                      <a:srgbClr val="FF0000">
                        <a:alpha val="20000"/>
                      </a:srgbClr>
                    </a:solidFill>
                  </a:tcPr>
                </a:tc>
                <a:tc>
                  <a:txBody>
                    <a:bodyPr/>
                    <a:lstStyle/>
                    <a:p>
                      <a:r>
                        <a:rPr lang="en-US" sz="800" b="1" dirty="0">
                          <a:latin typeface="IBM Plex Sans Condensed" panose="020B0506050203000203" pitchFamily="34" charset="77"/>
                        </a:rPr>
                        <a:t>CAUSE:</a:t>
                      </a:r>
                      <a:r>
                        <a:rPr lang="en-US" sz="800" dirty="0">
                          <a:latin typeface="IBM Plex Sans Condensed" panose="020B0506050203000203" pitchFamily="34" charset="77"/>
                        </a:rPr>
                        <a:t> corrosion, equipment, manual error, etc.</a:t>
                      </a:r>
                    </a:p>
                    <a:p>
                      <a:r>
                        <a:rPr lang="en-US" sz="800" b="1" dirty="0">
                          <a:latin typeface="IBM Plex Sans Condensed" panose="020B0506050203000203" pitchFamily="34" charset="77"/>
                        </a:rPr>
                        <a:t>CAUSE_DETAILS: </a:t>
                      </a:r>
                      <a:r>
                        <a:rPr lang="en-US" sz="800" dirty="0">
                          <a:latin typeface="IBM Plex Sans Condensed" panose="020B0506050203000203" pitchFamily="34" charset="77"/>
                        </a:rPr>
                        <a:t>more detailed than above; NARRATIVE</a:t>
                      </a:r>
                    </a:p>
                  </a:txBody>
                  <a:tcPr anchor="ctr">
                    <a:noFill/>
                  </a:tcPr>
                </a:tc>
                <a:extLst>
                  <a:ext uri="{0D108BD9-81ED-4DB2-BD59-A6C34878D82A}">
                    <a16:rowId xmlns:a16="http://schemas.microsoft.com/office/drawing/2014/main" val="967564320"/>
                  </a:ext>
                </a:extLst>
              </a:tr>
            </a:tbl>
          </a:graphicData>
        </a:graphic>
      </p:graphicFrame>
      <p:sp>
        <p:nvSpPr>
          <p:cNvPr id="14" name="TextBox 13">
            <a:extLst>
              <a:ext uri="{FF2B5EF4-FFF2-40B4-BE49-F238E27FC236}">
                <a16:creationId xmlns:a16="http://schemas.microsoft.com/office/drawing/2014/main" id="{B7082469-53E4-5BB0-0EA1-AF46CA9402B9}"/>
              </a:ext>
            </a:extLst>
          </p:cNvPr>
          <p:cNvSpPr txBox="1"/>
          <p:nvPr/>
        </p:nvSpPr>
        <p:spPr>
          <a:xfrm>
            <a:off x="348341" y="4873745"/>
            <a:ext cx="2272940" cy="1277273"/>
          </a:xfrm>
          <a:prstGeom prst="rect">
            <a:avLst/>
          </a:prstGeom>
          <a:noFill/>
        </p:spPr>
        <p:txBody>
          <a:bodyPr wrap="square" rtlCol="0">
            <a:spAutoFit/>
          </a:bodyPr>
          <a:lstStyle/>
          <a:p>
            <a:r>
              <a:rPr lang="en-US" sz="1100" dirty="0">
                <a:latin typeface="IBM Plex Sans Condensed" panose="020B0506050203000203" pitchFamily="34" charset="77"/>
              </a:rPr>
              <a:t>The Pipeline and Hazardous Materials Safety Administration (PHMSA) is responsible for regulating and ensuring the safe and secure movement of hazardous materials within the United States [7].</a:t>
            </a:r>
          </a:p>
        </p:txBody>
      </p:sp>
      <p:sp>
        <p:nvSpPr>
          <p:cNvPr id="7" name="Rounded Rectangle 6">
            <a:extLst>
              <a:ext uri="{FF2B5EF4-FFF2-40B4-BE49-F238E27FC236}">
                <a16:creationId xmlns:a16="http://schemas.microsoft.com/office/drawing/2014/main" id="{28516C13-C562-2C46-5461-CB9ADDAC9408}"/>
              </a:ext>
            </a:extLst>
          </p:cNvPr>
          <p:cNvSpPr/>
          <p:nvPr/>
        </p:nvSpPr>
        <p:spPr>
          <a:xfrm>
            <a:off x="348341" y="1694467"/>
            <a:ext cx="2272940" cy="350164"/>
          </a:xfrm>
          <a:prstGeom prst="roundRect">
            <a:avLst/>
          </a:prstGeom>
          <a:solidFill>
            <a:srgbClr val="2DAAA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Spectral" panose="02020502060000000000" pitchFamily="18" charset="77"/>
              </a:rPr>
              <a:t>Canadian Datasets</a:t>
            </a:r>
            <a:r>
              <a:rPr lang="en-US" sz="1400" dirty="0">
                <a:solidFill>
                  <a:srgbClr val="FF0000"/>
                </a:solidFill>
                <a:latin typeface="Spectral" panose="02020502060000000000" pitchFamily="18" charset="77"/>
              </a:rPr>
              <a:t>*</a:t>
            </a:r>
            <a:endParaRPr lang="en-US" sz="1400" dirty="0">
              <a:solidFill>
                <a:schemeClr val="bg1"/>
              </a:solidFill>
              <a:latin typeface="Spectral" panose="02020502060000000000" pitchFamily="18" charset="77"/>
            </a:endParaRPr>
          </a:p>
        </p:txBody>
      </p:sp>
      <p:sp>
        <p:nvSpPr>
          <p:cNvPr id="10" name="Rounded Rectangle 9">
            <a:extLst>
              <a:ext uri="{FF2B5EF4-FFF2-40B4-BE49-F238E27FC236}">
                <a16:creationId xmlns:a16="http://schemas.microsoft.com/office/drawing/2014/main" id="{AEFB077F-7647-224C-67AF-4025534A4958}"/>
              </a:ext>
            </a:extLst>
          </p:cNvPr>
          <p:cNvSpPr/>
          <p:nvPr/>
        </p:nvSpPr>
        <p:spPr>
          <a:xfrm>
            <a:off x="348341" y="4446407"/>
            <a:ext cx="2272940" cy="350164"/>
          </a:xfrm>
          <a:prstGeom prst="roundRect">
            <a:avLst/>
          </a:prstGeom>
          <a:solidFill>
            <a:srgbClr val="175C6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Spectral" panose="02020502060000000000" pitchFamily="18" charset="77"/>
              </a:rPr>
              <a:t>American Datasets</a:t>
            </a:r>
            <a:endParaRPr lang="en-US" sz="1400" dirty="0">
              <a:solidFill>
                <a:srgbClr val="FF0000"/>
              </a:solidFill>
              <a:latin typeface="Spectral" panose="02020502060000000000" pitchFamily="18" charset="77"/>
            </a:endParaRPr>
          </a:p>
        </p:txBody>
      </p:sp>
      <p:sp>
        <p:nvSpPr>
          <p:cNvPr id="11" name="TextBox 10">
            <a:extLst>
              <a:ext uri="{FF2B5EF4-FFF2-40B4-BE49-F238E27FC236}">
                <a16:creationId xmlns:a16="http://schemas.microsoft.com/office/drawing/2014/main" id="{0EBA3669-ECF5-C373-E647-E88DA4775883}"/>
              </a:ext>
            </a:extLst>
          </p:cNvPr>
          <p:cNvSpPr txBox="1"/>
          <p:nvPr/>
        </p:nvSpPr>
        <p:spPr>
          <a:xfrm>
            <a:off x="348341" y="6330190"/>
            <a:ext cx="7376162" cy="215444"/>
          </a:xfrm>
          <a:prstGeom prst="rect">
            <a:avLst/>
          </a:prstGeom>
          <a:noFill/>
        </p:spPr>
        <p:txBody>
          <a:bodyPr wrap="square" rtlCol="0">
            <a:spAutoFit/>
          </a:bodyPr>
          <a:lstStyle/>
          <a:p>
            <a:r>
              <a:rPr lang="en-US" sz="800" i="1" dirty="0">
                <a:solidFill>
                  <a:srgbClr val="FF0000"/>
                </a:solidFill>
                <a:latin typeface="IBM Plex Sans Condensed" panose="020B0506050203000203" pitchFamily="34" charset="77"/>
              </a:rPr>
              <a:t>*</a:t>
            </a:r>
            <a:r>
              <a:rPr lang="en-US" sz="800" i="1" dirty="0">
                <a:latin typeface="IBM Plex Sans Condensed" panose="020B0506050203000203" pitchFamily="34" charset="77"/>
              </a:rPr>
              <a:t>Omitting pipeline transportation occurrence data from Jan 1979 to 1990 as the TSB does not warrant the quality, accuracy, reliability or completeness of its data </a:t>
            </a:r>
            <a:r>
              <a:rPr lang="en-US" sz="800" dirty="0">
                <a:latin typeface="IBM Plex Sans Condensed" panose="020B0506050203000203" pitchFamily="34" charset="77"/>
              </a:rPr>
              <a:t>[8]</a:t>
            </a:r>
          </a:p>
        </p:txBody>
      </p:sp>
      <p:cxnSp>
        <p:nvCxnSpPr>
          <p:cNvPr id="3" name="Straight Connector 2">
            <a:extLst>
              <a:ext uri="{FF2B5EF4-FFF2-40B4-BE49-F238E27FC236}">
                <a16:creationId xmlns:a16="http://schemas.microsoft.com/office/drawing/2014/main" id="{1893308B-CB05-D4C8-C968-2D0C78AE6442}"/>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647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9733-4F69-984C-781F-03875AE70E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081FF8-902A-A7D2-6F62-E33B253A89BA}"/>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Approach</a:t>
            </a:r>
          </a:p>
        </p:txBody>
      </p:sp>
      <p:pic>
        <p:nvPicPr>
          <p:cNvPr id="6" name="Picture 2" descr="Validere Acquires Regulatory Reporting Platform Clairifi - Validere">
            <a:extLst>
              <a:ext uri="{FF2B5EF4-FFF2-40B4-BE49-F238E27FC236}">
                <a16:creationId xmlns:a16="http://schemas.microsoft.com/office/drawing/2014/main" id="{AAA9DC98-6011-137A-4C65-7909DDEAF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33342A4-5981-1568-6CDA-3435224E8239}"/>
              </a:ext>
            </a:extLst>
          </p:cNvPr>
          <p:cNvSpPr txBox="1"/>
          <p:nvPr/>
        </p:nvSpPr>
        <p:spPr>
          <a:xfrm>
            <a:off x="348342" y="1047347"/>
            <a:ext cx="11408227" cy="307777"/>
          </a:xfrm>
          <a:prstGeom prst="rect">
            <a:avLst/>
          </a:prstGeom>
          <a:noFill/>
        </p:spPr>
        <p:txBody>
          <a:bodyPr wrap="square" rtlCol="0">
            <a:spAutoFit/>
          </a:bodyPr>
          <a:lstStyle/>
          <a:p>
            <a:r>
              <a:rPr lang="en-US" sz="1400" dirty="0">
                <a:latin typeface="IBM Plex Sans Condensed" panose="020B0506050203000203" pitchFamily="34" charset="77"/>
              </a:rPr>
              <a:t>Before diving into a dataset, we need to ensure that we’re taking a logical approach to the problem that encompasses the possible scenarios / outcomes. </a:t>
            </a:r>
          </a:p>
        </p:txBody>
      </p:sp>
      <p:sp>
        <p:nvSpPr>
          <p:cNvPr id="3" name="Rectangle 2">
            <a:extLst>
              <a:ext uri="{FF2B5EF4-FFF2-40B4-BE49-F238E27FC236}">
                <a16:creationId xmlns:a16="http://schemas.microsoft.com/office/drawing/2014/main" id="{FC515DE9-2445-1D98-90E9-7FFE21D81BB4}"/>
              </a:ext>
            </a:extLst>
          </p:cNvPr>
          <p:cNvSpPr/>
          <p:nvPr/>
        </p:nvSpPr>
        <p:spPr>
          <a:xfrm>
            <a:off x="431074" y="1578454"/>
            <a:ext cx="11325492"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Approach #1 – Crude Oil vs. NOT Crude Oil</a:t>
            </a:r>
          </a:p>
        </p:txBody>
      </p:sp>
      <p:sp>
        <p:nvSpPr>
          <p:cNvPr id="12" name="Rectangle 11">
            <a:extLst>
              <a:ext uri="{FF2B5EF4-FFF2-40B4-BE49-F238E27FC236}">
                <a16:creationId xmlns:a16="http://schemas.microsoft.com/office/drawing/2014/main" id="{0F2F546F-7563-9B03-3558-FFFBE656E4CE}"/>
              </a:ext>
            </a:extLst>
          </p:cNvPr>
          <p:cNvSpPr/>
          <p:nvPr/>
        </p:nvSpPr>
        <p:spPr>
          <a:xfrm>
            <a:off x="431075" y="1852934"/>
            <a:ext cx="11325494" cy="604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One way to determine whether the physical or chemical properties of crude oil influence pipeline accidents is to look at accidents that involved crude oil versus accidents that involved transporting other substances (e.g., natural gas). If there is a discernable difference between accidents for different substance types, we may be able to infer that there are inherent properties of crude oil (that don’t exist / are less prominent in other substances) that are contributing to these incidents. </a:t>
            </a:r>
          </a:p>
        </p:txBody>
      </p:sp>
      <p:sp>
        <p:nvSpPr>
          <p:cNvPr id="17" name="Rectangle 16">
            <a:extLst>
              <a:ext uri="{FF2B5EF4-FFF2-40B4-BE49-F238E27FC236}">
                <a16:creationId xmlns:a16="http://schemas.microsoft.com/office/drawing/2014/main" id="{2CF9B963-2A9D-6AC6-2634-F3D86A518FE8}"/>
              </a:ext>
            </a:extLst>
          </p:cNvPr>
          <p:cNvSpPr/>
          <p:nvPr/>
        </p:nvSpPr>
        <p:spPr>
          <a:xfrm>
            <a:off x="431073" y="2675223"/>
            <a:ext cx="11325492"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Spectral" panose="02020502060000000000" pitchFamily="18" charset="77"/>
              </a:rPr>
              <a:t>Approach #2 – Inherent Properties of Crude Oil</a:t>
            </a:r>
          </a:p>
        </p:txBody>
      </p:sp>
      <p:sp>
        <p:nvSpPr>
          <p:cNvPr id="18" name="Rectangle 17">
            <a:extLst>
              <a:ext uri="{FF2B5EF4-FFF2-40B4-BE49-F238E27FC236}">
                <a16:creationId xmlns:a16="http://schemas.microsoft.com/office/drawing/2014/main" id="{9D1CFC32-C9A2-CEE0-8276-FE3F06934235}"/>
              </a:ext>
            </a:extLst>
          </p:cNvPr>
          <p:cNvSpPr/>
          <p:nvPr/>
        </p:nvSpPr>
        <p:spPr>
          <a:xfrm>
            <a:off x="431074" y="2949703"/>
            <a:ext cx="11325494" cy="4546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The second, and perhaps more direct approach to the problem, is to evaluate crude-oil specific incidents to see if its variations in composition (heavy vs. light, sour vs. sweet) are a direct contributor to pipeline accidents. </a:t>
            </a:r>
          </a:p>
        </p:txBody>
      </p:sp>
      <p:cxnSp>
        <p:nvCxnSpPr>
          <p:cNvPr id="5" name="Straight Connector 4">
            <a:extLst>
              <a:ext uri="{FF2B5EF4-FFF2-40B4-BE49-F238E27FC236}">
                <a16:creationId xmlns:a16="http://schemas.microsoft.com/office/drawing/2014/main" id="{D5CEC30F-4BB7-EF6E-4027-2FDB2B1FF2EB}"/>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A59016E9-54A9-206F-BFA2-D3F455965922}"/>
              </a:ext>
            </a:extLst>
          </p:cNvPr>
          <p:cNvSpPr/>
          <p:nvPr/>
        </p:nvSpPr>
        <p:spPr>
          <a:xfrm>
            <a:off x="431073" y="3453647"/>
            <a:ext cx="6265187" cy="2860065"/>
          </a:xfrm>
          <a:prstGeom prst="roundRect">
            <a:avLst/>
          </a:prstGeom>
          <a:solidFill>
            <a:srgbClr val="F7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Considerations for Dataset Selection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Given that we have both Canadian and American datasets, it would be ideal to analyze at least one of each because:</a:t>
            </a:r>
          </a:p>
          <a:p>
            <a:pPr lvl="1"/>
            <a:r>
              <a:rPr lang="en-US" sz="1100" dirty="0">
                <a:solidFill>
                  <a:schemeClr val="tx1"/>
                </a:solidFill>
                <a:latin typeface="IBM Plex Sans Condensed" panose="020B0506050203000203" pitchFamily="34" charset="77"/>
              </a:rPr>
              <a:t>1) The data that is required by the governing bodies may vary and therefore result in different attributes / information provided about the incident</a:t>
            </a:r>
          </a:p>
          <a:p>
            <a:pPr lvl="1"/>
            <a:r>
              <a:rPr lang="en-US" sz="1100" dirty="0">
                <a:solidFill>
                  <a:schemeClr val="tx1"/>
                </a:solidFill>
                <a:latin typeface="IBM Plex Sans Condensed" panose="020B0506050203000203" pitchFamily="34" charset="77"/>
              </a:rPr>
              <a:t>2) Canada and the USA have varying geographies, and this may influence substance properties (e.g., difference in temperature could affect corrosion rates)</a:t>
            </a:r>
          </a:p>
          <a:p>
            <a:pPr lvl="1"/>
            <a:r>
              <a:rPr lang="en-US" sz="1100" dirty="0">
                <a:solidFill>
                  <a:schemeClr val="tx1"/>
                </a:solidFill>
                <a:latin typeface="IBM Plex Sans Condensed" panose="020B0506050203000203" pitchFamily="34" charset="77"/>
              </a:rPr>
              <a:t>3) Because Canada and the USA have different governing bodies for their pipelines, the pipeline-specific specifications (e.g., what materials meet code to build pipelines) may vary, which could contribute to pipeline incidents based on the substance being transported</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Additionally, it seems logical to select data that is as recent as possible and to select datasets with the highest number of records (assuming they are of decent quality). </a:t>
            </a:r>
          </a:p>
        </p:txBody>
      </p:sp>
      <p:sp>
        <p:nvSpPr>
          <p:cNvPr id="9" name="Rounded Rectangle 8">
            <a:extLst>
              <a:ext uri="{FF2B5EF4-FFF2-40B4-BE49-F238E27FC236}">
                <a16:creationId xmlns:a16="http://schemas.microsoft.com/office/drawing/2014/main" id="{04AEF331-D7F3-445C-1981-94E0CFECE3C6}"/>
              </a:ext>
            </a:extLst>
          </p:cNvPr>
          <p:cNvSpPr/>
          <p:nvPr/>
        </p:nvSpPr>
        <p:spPr>
          <a:xfrm>
            <a:off x="6905270" y="3532611"/>
            <a:ext cx="4851295" cy="2110304"/>
          </a:xfrm>
          <a:prstGeom prst="round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dirty="0">
                <a:solidFill>
                  <a:srgbClr val="2DAAAF"/>
                </a:solidFill>
                <a:latin typeface="IBM Plex Sans Condensed" panose="020B0506050203000203" pitchFamily="34" charset="77"/>
              </a:rPr>
              <a:t>DATASET COLLECTION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Given the desired approaches and considerations for dataset selection, dataset A (Canada) will be selected for </a:t>
            </a:r>
            <a:r>
              <a:rPr lang="en-US" sz="1100" b="1" dirty="0">
                <a:solidFill>
                  <a:schemeClr val="tx1"/>
                </a:solidFill>
                <a:latin typeface="IBM Plex Sans Condensed" panose="020B0506050203000203" pitchFamily="34" charset="77"/>
              </a:rPr>
              <a:t>Approach #1 </a:t>
            </a:r>
            <a:r>
              <a:rPr lang="en-US" sz="1100" dirty="0">
                <a:solidFill>
                  <a:schemeClr val="tx1"/>
                </a:solidFill>
                <a:latin typeface="IBM Plex Sans Condensed" panose="020B0506050203000203" pitchFamily="34" charset="77"/>
              </a:rPr>
              <a:t>and dataset E (USA) for </a:t>
            </a:r>
            <a:r>
              <a:rPr lang="en-US" sz="1100" b="1" dirty="0">
                <a:solidFill>
                  <a:schemeClr val="tx1"/>
                </a:solidFill>
                <a:latin typeface="IBM Plex Sans Condensed" panose="020B0506050203000203" pitchFamily="34" charset="77"/>
              </a:rPr>
              <a:t>Approach #2</a:t>
            </a:r>
            <a:r>
              <a:rPr lang="en-US" sz="1100" dirty="0">
                <a:solidFill>
                  <a:schemeClr val="tx1"/>
                </a:solidFill>
                <a:latin typeface="IBM Plex Sans Condensed" panose="020B0506050203000203" pitchFamily="34" charset="77"/>
              </a:rPr>
              <a:t>. </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Dataset E had to be used for </a:t>
            </a:r>
            <a:r>
              <a:rPr lang="en-US" sz="1100" b="1" dirty="0">
                <a:solidFill>
                  <a:schemeClr val="tx1"/>
                </a:solidFill>
                <a:latin typeface="IBM Plex Sans Condensed" panose="020B0506050203000203" pitchFamily="34" charset="77"/>
              </a:rPr>
              <a:t>Approach #2 </a:t>
            </a:r>
            <a:r>
              <a:rPr lang="en-US" sz="1100" dirty="0">
                <a:solidFill>
                  <a:schemeClr val="tx1"/>
                </a:solidFill>
                <a:latin typeface="IBM Plex Sans Condensed" panose="020B0506050203000203" pitchFamily="34" charset="77"/>
              </a:rPr>
              <a:t>given that it is the only dataset that contains property-specific information about the crude oil being transported</a:t>
            </a:r>
            <a:r>
              <a:rPr lang="en-US" sz="1100" dirty="0">
                <a:solidFill>
                  <a:srgbClr val="FF0000"/>
                </a:solidFill>
                <a:latin typeface="IBM Plex Sans Condensed" panose="020B0506050203000203" pitchFamily="34" charset="77"/>
              </a:rPr>
              <a:t>*</a:t>
            </a:r>
            <a:r>
              <a:rPr lang="en-US" sz="1100" dirty="0">
                <a:solidFill>
                  <a:schemeClr val="tx1"/>
                </a:solidFill>
                <a:latin typeface="IBM Plex Sans Condensed" panose="020B0506050203000203" pitchFamily="34" charset="77"/>
              </a:rPr>
              <a:t>. That left the two Canadian datasets for </a:t>
            </a:r>
            <a:r>
              <a:rPr lang="en-US" sz="1100" b="1" dirty="0">
                <a:solidFill>
                  <a:schemeClr val="tx1"/>
                </a:solidFill>
                <a:latin typeface="IBM Plex Sans Condensed" panose="020B0506050203000203" pitchFamily="34" charset="77"/>
              </a:rPr>
              <a:t>Approach #1</a:t>
            </a:r>
            <a:r>
              <a:rPr lang="en-US" sz="1100" dirty="0">
                <a:solidFill>
                  <a:schemeClr val="tx1"/>
                </a:solidFill>
                <a:latin typeface="IBM Plex Sans Condensed" panose="020B0506050203000203" pitchFamily="34" charset="77"/>
              </a:rPr>
              <a:t>; dataset A was selected because dataset B contained information about incidents at pipeline facilities / processing plants which is outside of the scope of this analysis.</a:t>
            </a:r>
          </a:p>
        </p:txBody>
      </p:sp>
      <p:sp>
        <p:nvSpPr>
          <p:cNvPr id="10" name="Rectangle 9">
            <a:extLst>
              <a:ext uri="{FF2B5EF4-FFF2-40B4-BE49-F238E27FC236}">
                <a16:creationId xmlns:a16="http://schemas.microsoft.com/office/drawing/2014/main" id="{1B1D26D1-B8B1-4EF5-4528-3C8E87C0AE46}"/>
              </a:ext>
            </a:extLst>
          </p:cNvPr>
          <p:cNvSpPr/>
          <p:nvPr/>
        </p:nvSpPr>
        <p:spPr>
          <a:xfrm>
            <a:off x="7088777" y="5729913"/>
            <a:ext cx="4667788" cy="24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i="1" dirty="0">
                <a:solidFill>
                  <a:srgbClr val="FF0000"/>
                </a:solidFill>
                <a:latin typeface="IBM Plex Sans Condensed" panose="020B0506050203000203" pitchFamily="34" charset="77"/>
              </a:rPr>
              <a:t>*</a:t>
            </a:r>
            <a:r>
              <a:rPr lang="en-US" sz="800" i="1" dirty="0">
                <a:solidFill>
                  <a:schemeClr val="tx1"/>
                </a:solidFill>
                <a:latin typeface="IBM Plex Sans Condensed" panose="020B0506050203000203" pitchFamily="34" charset="77"/>
              </a:rPr>
              <a:t>Dataset B contains crude oil vs. crude oil-sour, however, only two of the hundreds of crude oil records are crude oil-sour. </a:t>
            </a:r>
          </a:p>
        </p:txBody>
      </p:sp>
    </p:spTree>
    <p:extLst>
      <p:ext uri="{BB962C8B-B14F-4D97-AF65-F5344CB8AC3E}">
        <p14:creationId xmlns:p14="http://schemas.microsoft.com/office/powerpoint/2010/main" val="2416666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Analysis – Approach #1</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62E31D-0345-BEBE-7624-873846F702F6}"/>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The key steps taken in the analysis of </a:t>
            </a:r>
            <a:r>
              <a:rPr lang="en-US" sz="1400" b="1" dirty="0">
                <a:latin typeface="IBM Plex Sans Condensed" panose="020B0506050203000203" pitchFamily="34" charset="77"/>
              </a:rPr>
              <a:t>Approach #1 </a:t>
            </a:r>
            <a:r>
              <a:rPr lang="en-US" sz="1400" dirty="0">
                <a:latin typeface="IBM Plex Sans Condensed" panose="020B0506050203000203" pitchFamily="34" charset="77"/>
              </a:rPr>
              <a:t>are summarized below. The corresponding script for this analysis is in the “</a:t>
            </a:r>
            <a:r>
              <a:rPr lang="en-US" sz="1400" dirty="0" err="1">
                <a:latin typeface="IBM Plex Sans Condensed" panose="020B0506050203000203" pitchFamily="34" charset="77"/>
              </a:rPr>
              <a:t>dataset_A.ipynb</a:t>
            </a:r>
            <a:r>
              <a:rPr lang="en-US" sz="1400" dirty="0">
                <a:latin typeface="IBM Plex Sans Condensed" panose="020B0506050203000203" pitchFamily="34" charset="77"/>
              </a:rPr>
              <a:t>” file, which falls under the “</a:t>
            </a:r>
            <a:r>
              <a:rPr lang="en-US" sz="1400" dirty="0" err="1">
                <a:latin typeface="IBM Plex Sans Condensed" panose="020B0506050203000203" pitchFamily="34" charset="77"/>
              </a:rPr>
              <a:t>src</a:t>
            </a:r>
            <a:r>
              <a:rPr lang="en-US" sz="1400" dirty="0">
                <a:latin typeface="IBM Plex Sans Condensed" panose="020B0506050203000203" pitchFamily="34" charset="77"/>
              </a:rPr>
              <a:t>” folder. The script itself includes further explanation of the decision-making process. </a:t>
            </a:r>
          </a:p>
        </p:txBody>
      </p:sp>
      <p:graphicFrame>
        <p:nvGraphicFramePr>
          <p:cNvPr id="5" name="Table 4">
            <a:extLst>
              <a:ext uri="{FF2B5EF4-FFF2-40B4-BE49-F238E27FC236}">
                <a16:creationId xmlns:a16="http://schemas.microsoft.com/office/drawing/2014/main" id="{CCA75BF7-BB04-89B2-FA61-7C258FBA389E}"/>
              </a:ext>
            </a:extLst>
          </p:cNvPr>
          <p:cNvGraphicFramePr>
            <a:graphicFrameLocks noGrp="1"/>
          </p:cNvGraphicFramePr>
          <p:nvPr>
            <p:extLst>
              <p:ext uri="{D42A27DB-BD31-4B8C-83A1-F6EECF244321}">
                <p14:modId xmlns:p14="http://schemas.microsoft.com/office/powerpoint/2010/main" val="2377609518"/>
              </p:ext>
            </p:extLst>
          </p:nvPr>
        </p:nvGraphicFramePr>
        <p:xfrm>
          <a:off x="348342" y="1694803"/>
          <a:ext cx="11408226" cy="4563213"/>
        </p:xfrm>
        <a:graphic>
          <a:graphicData uri="http://schemas.openxmlformats.org/drawingml/2006/table">
            <a:tbl>
              <a:tblPr firstRow="1" bandRow="1">
                <a:tableStyleId>{5C22544A-7EE6-4342-B048-85BDC9FD1C3A}</a:tableStyleId>
              </a:tblPr>
              <a:tblGrid>
                <a:gridCol w="1341121">
                  <a:extLst>
                    <a:ext uri="{9D8B030D-6E8A-4147-A177-3AD203B41FA5}">
                      <a16:colId xmlns:a16="http://schemas.microsoft.com/office/drawing/2014/main" val="229692544"/>
                    </a:ext>
                  </a:extLst>
                </a:gridCol>
                <a:gridCol w="10067105">
                  <a:extLst>
                    <a:ext uri="{9D8B030D-6E8A-4147-A177-3AD203B41FA5}">
                      <a16:colId xmlns:a16="http://schemas.microsoft.com/office/drawing/2014/main" val="2013799710"/>
                    </a:ext>
                  </a:extLst>
                </a:gridCol>
              </a:tblGrid>
              <a:tr h="203984">
                <a:tc>
                  <a:txBody>
                    <a:bodyPr/>
                    <a:lstStyle/>
                    <a:p>
                      <a:r>
                        <a:rPr lang="en-US" sz="1000" b="0" dirty="0">
                          <a:solidFill>
                            <a:schemeClr val="bg1"/>
                          </a:solidFill>
                          <a:latin typeface="IBM Plex Sans Condensed" panose="020B0506050203000203" pitchFamily="34" charset="77"/>
                        </a:rPr>
                        <a:t>Step</a:t>
                      </a:r>
                    </a:p>
                  </a:txBody>
                  <a:tcPr>
                    <a:lnB w="1270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Description</a:t>
                      </a:r>
                    </a:p>
                  </a:txBody>
                  <a:tcPr>
                    <a:lnB w="12700" cap="flat" cmpd="sng" algn="ctr">
                      <a:solidFill>
                        <a:schemeClr val="tx1"/>
                      </a:solidFill>
                      <a:prstDash val="solid"/>
                      <a:round/>
                      <a:headEnd type="none" w="med" len="med"/>
                      <a:tailEnd type="none" w="med" len="med"/>
                    </a:lnB>
                    <a:solidFill>
                      <a:srgbClr val="0A2636"/>
                    </a:solidFill>
                  </a:tcPr>
                </a:tc>
                <a:extLst>
                  <a:ext uri="{0D108BD9-81ED-4DB2-BD59-A6C34878D82A}">
                    <a16:rowId xmlns:a16="http://schemas.microsoft.com/office/drawing/2014/main" val="1204148481"/>
                  </a:ext>
                </a:extLst>
              </a:tr>
              <a:tr h="216733">
                <a:tc>
                  <a:txBody>
                    <a:bodyPr/>
                    <a:lstStyle/>
                    <a:p>
                      <a:r>
                        <a:rPr lang="en-US" sz="1100" dirty="0">
                          <a:solidFill>
                            <a:schemeClr val="tx1"/>
                          </a:solidFill>
                          <a:latin typeface="IBM Plex Sans Condensed" panose="020B0506050203000203" pitchFamily="34" charset="77"/>
                        </a:rPr>
                        <a:t>1. Data Ingestion</a:t>
                      </a:r>
                    </a:p>
                  </a:txBody>
                  <a:tcPr>
                    <a:lnT w="12700" cap="flat" cmpd="sng" algn="ctr">
                      <a:solidFill>
                        <a:schemeClr val="tx1"/>
                      </a:solidFill>
                      <a:prstDash val="solid"/>
                      <a:round/>
                      <a:headEnd type="none" w="med" len="med"/>
                      <a:tailEnd type="none" w="med" len="med"/>
                    </a:lnT>
                    <a:solidFill>
                      <a:srgbClr val="F7F9FC"/>
                    </a:solidFill>
                  </a:tcPr>
                </a:tc>
                <a:tc>
                  <a:txBody>
                    <a:bodyPr/>
                    <a:lstStyle/>
                    <a:p>
                      <a:r>
                        <a:rPr lang="en-US" sz="1100" dirty="0">
                          <a:solidFill>
                            <a:schemeClr val="tx1"/>
                          </a:solidFill>
                          <a:latin typeface="IBM Plex Sans Condensed" panose="020B0506050203000203" pitchFamily="34" charset="77"/>
                        </a:rPr>
                        <a:t>1.1 Load in dataset A given its relative location to the root directory.</a:t>
                      </a:r>
                    </a:p>
                  </a:txBody>
                  <a:tcPr>
                    <a:lnT w="12700" cap="flat" cmpd="sng" algn="ctr">
                      <a:solidFill>
                        <a:schemeClr val="tx1"/>
                      </a:solidFill>
                      <a:prstDash val="solid"/>
                      <a:round/>
                      <a:headEnd type="none" w="med" len="med"/>
                      <a:tailEnd type="none" w="med" len="med"/>
                    </a:lnT>
                    <a:solidFill>
                      <a:srgbClr val="F7F9FC"/>
                    </a:solidFill>
                  </a:tcPr>
                </a:tc>
                <a:extLst>
                  <a:ext uri="{0D108BD9-81ED-4DB2-BD59-A6C34878D82A}">
                    <a16:rowId xmlns:a16="http://schemas.microsoft.com/office/drawing/2014/main" val="1306168736"/>
                  </a:ext>
                </a:extLst>
              </a:tr>
              <a:tr h="216733">
                <a:tc>
                  <a:txBody>
                    <a:bodyPr/>
                    <a:lstStyle/>
                    <a:p>
                      <a:r>
                        <a:rPr lang="en-US" sz="1100" dirty="0">
                          <a:solidFill>
                            <a:schemeClr val="tx1"/>
                          </a:solidFill>
                          <a:latin typeface="IBM Plex Sans Condensed" panose="020B0506050203000203" pitchFamily="34" charset="77"/>
                        </a:rPr>
                        <a:t>2. Data Cleaning</a:t>
                      </a:r>
                    </a:p>
                  </a:txBody>
                  <a:tcPr>
                    <a:noFill/>
                  </a:tcPr>
                </a:tc>
                <a:tc>
                  <a:txBody>
                    <a:bodyPr/>
                    <a:lstStyle/>
                    <a:p>
                      <a:r>
                        <a:rPr lang="en-US" sz="1100" dirty="0">
                          <a:solidFill>
                            <a:schemeClr val="tx1"/>
                          </a:solidFill>
                          <a:latin typeface="IBM Plex Sans Condensed" panose="020B0506050203000203" pitchFamily="34" charset="77"/>
                        </a:rPr>
                        <a:t>2.1 Clean the dataframe so that it can be used in analysis. Use information from the dataset’s corresponding data dictionary</a:t>
                      </a:r>
                    </a:p>
                  </a:txBody>
                  <a:tcPr>
                    <a:noFill/>
                  </a:tcPr>
                </a:tc>
                <a:extLst>
                  <a:ext uri="{0D108BD9-81ED-4DB2-BD59-A6C34878D82A}">
                    <a16:rowId xmlns:a16="http://schemas.microsoft.com/office/drawing/2014/main" val="874727889"/>
                  </a:ext>
                </a:extLst>
              </a:tr>
              <a:tr h="35697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2.1 Identify columns from data dictionary that could be relevant to 1) the inherent properties of the substance being carried, 2) pipeline specifications, or 3) the cause of the incident.</a:t>
                      </a:r>
                    </a:p>
                  </a:txBody>
                  <a:tcPr>
                    <a:noFill/>
                  </a:tcPr>
                </a:tc>
                <a:extLst>
                  <a:ext uri="{0D108BD9-81ED-4DB2-BD59-A6C34878D82A}">
                    <a16:rowId xmlns:a16="http://schemas.microsoft.com/office/drawing/2014/main" val="2774700380"/>
                  </a:ext>
                </a:extLst>
              </a:tr>
              <a:tr h="35697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2.2 Optimize the substance carried column using the released substance type column. Want to perform this task before dropping attributes that don’t meet a specific threshold. Additionally,     map any substance that does not equal crude oil to 0, and any crude oil substance to 1. </a:t>
                      </a:r>
                    </a:p>
                  </a:txBody>
                  <a:tcPr>
                    <a:noFill/>
                  </a:tcPr>
                </a:tc>
                <a:extLst>
                  <a:ext uri="{0D108BD9-81ED-4DB2-BD59-A6C34878D82A}">
                    <a16:rowId xmlns:a16="http://schemas.microsoft.com/office/drawing/2014/main" val="577049468"/>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2.3 Drop any attributes (columns) that are less than 50% populated. </a:t>
                      </a:r>
                    </a:p>
                  </a:txBody>
                  <a:tcPr>
                    <a:noFill/>
                  </a:tcPr>
                </a:tc>
                <a:extLst>
                  <a:ext uri="{0D108BD9-81ED-4DB2-BD59-A6C34878D82A}">
                    <a16:rowId xmlns:a16="http://schemas.microsoft.com/office/drawing/2014/main" val="229333649"/>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2.4 Clean numeric columns</a:t>
                      </a:r>
                    </a:p>
                  </a:txBody>
                  <a:tcPr>
                    <a:noFill/>
                  </a:tcPr>
                </a:tc>
                <a:extLst>
                  <a:ext uri="{0D108BD9-81ED-4DB2-BD59-A6C34878D82A}">
                    <a16:rowId xmlns:a16="http://schemas.microsoft.com/office/drawing/2014/main" val="2747464908"/>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2.5 Map categorical columns to binary/numeric.</a:t>
                      </a:r>
                    </a:p>
                  </a:txBody>
                  <a:tcPr>
                    <a:noFill/>
                  </a:tcPr>
                </a:tc>
                <a:extLst>
                  <a:ext uri="{0D108BD9-81ED-4DB2-BD59-A6C34878D82A}">
                    <a16:rowId xmlns:a16="http://schemas.microsoft.com/office/drawing/2014/main" val="2476907000"/>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2.6 Map descriptive columns (e.g., “what happened category”) to binary columns, i.e., one-hot encode. </a:t>
                      </a:r>
                    </a:p>
                  </a:txBody>
                  <a:tcPr>
                    <a:noFill/>
                  </a:tcPr>
                </a:tc>
                <a:extLst>
                  <a:ext uri="{0D108BD9-81ED-4DB2-BD59-A6C34878D82A}">
                    <a16:rowId xmlns:a16="http://schemas.microsoft.com/office/drawing/2014/main" val="3691941983"/>
                  </a:ext>
                </a:extLst>
              </a:tr>
              <a:tr h="356973">
                <a:tc rowSpan="2">
                  <a:txBody>
                    <a:bodyPr/>
                    <a:lstStyle/>
                    <a:p>
                      <a:r>
                        <a:rPr lang="en-US" sz="1100" dirty="0">
                          <a:solidFill>
                            <a:schemeClr val="tx1"/>
                          </a:solidFill>
                          <a:latin typeface="IBM Plex Sans Condensed" panose="020B0506050203000203" pitchFamily="34" charset="77"/>
                        </a:rPr>
                        <a:t>3. Data Exploration</a:t>
                      </a:r>
                    </a:p>
                  </a:txBody>
                  <a:tcPr>
                    <a:solidFill>
                      <a:srgbClr val="F7F9FC"/>
                    </a:solidFill>
                  </a:tcPr>
                </a:tc>
                <a:tc>
                  <a:txBody>
                    <a:bodyPr/>
                    <a:lstStyle/>
                    <a:p>
                      <a:r>
                        <a:rPr lang="en-US" sz="1100" dirty="0">
                          <a:solidFill>
                            <a:schemeClr val="tx1"/>
                          </a:solidFill>
                          <a:latin typeface="IBM Plex Sans Condensed" panose="020B0506050203000203" pitchFamily="34" charset="77"/>
                        </a:rPr>
                        <a:t>3.1 Generate a profiling report of the dataframe to generate a heatmap, identify highly correlated pairs, or display errors / inconsistencies in the dataset (e.g., duplicate rows). </a:t>
                      </a:r>
                    </a:p>
                  </a:txBody>
                  <a:tcPr>
                    <a:solidFill>
                      <a:srgbClr val="F7F9FC"/>
                    </a:solidFill>
                  </a:tcPr>
                </a:tc>
                <a:extLst>
                  <a:ext uri="{0D108BD9-81ED-4DB2-BD59-A6C34878D82A}">
                    <a16:rowId xmlns:a16="http://schemas.microsoft.com/office/drawing/2014/main" val="1023900183"/>
                  </a:ext>
                </a:extLst>
              </a:tr>
              <a:tr h="216733">
                <a:tc vMerge="1">
                  <a:txBody>
                    <a:bodyPr/>
                    <a:lstStyle/>
                    <a:p>
                      <a:endParaRPr lang="en-US" sz="1100" dirty="0">
                        <a:solidFill>
                          <a:schemeClr val="tx1"/>
                        </a:solidFill>
                        <a:latin typeface="IBM Plex Sans Condensed" panose="020B0506050203000203" pitchFamily="34" charset="77"/>
                      </a:endParaRPr>
                    </a:p>
                  </a:txBody>
                  <a:tcPr>
                    <a:solidFill>
                      <a:srgbClr val="F7F9FC"/>
                    </a:solidFill>
                  </a:tcPr>
                </a:tc>
                <a:tc>
                  <a:txBody>
                    <a:bodyPr/>
                    <a:lstStyle/>
                    <a:p>
                      <a:r>
                        <a:rPr lang="en-US" sz="1100" dirty="0">
                          <a:solidFill>
                            <a:schemeClr val="tx1"/>
                          </a:solidFill>
                          <a:latin typeface="IBM Plex Sans Condensed" panose="020B0506050203000203" pitchFamily="34" charset="77"/>
                        </a:rPr>
                        <a:t>3.2 Output descriptive statistics (count, mean, etc.) of numeric columns to identify additional trends. </a:t>
                      </a:r>
                    </a:p>
                  </a:txBody>
                  <a:tcPr>
                    <a:solidFill>
                      <a:srgbClr val="F7F9FC"/>
                    </a:solidFill>
                  </a:tcPr>
                </a:tc>
                <a:extLst>
                  <a:ext uri="{0D108BD9-81ED-4DB2-BD59-A6C34878D82A}">
                    <a16:rowId xmlns:a16="http://schemas.microsoft.com/office/drawing/2014/main" val="1666048895"/>
                  </a:ext>
                </a:extLst>
              </a:tr>
              <a:tr h="2167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IBM Plex Sans Condensed" panose="020B0506050203000203" pitchFamily="34" charset="77"/>
                        </a:rPr>
                        <a:t>4. ML Models</a:t>
                      </a:r>
                    </a:p>
                  </a:txBody>
                  <a:tcPr>
                    <a:noFill/>
                  </a:tcPr>
                </a:tc>
                <a:tc>
                  <a:txBody>
                    <a:bodyPr/>
                    <a:lstStyle/>
                    <a:p>
                      <a:r>
                        <a:rPr lang="en-US" sz="1100" dirty="0">
                          <a:solidFill>
                            <a:schemeClr val="tx1"/>
                          </a:solidFill>
                          <a:latin typeface="IBM Plex Sans Condensed" panose="020B0506050203000203" pitchFamily="34" charset="77"/>
                        </a:rPr>
                        <a:t>4.1 Preprocess dataframe for ml models by running a correlation matrix and dropping one of the columns found in each high-correlated pair.</a:t>
                      </a:r>
                    </a:p>
                  </a:txBody>
                  <a:tcPr>
                    <a:noFill/>
                  </a:tcPr>
                </a:tc>
                <a:extLst>
                  <a:ext uri="{0D108BD9-81ED-4DB2-BD59-A6C34878D82A}">
                    <a16:rowId xmlns:a16="http://schemas.microsoft.com/office/drawing/2014/main" val="826640950"/>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4.2 Run a logistic regression model on the data to identify if substance type (crude oil vs. not crude oil) can be predicted by the other attributes.</a:t>
                      </a:r>
                    </a:p>
                  </a:txBody>
                  <a:tcPr>
                    <a:noFill/>
                  </a:tcPr>
                </a:tc>
                <a:extLst>
                  <a:ext uri="{0D108BD9-81ED-4DB2-BD59-A6C34878D82A}">
                    <a16:rowId xmlns:a16="http://schemas.microsoft.com/office/drawing/2014/main" val="3261816373"/>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4.3 Random forest. </a:t>
                      </a:r>
                    </a:p>
                  </a:txBody>
                  <a:tcPr>
                    <a:noFill/>
                  </a:tcPr>
                </a:tc>
                <a:extLst>
                  <a:ext uri="{0D108BD9-81ED-4DB2-BD59-A6C34878D82A}">
                    <a16:rowId xmlns:a16="http://schemas.microsoft.com/office/drawing/2014/main" val="1463503125"/>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4.4 Decision tree.</a:t>
                      </a:r>
                    </a:p>
                  </a:txBody>
                  <a:tcPr>
                    <a:noFill/>
                  </a:tcPr>
                </a:tc>
                <a:extLst>
                  <a:ext uri="{0D108BD9-81ED-4DB2-BD59-A6C34878D82A}">
                    <a16:rowId xmlns:a16="http://schemas.microsoft.com/office/drawing/2014/main" val="3273281738"/>
                  </a:ext>
                </a:extLst>
              </a:tr>
              <a:tr h="216733">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4.5 Support Vector Machine (SVM). </a:t>
                      </a:r>
                    </a:p>
                  </a:txBody>
                  <a:tcPr>
                    <a:noFill/>
                  </a:tcPr>
                </a:tc>
                <a:extLst>
                  <a:ext uri="{0D108BD9-81ED-4DB2-BD59-A6C34878D82A}">
                    <a16:rowId xmlns:a16="http://schemas.microsoft.com/office/drawing/2014/main" val="1464377571"/>
                  </a:ext>
                </a:extLst>
              </a:tr>
            </a:tbl>
          </a:graphicData>
        </a:graphic>
      </p:graphicFrame>
      <p:cxnSp>
        <p:nvCxnSpPr>
          <p:cNvPr id="2" name="Straight Connector 1">
            <a:extLst>
              <a:ext uri="{FF2B5EF4-FFF2-40B4-BE49-F238E27FC236}">
                <a16:creationId xmlns:a16="http://schemas.microsoft.com/office/drawing/2014/main" id="{3FD9CC1D-C12D-8E76-DF29-A1FD8DA6CCF2}"/>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706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Analysis – Approach #2</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62E31D-0345-BEBE-7624-873846F702F6}"/>
              </a:ext>
            </a:extLst>
          </p:cNvPr>
          <p:cNvSpPr txBox="1"/>
          <p:nvPr/>
        </p:nvSpPr>
        <p:spPr>
          <a:xfrm>
            <a:off x="348342" y="1047347"/>
            <a:ext cx="11408227" cy="523220"/>
          </a:xfrm>
          <a:prstGeom prst="rect">
            <a:avLst/>
          </a:prstGeom>
          <a:noFill/>
        </p:spPr>
        <p:txBody>
          <a:bodyPr wrap="square" rtlCol="0">
            <a:spAutoFit/>
          </a:bodyPr>
          <a:lstStyle/>
          <a:p>
            <a:r>
              <a:rPr lang="en-US" sz="1400" dirty="0">
                <a:latin typeface="IBM Plex Sans Condensed" panose="020B0506050203000203" pitchFamily="34" charset="77"/>
              </a:rPr>
              <a:t>Similar to the previous slide, the key steps taken in the analysis of </a:t>
            </a:r>
            <a:r>
              <a:rPr lang="en-US" sz="1400" b="1" dirty="0">
                <a:latin typeface="IBM Plex Sans Condensed" panose="020B0506050203000203" pitchFamily="34" charset="77"/>
              </a:rPr>
              <a:t>Approach #2 </a:t>
            </a:r>
            <a:r>
              <a:rPr lang="en-US" sz="1400" dirty="0">
                <a:latin typeface="IBM Plex Sans Condensed" panose="020B0506050203000203" pitchFamily="34" charset="77"/>
              </a:rPr>
              <a:t>are summarized below. The corresponding script for this analysis is in the “</a:t>
            </a:r>
            <a:r>
              <a:rPr lang="en-US" sz="1400" dirty="0" err="1">
                <a:latin typeface="IBM Plex Sans Condensed" panose="020B0506050203000203" pitchFamily="34" charset="77"/>
              </a:rPr>
              <a:t>dataset_E.ipynb</a:t>
            </a:r>
            <a:r>
              <a:rPr lang="en-US" sz="1400" dirty="0">
                <a:latin typeface="IBM Plex Sans Condensed" panose="020B0506050203000203" pitchFamily="34" charset="77"/>
              </a:rPr>
              <a:t>” file. Once again, the script itself includes further explanation of the decision-making process. </a:t>
            </a:r>
          </a:p>
        </p:txBody>
      </p:sp>
      <p:graphicFrame>
        <p:nvGraphicFramePr>
          <p:cNvPr id="5" name="Table 4">
            <a:extLst>
              <a:ext uri="{FF2B5EF4-FFF2-40B4-BE49-F238E27FC236}">
                <a16:creationId xmlns:a16="http://schemas.microsoft.com/office/drawing/2014/main" id="{CCA75BF7-BB04-89B2-FA61-7C258FBA389E}"/>
              </a:ext>
            </a:extLst>
          </p:cNvPr>
          <p:cNvGraphicFramePr>
            <a:graphicFrameLocks noGrp="1"/>
          </p:cNvGraphicFramePr>
          <p:nvPr>
            <p:extLst>
              <p:ext uri="{D42A27DB-BD31-4B8C-83A1-F6EECF244321}">
                <p14:modId xmlns:p14="http://schemas.microsoft.com/office/powerpoint/2010/main" val="3716964350"/>
              </p:ext>
            </p:extLst>
          </p:nvPr>
        </p:nvGraphicFramePr>
        <p:xfrm>
          <a:off x="348342" y="1694803"/>
          <a:ext cx="11408226" cy="3138166"/>
        </p:xfrm>
        <a:graphic>
          <a:graphicData uri="http://schemas.openxmlformats.org/drawingml/2006/table">
            <a:tbl>
              <a:tblPr firstRow="1" bandRow="1">
                <a:tableStyleId>{5C22544A-7EE6-4342-B048-85BDC9FD1C3A}</a:tableStyleId>
              </a:tblPr>
              <a:tblGrid>
                <a:gridCol w="1367247">
                  <a:extLst>
                    <a:ext uri="{9D8B030D-6E8A-4147-A177-3AD203B41FA5}">
                      <a16:colId xmlns:a16="http://schemas.microsoft.com/office/drawing/2014/main" val="229692544"/>
                    </a:ext>
                  </a:extLst>
                </a:gridCol>
                <a:gridCol w="10040979">
                  <a:extLst>
                    <a:ext uri="{9D8B030D-6E8A-4147-A177-3AD203B41FA5}">
                      <a16:colId xmlns:a16="http://schemas.microsoft.com/office/drawing/2014/main" val="2013799710"/>
                    </a:ext>
                  </a:extLst>
                </a:gridCol>
              </a:tblGrid>
              <a:tr h="195199">
                <a:tc>
                  <a:txBody>
                    <a:bodyPr/>
                    <a:lstStyle/>
                    <a:p>
                      <a:r>
                        <a:rPr lang="en-US" sz="1000" b="0">
                          <a:solidFill>
                            <a:schemeClr val="bg1"/>
                          </a:solidFill>
                          <a:latin typeface="IBM Plex Sans Condensed" panose="020B0506050203000203" pitchFamily="34" charset="77"/>
                        </a:rPr>
                        <a:t>Step</a:t>
                      </a:r>
                      <a:endParaRPr lang="en-US" sz="1000" b="0" dirty="0">
                        <a:solidFill>
                          <a:schemeClr val="bg1"/>
                        </a:solidFill>
                        <a:latin typeface="IBM Plex Sans Condensed" panose="020B0506050203000203" pitchFamily="34" charset="77"/>
                      </a:endParaRPr>
                    </a:p>
                  </a:txBody>
                  <a:tcPr>
                    <a:lnB w="12700" cap="flat" cmpd="sng" algn="ctr">
                      <a:solidFill>
                        <a:schemeClr val="tx1"/>
                      </a:solidFill>
                      <a:prstDash val="solid"/>
                      <a:round/>
                      <a:headEnd type="none" w="med" len="med"/>
                      <a:tailEnd type="none" w="med" len="med"/>
                    </a:lnB>
                    <a:solidFill>
                      <a:srgbClr val="0A2636"/>
                    </a:solidFill>
                  </a:tcPr>
                </a:tc>
                <a:tc>
                  <a:txBody>
                    <a:bodyPr/>
                    <a:lstStyle/>
                    <a:p>
                      <a:r>
                        <a:rPr lang="en-US" sz="1000" b="0" dirty="0">
                          <a:solidFill>
                            <a:schemeClr val="bg1"/>
                          </a:solidFill>
                          <a:latin typeface="IBM Plex Sans Condensed" panose="020B0506050203000203" pitchFamily="34" charset="77"/>
                        </a:rPr>
                        <a:t>Description</a:t>
                      </a:r>
                    </a:p>
                  </a:txBody>
                  <a:tcPr>
                    <a:lnB w="12700" cap="flat" cmpd="sng" algn="ctr">
                      <a:solidFill>
                        <a:schemeClr val="tx1"/>
                      </a:solidFill>
                      <a:prstDash val="solid"/>
                      <a:round/>
                      <a:headEnd type="none" w="med" len="med"/>
                      <a:tailEnd type="none" w="med" len="med"/>
                    </a:lnB>
                    <a:solidFill>
                      <a:srgbClr val="0A2636"/>
                    </a:solidFill>
                  </a:tcPr>
                </a:tc>
                <a:extLst>
                  <a:ext uri="{0D108BD9-81ED-4DB2-BD59-A6C34878D82A}">
                    <a16:rowId xmlns:a16="http://schemas.microsoft.com/office/drawing/2014/main" val="1204148481"/>
                  </a:ext>
                </a:extLst>
              </a:tr>
              <a:tr h="207399">
                <a:tc>
                  <a:txBody>
                    <a:bodyPr/>
                    <a:lstStyle/>
                    <a:p>
                      <a:r>
                        <a:rPr lang="en-US" sz="1100" dirty="0">
                          <a:solidFill>
                            <a:schemeClr val="tx1"/>
                          </a:solidFill>
                          <a:latin typeface="IBM Plex Sans Condensed" panose="020B0506050203000203" pitchFamily="34" charset="77"/>
                        </a:rPr>
                        <a:t>1. Data Ingestion</a:t>
                      </a:r>
                    </a:p>
                  </a:txBody>
                  <a:tcPr>
                    <a:lnT w="12700" cap="flat" cmpd="sng" algn="ctr">
                      <a:solidFill>
                        <a:schemeClr val="tx1"/>
                      </a:solidFill>
                      <a:prstDash val="solid"/>
                      <a:round/>
                      <a:headEnd type="none" w="med" len="med"/>
                      <a:tailEnd type="none" w="med" len="med"/>
                    </a:lnT>
                    <a:solidFill>
                      <a:srgbClr val="F7F9FC"/>
                    </a:solidFill>
                  </a:tcPr>
                </a:tc>
                <a:tc>
                  <a:txBody>
                    <a:bodyPr/>
                    <a:lstStyle/>
                    <a:p>
                      <a:r>
                        <a:rPr lang="en-US" sz="1100" dirty="0">
                          <a:solidFill>
                            <a:schemeClr val="tx1"/>
                          </a:solidFill>
                          <a:latin typeface="IBM Plex Sans Condensed" panose="020B0506050203000203" pitchFamily="34" charset="77"/>
                        </a:rPr>
                        <a:t>1.1 Load in dataset E given its relative location to the root directory.</a:t>
                      </a:r>
                    </a:p>
                  </a:txBody>
                  <a:tcPr>
                    <a:lnT w="12700" cap="flat" cmpd="sng" algn="ctr">
                      <a:solidFill>
                        <a:schemeClr val="tx1"/>
                      </a:solidFill>
                      <a:prstDash val="solid"/>
                      <a:round/>
                      <a:headEnd type="none" w="med" len="med"/>
                      <a:tailEnd type="none" w="med" len="med"/>
                    </a:lnT>
                    <a:solidFill>
                      <a:srgbClr val="F7F9FC"/>
                    </a:solidFill>
                  </a:tcPr>
                </a:tc>
                <a:extLst>
                  <a:ext uri="{0D108BD9-81ED-4DB2-BD59-A6C34878D82A}">
                    <a16:rowId xmlns:a16="http://schemas.microsoft.com/office/drawing/2014/main" val="1306168736"/>
                  </a:ext>
                </a:extLst>
              </a:tr>
              <a:tr h="207399">
                <a:tc>
                  <a:txBody>
                    <a:bodyPr/>
                    <a:lstStyle/>
                    <a:p>
                      <a:r>
                        <a:rPr lang="en-US" sz="1100" dirty="0">
                          <a:solidFill>
                            <a:schemeClr val="tx1"/>
                          </a:solidFill>
                          <a:latin typeface="IBM Plex Sans Condensed" panose="020B0506050203000203" pitchFamily="34" charset="77"/>
                        </a:rPr>
                        <a:t>2. Data Cleaning</a:t>
                      </a:r>
                    </a:p>
                  </a:txBody>
                  <a:tcPr>
                    <a:noFill/>
                  </a:tcPr>
                </a:tc>
                <a:tc>
                  <a:txBody>
                    <a:bodyPr/>
                    <a:lstStyle/>
                    <a:p>
                      <a:r>
                        <a:rPr lang="en-US" sz="1100" dirty="0">
                          <a:solidFill>
                            <a:schemeClr val="tx1"/>
                          </a:solidFill>
                          <a:latin typeface="IBM Plex Sans Condensed" panose="020B0506050203000203" pitchFamily="34" charset="77"/>
                        </a:rPr>
                        <a:t>2.1 Prioritize the commodity column as their properties (sweet vs. sour, heavy vs light) are the basis of this analysis. </a:t>
                      </a:r>
                    </a:p>
                  </a:txBody>
                  <a:tcPr>
                    <a:noFill/>
                  </a:tcPr>
                </a:tc>
                <a:extLst>
                  <a:ext uri="{0D108BD9-81ED-4DB2-BD59-A6C34878D82A}">
                    <a16:rowId xmlns:a16="http://schemas.microsoft.com/office/drawing/2014/main" val="874727889"/>
                  </a:ext>
                </a:extLst>
              </a:tr>
              <a:tr h="341598">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2.2 Map these properties to binary columns using string extrapolation. E.g., “Heavy </a:t>
                      </a:r>
                      <a:r>
                        <a:rPr lang="en-US" sz="1100" dirty="0" err="1">
                          <a:solidFill>
                            <a:schemeClr val="tx1"/>
                          </a:solidFill>
                          <a:latin typeface="IBM Plex Sans Condensed" panose="020B0506050203000203" pitchFamily="34" charset="77"/>
                        </a:rPr>
                        <a:t>Louisana</a:t>
                      </a:r>
                      <a:r>
                        <a:rPr lang="en-US" sz="1100" dirty="0">
                          <a:solidFill>
                            <a:schemeClr val="tx1"/>
                          </a:solidFill>
                          <a:latin typeface="IBM Plex Sans Condensed" panose="020B0506050203000203" pitchFamily="34" charset="77"/>
                        </a:rPr>
                        <a:t> Sweet” would mark a 1 in the “heavy” and “sweet” columns. These properties were only given for a tiny portion (~45/1355) of the records. </a:t>
                      </a:r>
                    </a:p>
                  </a:txBody>
                  <a:tcPr>
                    <a:noFill/>
                  </a:tcPr>
                </a:tc>
                <a:extLst>
                  <a:ext uri="{0D108BD9-81ED-4DB2-BD59-A6C34878D82A}">
                    <a16:rowId xmlns:a16="http://schemas.microsoft.com/office/drawing/2014/main" val="2774700380"/>
                  </a:ext>
                </a:extLst>
              </a:tr>
              <a:tr h="285764">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2.3 Identify and fill in the general cause of the incident using logic from the corresponding data dictionary. </a:t>
                      </a:r>
                    </a:p>
                  </a:txBody>
                  <a:tcPr>
                    <a:solidFill>
                      <a:schemeClr val="accent4">
                        <a:lumMod val="20000"/>
                        <a:lumOff val="80000"/>
                      </a:schemeClr>
                    </a:solidFill>
                  </a:tcPr>
                </a:tc>
                <a:extLst>
                  <a:ext uri="{0D108BD9-81ED-4DB2-BD59-A6C34878D82A}">
                    <a16:rowId xmlns:a16="http://schemas.microsoft.com/office/drawing/2014/main" val="577049468"/>
                  </a:ext>
                </a:extLst>
              </a:tr>
              <a:tr h="207399">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2.4 Clean the remaining columns using a similar process to that for dataset A / Approach #1. </a:t>
                      </a:r>
                    </a:p>
                  </a:txBody>
                  <a:tcPr>
                    <a:solidFill>
                      <a:schemeClr val="accent4">
                        <a:lumMod val="20000"/>
                        <a:lumOff val="80000"/>
                      </a:schemeClr>
                    </a:solidFill>
                  </a:tcPr>
                </a:tc>
                <a:extLst>
                  <a:ext uri="{0D108BD9-81ED-4DB2-BD59-A6C34878D82A}">
                    <a16:rowId xmlns:a16="http://schemas.microsoft.com/office/drawing/2014/main" val="229333649"/>
                  </a:ext>
                </a:extLst>
              </a:tr>
              <a:tr h="341598">
                <a:tc>
                  <a:txBody>
                    <a:bodyPr/>
                    <a:lstStyle/>
                    <a:p>
                      <a:r>
                        <a:rPr lang="en-US" sz="1100" dirty="0">
                          <a:solidFill>
                            <a:schemeClr val="tx1"/>
                          </a:solidFill>
                          <a:latin typeface="IBM Plex Sans Condensed" panose="020B0506050203000203" pitchFamily="34" charset="77"/>
                        </a:rPr>
                        <a:t>3. Data Exploration</a:t>
                      </a:r>
                    </a:p>
                  </a:txBody>
                  <a:tcPr>
                    <a:solidFill>
                      <a:srgbClr val="F7F9F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IBM Plex Sans Condensed" panose="020B0506050203000203" pitchFamily="34" charset="77"/>
                        </a:rPr>
                        <a:t>3.1 Generate a profiling report of the dataframe to generate a heatmap, identify highly correlated pairs, or display errors / inconsistencies in the dataset (e.g., duplicate rows). </a:t>
                      </a:r>
                    </a:p>
                  </a:txBody>
                  <a:tcPr>
                    <a:solidFill>
                      <a:schemeClr val="accent4">
                        <a:lumMod val="20000"/>
                        <a:lumOff val="80000"/>
                      </a:schemeClr>
                    </a:solidFill>
                  </a:tcPr>
                </a:tc>
                <a:extLst>
                  <a:ext uri="{0D108BD9-81ED-4DB2-BD59-A6C34878D82A}">
                    <a16:rowId xmlns:a16="http://schemas.microsoft.com/office/drawing/2014/main" val="2747464908"/>
                  </a:ext>
                </a:extLst>
              </a:tr>
              <a:tr h="207399">
                <a:tc>
                  <a:txBody>
                    <a:bodyPr/>
                    <a:lstStyle/>
                    <a:p>
                      <a:r>
                        <a:rPr lang="en-US" sz="1100" dirty="0">
                          <a:solidFill>
                            <a:schemeClr val="tx1"/>
                          </a:solidFill>
                          <a:latin typeface="IBM Plex Sans Condensed" panose="020B0506050203000203" pitchFamily="34" charset="77"/>
                        </a:rPr>
                        <a:t>4. ML Models</a:t>
                      </a:r>
                    </a:p>
                  </a:txBody>
                  <a:tcPr>
                    <a:noFill/>
                  </a:tcPr>
                </a:tc>
                <a:tc>
                  <a:txBody>
                    <a:bodyPr/>
                    <a:lstStyle/>
                    <a:p>
                      <a:r>
                        <a:rPr lang="en-US" sz="1100" dirty="0">
                          <a:solidFill>
                            <a:schemeClr val="tx1"/>
                          </a:solidFill>
                          <a:latin typeface="IBM Plex Sans Condensed" panose="020B0506050203000203" pitchFamily="34" charset="77"/>
                        </a:rPr>
                        <a:t>4.1 Preprocess dataframe for ml models by running a correlation matrix and dropping one of the columns found in each high-correlated pair.</a:t>
                      </a:r>
                    </a:p>
                  </a:txBody>
                  <a:tcPr>
                    <a:solidFill>
                      <a:schemeClr val="accent4">
                        <a:lumMod val="20000"/>
                        <a:lumOff val="80000"/>
                      </a:schemeClr>
                    </a:solidFill>
                  </a:tcPr>
                </a:tc>
                <a:extLst>
                  <a:ext uri="{0D108BD9-81ED-4DB2-BD59-A6C34878D82A}">
                    <a16:rowId xmlns:a16="http://schemas.microsoft.com/office/drawing/2014/main" val="2476907000"/>
                  </a:ext>
                </a:extLst>
              </a:tr>
              <a:tr h="207399">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4.2 Run a decision tree model on the data to identify if the specific properties of the crude oil had an affect on the incident type. </a:t>
                      </a:r>
                    </a:p>
                  </a:txBody>
                  <a:tcPr>
                    <a:solidFill>
                      <a:schemeClr val="accent4">
                        <a:lumMod val="20000"/>
                        <a:lumOff val="80000"/>
                      </a:schemeClr>
                    </a:solidFill>
                  </a:tcPr>
                </a:tc>
                <a:extLst>
                  <a:ext uri="{0D108BD9-81ED-4DB2-BD59-A6C34878D82A}">
                    <a16:rowId xmlns:a16="http://schemas.microsoft.com/office/drawing/2014/main" val="3691941983"/>
                  </a:ext>
                </a:extLst>
              </a:tr>
              <a:tr h="285764">
                <a:tc>
                  <a:txBody>
                    <a:bodyPr/>
                    <a:lstStyle/>
                    <a:p>
                      <a:endParaRPr lang="en-US" sz="1100" dirty="0">
                        <a:solidFill>
                          <a:schemeClr val="tx1"/>
                        </a:solidFill>
                        <a:latin typeface="IBM Plex Sans Condensed" panose="020B0506050203000203" pitchFamily="34" charset="77"/>
                      </a:endParaRPr>
                    </a:p>
                  </a:txBody>
                  <a:tcPr>
                    <a:noFill/>
                  </a:tcPr>
                </a:tc>
                <a:tc>
                  <a:txBody>
                    <a:bodyPr/>
                    <a:lstStyle/>
                    <a:p>
                      <a:r>
                        <a:rPr lang="en-US" sz="1100" dirty="0">
                          <a:solidFill>
                            <a:schemeClr val="tx1"/>
                          </a:solidFill>
                          <a:latin typeface="IBM Plex Sans Condensed" panose="020B0506050203000203" pitchFamily="34" charset="77"/>
                        </a:rPr>
                        <a:t>4.3 Random forest.</a:t>
                      </a:r>
                    </a:p>
                  </a:txBody>
                  <a:tcPr>
                    <a:solidFill>
                      <a:schemeClr val="accent4">
                        <a:lumMod val="20000"/>
                        <a:lumOff val="80000"/>
                      </a:schemeClr>
                    </a:solidFill>
                  </a:tcPr>
                </a:tc>
                <a:extLst>
                  <a:ext uri="{0D108BD9-81ED-4DB2-BD59-A6C34878D82A}">
                    <a16:rowId xmlns:a16="http://schemas.microsoft.com/office/drawing/2014/main" val="1023900183"/>
                  </a:ext>
                </a:extLst>
              </a:tr>
              <a:tr h="207399">
                <a:tc>
                  <a:txBody>
                    <a:bodyPr/>
                    <a:lstStyle/>
                    <a:p>
                      <a:endParaRPr lang="en-US" sz="1100" dirty="0">
                        <a:solidFill>
                          <a:schemeClr val="tx1"/>
                        </a:solidFill>
                        <a:latin typeface="IBM Plex Sans Condensed" panose="020B0506050203000203" pitchFamily="34" charset="77"/>
                      </a:endParaRPr>
                    </a:p>
                  </a:txBody>
                  <a:tcPr>
                    <a:lnB w="6350" cap="flat" cmpd="sng" algn="ctr">
                      <a:solidFill>
                        <a:schemeClr val="tx1"/>
                      </a:solidFill>
                      <a:prstDash val="solid"/>
                      <a:round/>
                      <a:headEnd type="none" w="med" len="med"/>
                      <a:tailEnd type="none" w="med" len="med"/>
                    </a:lnB>
                    <a:noFill/>
                  </a:tcPr>
                </a:tc>
                <a:tc>
                  <a:txBody>
                    <a:bodyPr/>
                    <a:lstStyle/>
                    <a:p>
                      <a:r>
                        <a:rPr lang="en-US" sz="1100" dirty="0">
                          <a:solidFill>
                            <a:schemeClr val="tx1"/>
                          </a:solidFill>
                          <a:latin typeface="IBM Plex Sans Condensed" panose="020B0506050203000203" pitchFamily="34" charset="77"/>
                        </a:rPr>
                        <a:t>4.4 Logistic regression.</a:t>
                      </a:r>
                    </a:p>
                  </a:txBody>
                  <a:tcPr>
                    <a:lnB w="635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66048895"/>
                  </a:ext>
                </a:extLst>
              </a:tr>
            </a:tbl>
          </a:graphicData>
        </a:graphic>
      </p:graphicFrame>
      <p:graphicFrame>
        <p:nvGraphicFramePr>
          <p:cNvPr id="2" name="Table 1">
            <a:extLst>
              <a:ext uri="{FF2B5EF4-FFF2-40B4-BE49-F238E27FC236}">
                <a16:creationId xmlns:a16="http://schemas.microsoft.com/office/drawing/2014/main" id="{DBD0D5E7-2C6C-80B4-2B51-485D567C0FD1}"/>
              </a:ext>
            </a:extLst>
          </p:cNvPr>
          <p:cNvGraphicFramePr>
            <a:graphicFrameLocks noGrp="1"/>
          </p:cNvGraphicFramePr>
          <p:nvPr>
            <p:extLst>
              <p:ext uri="{D42A27DB-BD31-4B8C-83A1-F6EECF244321}">
                <p14:modId xmlns:p14="http://schemas.microsoft.com/office/powerpoint/2010/main" val="4038507880"/>
              </p:ext>
            </p:extLst>
          </p:nvPr>
        </p:nvGraphicFramePr>
        <p:xfrm>
          <a:off x="348341" y="5195005"/>
          <a:ext cx="11408225" cy="426720"/>
        </p:xfrm>
        <a:graphic>
          <a:graphicData uri="http://schemas.openxmlformats.org/drawingml/2006/table">
            <a:tbl>
              <a:tblPr firstRow="1" bandRow="1">
                <a:tableStyleId>{5C22544A-7EE6-4342-B048-85BDC9FD1C3A}</a:tableStyleId>
              </a:tblPr>
              <a:tblGrid>
                <a:gridCol w="1089963">
                  <a:extLst>
                    <a:ext uri="{9D8B030D-6E8A-4147-A177-3AD203B41FA5}">
                      <a16:colId xmlns:a16="http://schemas.microsoft.com/office/drawing/2014/main" val="407998216"/>
                    </a:ext>
                  </a:extLst>
                </a:gridCol>
                <a:gridCol w="10318262">
                  <a:extLst>
                    <a:ext uri="{9D8B030D-6E8A-4147-A177-3AD203B41FA5}">
                      <a16:colId xmlns:a16="http://schemas.microsoft.com/office/drawing/2014/main" val="2775065156"/>
                    </a:ext>
                  </a:extLst>
                </a:gridCol>
              </a:tblGrid>
              <a:tr h="370840">
                <a:tc>
                  <a:txBody>
                    <a:bodyPr/>
                    <a:lstStyle/>
                    <a:p>
                      <a:r>
                        <a:rPr lang="en-US" sz="1100" dirty="0">
                          <a:solidFill>
                            <a:schemeClr val="tx1"/>
                          </a:solidFill>
                          <a:latin typeface="IBM Plex Sans Condensed" panose="020B0506050203000203" pitchFamily="34" charset="77"/>
                        </a:rPr>
                        <a:t>Incomplete</a:t>
                      </a:r>
                    </a:p>
                  </a:txBody>
                  <a:tcPr anchor="ctr">
                    <a:solidFill>
                      <a:schemeClr val="accent4">
                        <a:lumMod val="20000"/>
                        <a:lumOff val="80000"/>
                      </a:schemeClr>
                    </a:solidFill>
                  </a:tcPr>
                </a:tc>
                <a:tc>
                  <a:txBody>
                    <a:bodyPr/>
                    <a:lstStyle/>
                    <a:p>
                      <a:r>
                        <a:rPr lang="en-US" sz="1100" b="0" dirty="0">
                          <a:solidFill>
                            <a:schemeClr val="tx1"/>
                          </a:solidFill>
                          <a:latin typeface="IBM Plex Sans Condensed" panose="020B0506050203000203" pitchFamily="34" charset="77"/>
                        </a:rPr>
                        <a:t>The majority of the steps from 2.3 - onwards were performed and iterated upon in an attempt to salvage the approach. Ultimately, the minimal number of records (~45) with property-specific information on crude oil limited the extent of this analysis. </a:t>
                      </a:r>
                    </a:p>
                  </a:txBody>
                  <a:tcPr anchor="ctr">
                    <a:noFill/>
                  </a:tcPr>
                </a:tc>
                <a:extLst>
                  <a:ext uri="{0D108BD9-81ED-4DB2-BD59-A6C34878D82A}">
                    <a16:rowId xmlns:a16="http://schemas.microsoft.com/office/drawing/2014/main" val="3057655160"/>
                  </a:ext>
                </a:extLst>
              </a:tr>
            </a:tbl>
          </a:graphicData>
        </a:graphic>
      </p:graphicFrame>
      <p:cxnSp>
        <p:nvCxnSpPr>
          <p:cNvPr id="7" name="Straight Connector 6">
            <a:extLst>
              <a:ext uri="{FF2B5EF4-FFF2-40B4-BE49-F238E27FC236}">
                <a16:creationId xmlns:a16="http://schemas.microsoft.com/office/drawing/2014/main" id="{DAA2A3ED-630F-61FC-4DD3-FAFBD63CCDC0}"/>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153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Conclusions / Key Takeaways – Approach #1</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CB30CD3-8335-30C5-9FAD-B2DA3F7B3B60}"/>
              </a:ext>
            </a:extLst>
          </p:cNvPr>
          <p:cNvSpPr txBox="1"/>
          <p:nvPr/>
        </p:nvSpPr>
        <p:spPr>
          <a:xfrm>
            <a:off x="348342" y="1047347"/>
            <a:ext cx="11408227" cy="307777"/>
          </a:xfrm>
          <a:prstGeom prst="rect">
            <a:avLst/>
          </a:prstGeom>
          <a:noFill/>
        </p:spPr>
        <p:txBody>
          <a:bodyPr wrap="square" rtlCol="0">
            <a:spAutoFit/>
          </a:bodyPr>
          <a:lstStyle/>
          <a:p>
            <a:r>
              <a:rPr lang="en-US" sz="1400" dirty="0">
                <a:latin typeface="IBM Plex Sans Condensed" panose="020B0506050203000203" pitchFamily="34" charset="77"/>
              </a:rPr>
              <a:t>……</a:t>
            </a:r>
          </a:p>
        </p:txBody>
      </p:sp>
      <p:sp>
        <p:nvSpPr>
          <p:cNvPr id="5" name="Rectangle 4">
            <a:extLst>
              <a:ext uri="{FF2B5EF4-FFF2-40B4-BE49-F238E27FC236}">
                <a16:creationId xmlns:a16="http://schemas.microsoft.com/office/drawing/2014/main" id="{691D5CA9-32D1-38D1-B393-C42D202C3AF8}"/>
              </a:ext>
            </a:extLst>
          </p:cNvPr>
          <p:cNvSpPr/>
          <p:nvPr/>
        </p:nvSpPr>
        <p:spPr>
          <a:xfrm>
            <a:off x="431074" y="1578454"/>
            <a:ext cx="4343400"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IBM Plex Sans Condensed" panose="020B0506050203000203" pitchFamily="34" charset="77"/>
              </a:rPr>
              <a:t>Approach #1 – Crude Oil vs. NOT Crude Oil</a:t>
            </a:r>
          </a:p>
        </p:txBody>
      </p:sp>
      <p:sp>
        <p:nvSpPr>
          <p:cNvPr id="9" name="Rectangle 8">
            <a:extLst>
              <a:ext uri="{FF2B5EF4-FFF2-40B4-BE49-F238E27FC236}">
                <a16:creationId xmlns:a16="http://schemas.microsoft.com/office/drawing/2014/main" id="{4E98AB9A-73DB-552B-AEA2-F1183214CACB}"/>
              </a:ext>
            </a:extLst>
          </p:cNvPr>
          <p:cNvSpPr/>
          <p:nvPr/>
        </p:nvSpPr>
        <p:spPr>
          <a:xfrm>
            <a:off x="431075" y="1852933"/>
            <a:ext cx="11325494" cy="26007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 able to predict crude oil vs. not crude oil using latitude and longitude, and pipeline diameter and length</a:t>
            </a:r>
          </a:p>
          <a:p>
            <a:r>
              <a:rPr lang="en-US" sz="1100" dirty="0">
                <a:solidFill>
                  <a:schemeClr val="tx1"/>
                </a:solidFill>
                <a:latin typeface="IBM Plex Sans Condensed" panose="020B0506050203000203" pitchFamily="34" charset="77"/>
              </a:rPr>
              <a:t>- the success of the above implies that crude oil pipelines are in different locations than their counterparts and even have slightly different pipeline specifications – specifically the diameter and length of their pipelines</a:t>
            </a:r>
          </a:p>
          <a:p>
            <a:r>
              <a:rPr lang="en-US" sz="1100" dirty="0">
                <a:solidFill>
                  <a:schemeClr val="tx1"/>
                </a:solidFill>
                <a:latin typeface="IBM Plex Sans Condensed" panose="020B0506050203000203" pitchFamily="34" charset="77"/>
              </a:rPr>
              <a:t>- But when I remove these attributes, I am left with mediocre results</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Sample of these results from Random Forest after the four above attributes have been removed:</a:t>
            </a:r>
          </a:p>
          <a:p>
            <a:r>
              <a:rPr lang="en-US" sz="1100" dirty="0">
                <a:solidFill>
                  <a:schemeClr val="tx1"/>
                </a:solidFill>
                <a:latin typeface="IBM Plex Sans Condensed" panose="020B0506050203000203" pitchFamily="34" charset="77"/>
              </a:rPr>
              <a:t>Precision / recall / accuracy</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Interpretation:</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 good at predicting not crude oil, not good at predicting crude oil</a:t>
            </a:r>
          </a:p>
          <a:p>
            <a:r>
              <a:rPr lang="en-US" sz="1100" dirty="0">
                <a:solidFill>
                  <a:schemeClr val="tx1"/>
                </a:solidFill>
                <a:latin typeface="IBM Plex Sans Condensed" panose="020B0506050203000203" pitchFamily="34" charset="77"/>
              </a:rPr>
              <a:t># we could conclude that there are potentially inherent differences in not crude oil vs. crude oil accidents</a:t>
            </a:r>
          </a:p>
          <a:p>
            <a:r>
              <a:rPr lang="en-US" sz="1100" dirty="0">
                <a:solidFill>
                  <a:schemeClr val="tx1"/>
                </a:solidFill>
                <a:latin typeface="IBM Plex Sans Condensed" panose="020B0506050203000203" pitchFamily="34" charset="77"/>
              </a:rPr>
              <a:t>## and therefore further investigation into their differences is warranted</a:t>
            </a:r>
          </a:p>
          <a:p>
            <a:endParaRPr lang="en-US" sz="1100" dirty="0">
              <a:solidFill>
                <a:schemeClr val="tx1"/>
              </a:solidFill>
              <a:latin typeface="IBM Plex Sans Condensed" panose="020B0506050203000203" pitchFamily="34" charset="77"/>
            </a:endParaRPr>
          </a:p>
        </p:txBody>
      </p:sp>
      <p:sp>
        <p:nvSpPr>
          <p:cNvPr id="14" name="Rectangle 13">
            <a:extLst>
              <a:ext uri="{FF2B5EF4-FFF2-40B4-BE49-F238E27FC236}">
                <a16:creationId xmlns:a16="http://schemas.microsoft.com/office/drawing/2014/main" id="{902C8C4F-C243-8793-93FC-62B41AEA2921}"/>
              </a:ext>
            </a:extLst>
          </p:cNvPr>
          <p:cNvSpPr/>
          <p:nvPr/>
        </p:nvSpPr>
        <p:spPr>
          <a:xfrm>
            <a:off x="415518" y="4733556"/>
            <a:ext cx="11325494" cy="11905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Future investigation/analysis</a:t>
            </a:r>
          </a:p>
          <a:p>
            <a:r>
              <a:rPr lang="en-US" sz="1100" dirty="0">
                <a:solidFill>
                  <a:schemeClr val="tx1"/>
                </a:solidFill>
                <a:latin typeface="IBM Plex Sans Condensed" panose="020B0506050203000203" pitchFamily="34" charset="77"/>
              </a:rPr>
              <a:t>## look into specific attributes contributing to NOT crude oil incidents to determine why these attributes are more pronounced than those of crude oil</a:t>
            </a:r>
          </a:p>
          <a:p>
            <a:r>
              <a:rPr lang="en-US" sz="1100" dirty="0">
                <a:solidFill>
                  <a:schemeClr val="tx1"/>
                </a:solidFill>
                <a:latin typeface="IBM Plex Sans Condensed" panose="020B0506050203000203" pitchFamily="34" charset="77"/>
              </a:rPr>
              <a:t>## look into crude oil/not crude oil vs. NON-incidents to determine what properties of the substances are causing the accidents in the first place</a:t>
            </a:r>
          </a:p>
          <a:p>
            <a:r>
              <a:rPr lang="en-US" sz="1100" dirty="0">
                <a:solidFill>
                  <a:schemeClr val="tx1"/>
                </a:solidFill>
                <a:latin typeface="IBM Plex Sans Condensed" panose="020B0506050203000203" pitchFamily="34" charset="77"/>
              </a:rPr>
              <a:t>## feature engineering - removing less important attributes based on domain knowledge; aggregating attributes if possible</a:t>
            </a:r>
          </a:p>
          <a:p>
            <a:r>
              <a:rPr lang="en-US" sz="1100" dirty="0">
                <a:solidFill>
                  <a:schemeClr val="tx1"/>
                </a:solidFill>
                <a:latin typeface="IBM Plex Sans Condensed" panose="020B0506050203000203" pitchFamily="34" charset="77"/>
              </a:rPr>
              <a:t>## expanding dataset by </a:t>
            </a:r>
            <a:r>
              <a:rPr lang="en-US" sz="1100" dirty="0" err="1">
                <a:solidFill>
                  <a:schemeClr val="tx1"/>
                </a:solidFill>
                <a:latin typeface="IBM Plex Sans Condensed" panose="020B0506050203000203" pitchFamily="34" charset="77"/>
              </a:rPr>
              <a:t>concating</a:t>
            </a:r>
            <a:r>
              <a:rPr lang="en-US" sz="1100" dirty="0">
                <a:solidFill>
                  <a:schemeClr val="tx1"/>
                </a:solidFill>
                <a:latin typeface="IBM Plex Sans Condensed" panose="020B0506050203000203" pitchFamily="34" charset="77"/>
              </a:rPr>
              <a:t> other relevant data files</a:t>
            </a:r>
          </a:p>
          <a:p>
            <a:endParaRPr lang="en-US" sz="1100" dirty="0">
              <a:solidFill>
                <a:schemeClr val="tx1"/>
              </a:solidFill>
              <a:latin typeface="IBM Plex Sans Condensed" panose="020B0506050203000203" pitchFamily="34" charset="77"/>
            </a:endParaRPr>
          </a:p>
          <a:p>
            <a:endParaRPr lang="en-US" sz="1100" dirty="0">
              <a:solidFill>
                <a:schemeClr val="tx1"/>
              </a:solidFill>
              <a:latin typeface="IBM Plex Sans Condensed" panose="020B0506050203000203" pitchFamily="34" charset="77"/>
            </a:endParaRPr>
          </a:p>
        </p:txBody>
      </p:sp>
      <p:cxnSp>
        <p:nvCxnSpPr>
          <p:cNvPr id="2" name="Straight Connector 1">
            <a:extLst>
              <a:ext uri="{FF2B5EF4-FFF2-40B4-BE49-F238E27FC236}">
                <a16:creationId xmlns:a16="http://schemas.microsoft.com/office/drawing/2014/main" id="{8812767C-6D8C-A100-D385-2DF62F09F928}"/>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542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Conclusions / Key Takeaways – Approach #2</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CB30CD3-8335-30C5-9FAD-B2DA3F7B3B60}"/>
              </a:ext>
            </a:extLst>
          </p:cNvPr>
          <p:cNvSpPr txBox="1"/>
          <p:nvPr/>
        </p:nvSpPr>
        <p:spPr>
          <a:xfrm>
            <a:off x="348342" y="1047347"/>
            <a:ext cx="11408227" cy="307777"/>
          </a:xfrm>
          <a:prstGeom prst="rect">
            <a:avLst/>
          </a:prstGeom>
          <a:noFill/>
        </p:spPr>
        <p:txBody>
          <a:bodyPr wrap="square" rtlCol="0">
            <a:spAutoFit/>
          </a:bodyPr>
          <a:lstStyle/>
          <a:p>
            <a:r>
              <a:rPr lang="en-US" sz="1400" dirty="0">
                <a:latin typeface="IBM Plex Sans Condensed" panose="020B0506050203000203" pitchFamily="34" charset="77"/>
              </a:rPr>
              <a:t>……</a:t>
            </a:r>
          </a:p>
        </p:txBody>
      </p:sp>
      <p:sp>
        <p:nvSpPr>
          <p:cNvPr id="5" name="Rectangle 4">
            <a:extLst>
              <a:ext uri="{FF2B5EF4-FFF2-40B4-BE49-F238E27FC236}">
                <a16:creationId xmlns:a16="http://schemas.microsoft.com/office/drawing/2014/main" id="{691D5CA9-32D1-38D1-B393-C42D202C3AF8}"/>
              </a:ext>
            </a:extLst>
          </p:cNvPr>
          <p:cNvSpPr/>
          <p:nvPr/>
        </p:nvSpPr>
        <p:spPr>
          <a:xfrm>
            <a:off x="431074" y="1578454"/>
            <a:ext cx="4343400" cy="274480"/>
          </a:xfrm>
          <a:prstGeom prst="rect">
            <a:avLst/>
          </a:prstGeom>
          <a:solidFill>
            <a:srgbClr val="2134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IBM Plex Sans Condensed" panose="020B0506050203000203" pitchFamily="34" charset="77"/>
              </a:rPr>
              <a:t>Approach #1 – Crude Oil vs. NOT Crude Oil</a:t>
            </a:r>
          </a:p>
        </p:txBody>
      </p:sp>
      <p:sp>
        <p:nvSpPr>
          <p:cNvPr id="9" name="Rectangle 8">
            <a:extLst>
              <a:ext uri="{FF2B5EF4-FFF2-40B4-BE49-F238E27FC236}">
                <a16:creationId xmlns:a16="http://schemas.microsoft.com/office/drawing/2014/main" id="{4E98AB9A-73DB-552B-AEA2-F1183214CACB}"/>
              </a:ext>
            </a:extLst>
          </p:cNvPr>
          <p:cNvSpPr/>
          <p:nvPr/>
        </p:nvSpPr>
        <p:spPr>
          <a:xfrm>
            <a:off x="431075" y="1852934"/>
            <a:ext cx="11325494" cy="6042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latin typeface="IBM Plex Sans Condensed" panose="020B0506050203000203" pitchFamily="34" charset="77"/>
              </a:rPr>
              <a:t>…</a:t>
            </a:r>
          </a:p>
        </p:txBody>
      </p:sp>
      <p:cxnSp>
        <p:nvCxnSpPr>
          <p:cNvPr id="2" name="Straight Connector 1">
            <a:extLst>
              <a:ext uri="{FF2B5EF4-FFF2-40B4-BE49-F238E27FC236}">
                <a16:creationId xmlns:a16="http://schemas.microsoft.com/office/drawing/2014/main" id="{8E6A056F-CCD7-E973-BB13-E8C45637CED5}"/>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023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Regulations &amp; Implications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290763" y="1047347"/>
            <a:ext cx="11682892" cy="369332"/>
          </a:xfrm>
          <a:prstGeom prst="rect">
            <a:avLst/>
          </a:prstGeom>
          <a:noFill/>
        </p:spPr>
        <p:txBody>
          <a:bodyPr wrap="square" rtlCol="0">
            <a:spAutoFit/>
          </a:bodyPr>
          <a:lstStyle/>
          <a:p>
            <a:r>
              <a:rPr lang="en-US" dirty="0">
                <a:latin typeface="IBM Plex Sans Condensed" panose="020B0506050203000203" pitchFamily="34" charset="77"/>
              </a:rPr>
              <a:t>Looking at … data in 2 steps</a:t>
            </a:r>
          </a:p>
        </p:txBody>
      </p:sp>
      <p:cxnSp>
        <p:nvCxnSpPr>
          <p:cNvPr id="3" name="Straight Connector 2">
            <a:extLst>
              <a:ext uri="{FF2B5EF4-FFF2-40B4-BE49-F238E27FC236}">
                <a16:creationId xmlns:a16="http://schemas.microsoft.com/office/drawing/2014/main" id="{74DD0D0A-05E0-08B5-7489-888377C8F00A}"/>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416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Approach</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DA76F35-D9B8-C9A4-D281-3E7D21973AFB}"/>
              </a:ext>
            </a:extLst>
          </p:cNvPr>
          <p:cNvSpPr txBox="1"/>
          <p:nvPr/>
        </p:nvSpPr>
        <p:spPr>
          <a:xfrm>
            <a:off x="348343" y="1910250"/>
            <a:ext cx="10162903" cy="2677656"/>
          </a:xfrm>
          <a:prstGeom prst="rect">
            <a:avLst/>
          </a:prstGeom>
          <a:noFill/>
        </p:spPr>
        <p:txBody>
          <a:bodyPr wrap="square" rtlCol="0">
            <a:spAutoFit/>
          </a:bodyPr>
          <a:lstStyle/>
          <a:p>
            <a:r>
              <a:rPr lang="en-US" sz="1200" b="1" dirty="0">
                <a:latin typeface="IBM Plex Sans Condensed" panose="020B0506050203000203" pitchFamily="34" charset="77"/>
              </a:rPr>
              <a:t>About crude oil</a:t>
            </a:r>
          </a:p>
          <a:p>
            <a:r>
              <a:rPr lang="en-US" sz="1200" dirty="0">
                <a:latin typeface="IBM Plex Sans Condensed" panose="020B0506050203000203" pitchFamily="34" charset="77"/>
              </a:rPr>
              <a:t>- made up of hydrocarbons (by weight carbon, some hydrogen)</a:t>
            </a:r>
          </a:p>
          <a:p>
            <a:r>
              <a:rPr lang="en-US" sz="1200" dirty="0">
                <a:latin typeface="IBM Plex Sans Condensed" panose="020B0506050203000203" pitchFamily="34" charset="77"/>
              </a:rPr>
              <a:t>- Physical properties: can be light, medium, or heavy – API gravity</a:t>
            </a:r>
          </a:p>
          <a:p>
            <a:r>
              <a:rPr lang="en-US" sz="1200" dirty="0">
                <a:latin typeface="IBM Plex Sans Condensed" panose="020B0506050203000203" pitchFamily="34" charset="77"/>
              </a:rPr>
              <a:t>- Chemical properties: can be sour or sweet depending on sulfur content</a:t>
            </a:r>
          </a:p>
          <a:p>
            <a:endParaRPr lang="en-US" sz="1200" dirty="0">
              <a:latin typeface="IBM Plex Sans Condensed" panose="020B0506050203000203" pitchFamily="34" charset="77"/>
            </a:endParaRPr>
          </a:p>
          <a:p>
            <a:r>
              <a:rPr lang="en-US" sz="1200" b="1" dirty="0">
                <a:latin typeface="IBM Plex Sans Condensed" panose="020B0506050203000203" pitchFamily="34" charset="77"/>
              </a:rPr>
              <a:t>Hypothesis</a:t>
            </a:r>
          </a:p>
          <a:p>
            <a:r>
              <a:rPr lang="en-US" sz="1200" dirty="0">
                <a:latin typeface="IBM Plex Sans Condensed" panose="020B0506050203000203" pitchFamily="34" charset="77"/>
              </a:rPr>
              <a:t> - sour is more corrosive than sweet</a:t>
            </a:r>
          </a:p>
          <a:p>
            <a:r>
              <a:rPr lang="en-US" sz="1200" dirty="0">
                <a:latin typeface="IBM Plex Sans Condensed" panose="020B0506050203000203" pitchFamily="34" charset="77"/>
              </a:rPr>
              <a:t>- heavier affects how it flows – more pressure and energy required to pump the oil</a:t>
            </a:r>
          </a:p>
          <a:p>
            <a:r>
              <a:rPr lang="en-US" sz="1200" dirty="0">
                <a:latin typeface="IBM Plex Sans Condensed" panose="020B0506050203000203" pitchFamily="34" charset="77"/>
              </a:rPr>
              <a:t>	but light are more flammable</a:t>
            </a:r>
          </a:p>
          <a:p>
            <a:r>
              <a:rPr lang="en-US" sz="1200" dirty="0">
                <a:latin typeface="IBM Plex Sans Condensed" panose="020B0506050203000203" pitchFamily="34" charset="77"/>
              </a:rPr>
              <a:t>Make sure to use this:</a:t>
            </a:r>
          </a:p>
          <a:p>
            <a:r>
              <a:rPr lang="en-US" sz="1200" dirty="0">
                <a:latin typeface="IBM Plex Sans Condensed" panose="020B0506050203000203" pitchFamily="34" charset="77"/>
              </a:rPr>
              <a:t>	</a:t>
            </a:r>
            <a:r>
              <a:rPr lang="en-US" sz="1200" dirty="0">
                <a:latin typeface="IBM Plex Sans Condensed" panose="020B0506050203000203" pitchFamily="34" charset="77"/>
                <a:hlinkClick r:id="rId3"/>
              </a:rPr>
              <a:t>https://www.epa.gov/emergency-response/types-crude-oil</a:t>
            </a:r>
            <a:endParaRPr lang="en-US" sz="1200" dirty="0">
              <a:latin typeface="IBM Plex Sans Condensed" panose="020B0506050203000203" pitchFamily="34" charset="77"/>
            </a:endParaRPr>
          </a:p>
          <a:p>
            <a:endParaRPr lang="en-US" sz="1200" dirty="0">
              <a:latin typeface="IBM Plex Sans Condensed" panose="020B0506050203000203" pitchFamily="34" charset="77"/>
            </a:endParaRPr>
          </a:p>
          <a:p>
            <a:endParaRPr lang="en-US" sz="1200" dirty="0">
              <a:latin typeface="IBM Plex Sans Condensed" panose="020B0506050203000203" pitchFamily="34" charset="77"/>
            </a:endParaRPr>
          </a:p>
          <a:p>
            <a:r>
              <a:rPr lang="en-US" sz="1200" dirty="0">
                <a:latin typeface="IBM Plex Sans Condensed" panose="020B0506050203000203" pitchFamily="34" charset="77"/>
              </a:rPr>
              <a:t>FUTURE INVESTIGATION: material of pipe</a:t>
            </a:r>
          </a:p>
        </p:txBody>
      </p:sp>
      <p:sp>
        <p:nvSpPr>
          <p:cNvPr id="2" name="TextBox 1">
            <a:extLst>
              <a:ext uri="{FF2B5EF4-FFF2-40B4-BE49-F238E27FC236}">
                <a16:creationId xmlns:a16="http://schemas.microsoft.com/office/drawing/2014/main" id="{8446A0DB-5D02-B35C-44C5-F05E5426C5DF}"/>
              </a:ext>
            </a:extLst>
          </p:cNvPr>
          <p:cNvSpPr txBox="1"/>
          <p:nvPr/>
        </p:nvSpPr>
        <p:spPr>
          <a:xfrm>
            <a:off x="290763" y="1047347"/>
            <a:ext cx="11682892" cy="369332"/>
          </a:xfrm>
          <a:prstGeom prst="rect">
            <a:avLst/>
          </a:prstGeom>
          <a:noFill/>
        </p:spPr>
        <p:txBody>
          <a:bodyPr wrap="square" rtlCol="0">
            <a:spAutoFit/>
          </a:bodyPr>
          <a:lstStyle/>
          <a:p>
            <a:r>
              <a:rPr lang="en-US" dirty="0">
                <a:latin typeface="IBM Plex Sans Condensed" panose="020B0506050203000203" pitchFamily="34" charset="77"/>
              </a:rPr>
              <a:t>Investigating properties of crude oil so that a logical approach can be taken to solve the problem. </a:t>
            </a:r>
          </a:p>
        </p:txBody>
      </p:sp>
      <p:sp>
        <p:nvSpPr>
          <p:cNvPr id="3" name="Rectangle 2">
            <a:extLst>
              <a:ext uri="{FF2B5EF4-FFF2-40B4-BE49-F238E27FC236}">
                <a16:creationId xmlns:a16="http://schemas.microsoft.com/office/drawing/2014/main" id="{CDAB2620-6329-77FE-F22C-EE6FD7271ACC}"/>
              </a:ext>
            </a:extLst>
          </p:cNvPr>
          <p:cNvSpPr/>
          <p:nvPr/>
        </p:nvSpPr>
        <p:spPr>
          <a:xfrm>
            <a:off x="7768046" y="2316480"/>
            <a:ext cx="2673531" cy="188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IBM Plex Sans Condensed" panose="020B0506050203000203" pitchFamily="34" charset="77"/>
              </a:rPr>
              <a:t>Mention that is </a:t>
            </a:r>
            <a:r>
              <a:rPr lang="en-US" dirty="0" err="1">
                <a:latin typeface="IBM Plex Sans Condensed" panose="020B0506050203000203" pitchFamily="34" charset="77"/>
              </a:rPr>
              <a:t>tartd</a:t>
            </a:r>
            <a:r>
              <a:rPr lang="en-US" dirty="0">
                <a:latin typeface="IBM Plex Sans Condensed" panose="020B0506050203000203" pitchFamily="34" charset="77"/>
              </a:rPr>
              <a:t> with dataset A because it focused on pipeline incidents (and not facilities)</a:t>
            </a:r>
          </a:p>
        </p:txBody>
      </p:sp>
      <p:cxnSp>
        <p:nvCxnSpPr>
          <p:cNvPr id="5" name="Straight Connector 4">
            <a:extLst>
              <a:ext uri="{FF2B5EF4-FFF2-40B4-BE49-F238E27FC236}">
                <a16:creationId xmlns:a16="http://schemas.microsoft.com/office/drawing/2014/main" id="{B3F2107A-182B-4A5F-DA75-E8FE528A1CD7}"/>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1056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Validere Acquires Regulatory Reporting Platform Clairifi - Validere">
            <a:extLst>
              <a:ext uri="{FF2B5EF4-FFF2-40B4-BE49-F238E27FC236}">
                <a16:creationId xmlns:a16="http://schemas.microsoft.com/office/drawing/2014/main" id="{0FDE1F5C-16C5-8498-9DE0-2E46B12DF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22"/>
            <a:ext cx="12192000" cy="68427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Validere Acquires Regulatory Reporting Platform Clairifi - Validere">
            <a:extLst>
              <a:ext uri="{FF2B5EF4-FFF2-40B4-BE49-F238E27FC236}">
                <a16:creationId xmlns:a16="http://schemas.microsoft.com/office/drawing/2014/main" id="{475AA453-2540-595C-9AF1-ABAB7EF5035B}"/>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004B03C2-6477-2A74-0083-A9F5951280FC}"/>
              </a:ext>
            </a:extLst>
          </p:cNvPr>
          <p:cNvSpPr/>
          <p:nvPr/>
        </p:nvSpPr>
        <p:spPr>
          <a:xfrm>
            <a:off x="720864" y="3039815"/>
            <a:ext cx="6698838" cy="4767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latin typeface="Spectral" panose="02020502060000000000" pitchFamily="18" charset="77"/>
              </a:rPr>
              <a:t>References</a:t>
            </a:r>
          </a:p>
        </p:txBody>
      </p:sp>
      <p:cxnSp>
        <p:nvCxnSpPr>
          <p:cNvPr id="10" name="Straight Connector 9">
            <a:extLst>
              <a:ext uri="{FF2B5EF4-FFF2-40B4-BE49-F238E27FC236}">
                <a16:creationId xmlns:a16="http://schemas.microsoft.com/office/drawing/2014/main" id="{CE84DF27-E37A-EC8D-0CD1-61C6DB80C986}"/>
              </a:ext>
            </a:extLst>
          </p:cNvPr>
          <p:cNvCxnSpPr>
            <a:cxnSpLocks/>
          </p:cNvCxnSpPr>
          <p:nvPr/>
        </p:nvCxnSpPr>
        <p:spPr>
          <a:xfrm>
            <a:off x="827314" y="3579789"/>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83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References</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446A0DB-5D02-B35C-44C5-F05E5426C5DF}"/>
              </a:ext>
            </a:extLst>
          </p:cNvPr>
          <p:cNvSpPr txBox="1"/>
          <p:nvPr/>
        </p:nvSpPr>
        <p:spPr>
          <a:xfrm>
            <a:off x="290763" y="1047347"/>
            <a:ext cx="11682892" cy="2862322"/>
          </a:xfrm>
          <a:prstGeom prst="rect">
            <a:avLst/>
          </a:prstGeom>
          <a:noFill/>
        </p:spPr>
        <p:txBody>
          <a:bodyPr wrap="square" rtlCol="0">
            <a:spAutoFit/>
          </a:bodyPr>
          <a:lstStyle/>
          <a:p>
            <a:pPr marL="342900" indent="-342900">
              <a:buAutoNum type="arabicPeriod"/>
            </a:pPr>
            <a:r>
              <a:rPr lang="en-US" dirty="0">
                <a:latin typeface="IBM Plex Sans Condensed" panose="020B0506050203000203" pitchFamily="34" charset="77"/>
              </a:rPr>
              <a:t>TABLE - AFPM - Survey of Crude Oil Characteristics</a:t>
            </a:r>
          </a:p>
          <a:p>
            <a:pPr marL="342900" indent="-342900">
              <a:buAutoNum type="arabicPeriod"/>
            </a:pPr>
            <a:r>
              <a:rPr lang="en-US" dirty="0">
                <a:latin typeface="IBM Plex Sans Condensed" panose="020B0506050203000203" pitchFamily="34" charset="77"/>
              </a:rPr>
              <a:t>Types of crude oil – EPA</a:t>
            </a:r>
          </a:p>
          <a:p>
            <a:pPr marL="342900" indent="-342900">
              <a:buAutoNum type="arabicPeriod"/>
            </a:pPr>
            <a:r>
              <a:rPr lang="en-US" dirty="0">
                <a:latin typeface="IBM Plex Sans Condensed" panose="020B0506050203000203" pitchFamily="34" charset="77"/>
              </a:rPr>
              <a:t>Measurement of weight (API) for crude oil - </a:t>
            </a:r>
            <a:r>
              <a:rPr lang="en-US" dirty="0">
                <a:latin typeface="IBM Plex Sans Condensed" panose="020B0506050203000203" pitchFamily="34" charset="77"/>
                <a:hlinkClick r:id="rId3"/>
              </a:rPr>
              <a:t>https://www.eia.gov/dnav/pet/TblDefs/pet_pnp_crq_tbldef2.asp</a:t>
            </a:r>
            <a:endParaRPr lang="en-US" dirty="0">
              <a:latin typeface="IBM Plex Sans Condensed" panose="020B0506050203000203" pitchFamily="34" charset="77"/>
            </a:endParaRPr>
          </a:p>
          <a:p>
            <a:pPr marL="342900" indent="-342900">
              <a:buAutoNum type="arabicPeriod"/>
            </a:pPr>
            <a:r>
              <a:rPr lang="en-US" dirty="0">
                <a:latin typeface="IBM Plex Sans Condensed" panose="020B0506050203000203" pitchFamily="34" charset="77"/>
              </a:rPr>
              <a:t>Sweet vs. sour - </a:t>
            </a:r>
            <a:r>
              <a:rPr lang="en-US" dirty="0">
                <a:latin typeface="IBM Plex Sans Condensed" panose="020B0506050203000203" pitchFamily="34" charset="77"/>
                <a:hlinkClick r:id="rId4"/>
              </a:rPr>
              <a:t>https://www.pipesearch.com/blog/sweet-and-sour-crude-oil/136</a:t>
            </a:r>
            <a:endParaRPr lang="en-US" dirty="0">
              <a:latin typeface="IBM Plex Sans Condensed" panose="020B0506050203000203" pitchFamily="34" charset="77"/>
            </a:endParaRPr>
          </a:p>
          <a:p>
            <a:pPr marL="342900" indent="-342900">
              <a:buAutoNum type="arabicPeriod"/>
            </a:pPr>
            <a:r>
              <a:rPr lang="en-US" dirty="0">
                <a:latin typeface="IBM Plex Sans Condensed" panose="020B0506050203000203" pitchFamily="34" charset="77"/>
              </a:rPr>
              <a:t>Pipeline failure causes (PHMSA) - </a:t>
            </a:r>
            <a:r>
              <a:rPr lang="en-US" dirty="0">
                <a:latin typeface="IBM Plex Sans Condensed" panose="020B0506050203000203" pitchFamily="34" charset="77"/>
                <a:hlinkClick r:id="rId5"/>
              </a:rPr>
              <a:t>https://www.phmsa.dot.gov/incident-reporting/accident-investigation-division/pipeline-failure-causes</a:t>
            </a:r>
            <a:endParaRPr lang="en-US" dirty="0">
              <a:latin typeface="IBM Plex Sans Condensed" panose="020B0506050203000203" pitchFamily="34" charset="77"/>
            </a:endParaRPr>
          </a:p>
          <a:p>
            <a:pPr marL="342900" indent="-342900">
              <a:buAutoNum type="arabicPeriod"/>
            </a:pPr>
            <a:r>
              <a:rPr lang="en-US" dirty="0">
                <a:latin typeface="IBM Plex Sans Condensed" panose="020B0506050203000203" pitchFamily="34" charset="77"/>
              </a:rPr>
              <a:t>CER regulation of pipelines - </a:t>
            </a:r>
            <a:r>
              <a:rPr lang="en-US" dirty="0">
                <a:latin typeface="IBM Plex Sans Condensed" panose="020B0506050203000203" pitchFamily="34" charset="77"/>
                <a:hlinkClick r:id="rId6"/>
              </a:rPr>
              <a:t>https://natural-resources.canada.ca/our-natural-resources/energy-sources-distribution/fossil-fuels/pipelines/faqs-federally-regulated-petroleum-pipelines-canada/5893#h-4-1</a:t>
            </a:r>
            <a:endParaRPr lang="en-US" dirty="0">
              <a:latin typeface="IBM Plex Sans Condensed" panose="020B0506050203000203" pitchFamily="34" charset="77"/>
            </a:endParaRPr>
          </a:p>
          <a:p>
            <a:pPr marL="342900" indent="-342900">
              <a:buAutoNum type="arabicPeriod"/>
            </a:pPr>
            <a:r>
              <a:rPr lang="en-US" dirty="0">
                <a:latin typeface="IBM Plex Sans Condensed" panose="020B0506050203000203" pitchFamily="34" charset="77"/>
              </a:rPr>
              <a:t>PHMSA - </a:t>
            </a:r>
            <a:r>
              <a:rPr lang="en-US" dirty="0">
                <a:latin typeface="IBM Plex Sans Condensed" panose="020B0506050203000203" pitchFamily="34" charset="77"/>
                <a:hlinkClick r:id="rId7"/>
              </a:rPr>
              <a:t>https://www.phmsa.dot.gov/regulations</a:t>
            </a:r>
            <a:endParaRPr lang="en-US" dirty="0">
              <a:latin typeface="IBM Plex Sans Condensed" panose="020B0506050203000203" pitchFamily="34" charset="77"/>
            </a:endParaRPr>
          </a:p>
          <a:p>
            <a:pPr marL="342900" indent="-342900">
              <a:buAutoNum type="arabicPeriod"/>
            </a:pPr>
            <a:r>
              <a:rPr lang="en-US" dirty="0">
                <a:latin typeface="IBM Plex Sans Condensed" panose="020B0506050203000203" pitchFamily="34" charset="77"/>
              </a:rPr>
              <a:t>Jan 1979 TSB datasets - https://</a:t>
            </a:r>
            <a:r>
              <a:rPr lang="en-US" dirty="0" err="1">
                <a:latin typeface="IBM Plex Sans Condensed" panose="020B0506050203000203" pitchFamily="34" charset="77"/>
              </a:rPr>
              <a:t>www.tsb.gc.ca</a:t>
            </a:r>
            <a:r>
              <a:rPr lang="en-US" dirty="0">
                <a:latin typeface="IBM Plex Sans Condensed" panose="020B0506050203000203" pitchFamily="34" charset="77"/>
              </a:rPr>
              <a:t>/</a:t>
            </a:r>
            <a:r>
              <a:rPr lang="en-US" dirty="0" err="1">
                <a:latin typeface="IBM Plex Sans Condensed" panose="020B0506050203000203" pitchFamily="34" charset="77"/>
              </a:rPr>
              <a:t>eng</a:t>
            </a:r>
            <a:r>
              <a:rPr lang="en-US" dirty="0">
                <a:latin typeface="IBM Plex Sans Condensed" panose="020B0506050203000203" pitchFamily="34" charset="77"/>
              </a:rPr>
              <a:t>/stats/pipeline/data-2.html</a:t>
            </a:r>
          </a:p>
        </p:txBody>
      </p:sp>
      <p:cxnSp>
        <p:nvCxnSpPr>
          <p:cNvPr id="3" name="Straight Connector 2">
            <a:extLst>
              <a:ext uri="{FF2B5EF4-FFF2-40B4-BE49-F238E27FC236}">
                <a16:creationId xmlns:a16="http://schemas.microsoft.com/office/drawing/2014/main" id="{64CED696-04EE-B81C-4804-319C0856FA9E}"/>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1974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Validere expands market fundamentals team with key new hires - Validere">
            <a:extLst>
              <a:ext uri="{FF2B5EF4-FFF2-40B4-BE49-F238E27FC236}">
                <a16:creationId xmlns:a16="http://schemas.microsoft.com/office/drawing/2014/main" id="{8C793E36-BE88-9323-69E1-1A63865EF6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055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Validere Acquires Regulatory Reporting Platform Clairifi - Validere">
            <a:extLst>
              <a:ext uri="{FF2B5EF4-FFF2-40B4-BE49-F238E27FC236}">
                <a16:creationId xmlns:a16="http://schemas.microsoft.com/office/drawing/2014/main" id="{F21EC8ED-FC03-53AF-EC97-8BE020DBED03}"/>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F136DB0-AC35-F84E-D5CC-DD041D591805}"/>
              </a:ext>
            </a:extLst>
          </p:cNvPr>
          <p:cNvSpPr/>
          <p:nvPr/>
        </p:nvSpPr>
        <p:spPr>
          <a:xfrm>
            <a:off x="720865" y="3039815"/>
            <a:ext cx="6698838" cy="4767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solidFill>
                  <a:schemeClr val="bg1"/>
                </a:solidFill>
                <a:latin typeface="Spectral" panose="02020502060000000000" pitchFamily="18" charset="77"/>
              </a:rPr>
              <a:t>Appendix</a:t>
            </a:r>
          </a:p>
        </p:txBody>
      </p:sp>
      <p:cxnSp>
        <p:nvCxnSpPr>
          <p:cNvPr id="5" name="Straight Connector 4">
            <a:extLst>
              <a:ext uri="{FF2B5EF4-FFF2-40B4-BE49-F238E27FC236}">
                <a16:creationId xmlns:a16="http://schemas.microsoft.com/office/drawing/2014/main" id="{A0EDBF0E-F28A-F1AA-F6B5-69E10160F312}"/>
              </a:ext>
            </a:extLst>
          </p:cNvPr>
          <p:cNvCxnSpPr>
            <a:cxnSpLocks/>
          </p:cNvCxnSpPr>
          <p:nvPr/>
        </p:nvCxnSpPr>
        <p:spPr>
          <a:xfrm>
            <a:off x="827314" y="3579789"/>
            <a:ext cx="6731726" cy="0"/>
          </a:xfrm>
          <a:prstGeom prst="line">
            <a:avLst/>
          </a:prstGeom>
          <a:ln w="28575">
            <a:solidFill>
              <a:srgbClr val="D6DBD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390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5E69D8-2133-86C5-C478-359118968E16}"/>
              </a:ext>
            </a:extLst>
          </p:cNvPr>
          <p:cNvSpPr/>
          <p:nvPr/>
        </p:nvSpPr>
        <p:spPr>
          <a:xfrm>
            <a:off x="233183" y="304280"/>
            <a:ext cx="11523387" cy="618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solidFill>
                  <a:srgbClr val="0A2636"/>
                </a:solidFill>
                <a:latin typeface="Spectral" panose="02020502060000000000" pitchFamily="18" charset="77"/>
              </a:rPr>
              <a:t>Appendix A: ____</a:t>
            </a:r>
          </a:p>
        </p:txBody>
      </p:sp>
      <p:pic>
        <p:nvPicPr>
          <p:cNvPr id="6" name="Picture 2" descr="Validere Acquires Regulatory Reporting Platform Clairifi - Validere">
            <a:extLst>
              <a:ext uri="{FF2B5EF4-FFF2-40B4-BE49-F238E27FC236}">
                <a16:creationId xmlns:a16="http://schemas.microsoft.com/office/drawing/2014/main" id="{5AE29AB1-08CB-3040-BAF6-3C2842084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8136" y="6313712"/>
            <a:ext cx="2385518" cy="2484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A0CCA5E9-1717-D49E-4416-88763975C56C}"/>
              </a:ext>
            </a:extLst>
          </p:cNvPr>
          <p:cNvGraphicFramePr>
            <a:graphicFrameLocks noGrp="1"/>
          </p:cNvGraphicFramePr>
          <p:nvPr>
            <p:extLst>
              <p:ext uri="{D42A27DB-BD31-4B8C-83A1-F6EECF244321}">
                <p14:modId xmlns:p14="http://schemas.microsoft.com/office/powerpoint/2010/main" val="458556974"/>
              </p:ext>
            </p:extLst>
          </p:nvPr>
        </p:nvGraphicFramePr>
        <p:xfrm>
          <a:off x="348343" y="1917941"/>
          <a:ext cx="4064001" cy="362712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4049625348"/>
                    </a:ext>
                  </a:extLst>
                </a:gridCol>
                <a:gridCol w="1354667">
                  <a:extLst>
                    <a:ext uri="{9D8B030D-6E8A-4147-A177-3AD203B41FA5}">
                      <a16:colId xmlns:a16="http://schemas.microsoft.com/office/drawing/2014/main" val="3951251874"/>
                    </a:ext>
                  </a:extLst>
                </a:gridCol>
                <a:gridCol w="1354667">
                  <a:extLst>
                    <a:ext uri="{9D8B030D-6E8A-4147-A177-3AD203B41FA5}">
                      <a16:colId xmlns:a16="http://schemas.microsoft.com/office/drawing/2014/main" val="1527429592"/>
                    </a:ext>
                  </a:extLst>
                </a:gridCol>
              </a:tblGrid>
              <a:tr h="148014">
                <a:tc>
                  <a:txBody>
                    <a:bodyPr/>
                    <a:lstStyle/>
                    <a:p>
                      <a:r>
                        <a:rPr lang="en-US" sz="1000" dirty="0">
                          <a:solidFill>
                            <a:schemeClr val="bg1"/>
                          </a:solidFill>
                          <a:latin typeface="IBM Plex Sans Condensed" panose="020B0506050203000203" pitchFamily="34" charset="77"/>
                        </a:rPr>
                        <a:t>Hydrocarbon gas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257E88"/>
                    </a:solidFill>
                  </a:tcPr>
                </a:tc>
                <a:tc>
                  <a:txBody>
                    <a:bodyPr/>
                    <a:lstStyle/>
                    <a:p>
                      <a:r>
                        <a:rPr lang="en-US" sz="1000" dirty="0">
                          <a:solidFill>
                            <a:schemeClr val="bg1"/>
                          </a:solidFill>
                          <a:latin typeface="IBM Plex Sans Condensed" panose="020B0506050203000203" pitchFamily="34" charset="77"/>
                        </a:rPr>
                        <a:t>Concentration in Liquid Volume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257E88"/>
                    </a:solidFill>
                  </a:tcPr>
                </a:tc>
                <a:tc>
                  <a:txBody>
                    <a:bodyPr/>
                    <a:lstStyle/>
                    <a:p>
                      <a:r>
                        <a:rPr lang="en-US" sz="1000" dirty="0">
                          <a:solidFill>
                            <a:schemeClr val="bg1"/>
                          </a:solidFill>
                          <a:latin typeface="IBM Plex Sans Condensed" panose="020B0506050203000203" pitchFamily="34" charset="77"/>
                        </a:rPr>
                        <a:t>DOT Classification</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257E88"/>
                    </a:solidFill>
                  </a:tcPr>
                </a:tc>
                <a:extLst>
                  <a:ext uri="{0D108BD9-81ED-4DB2-BD59-A6C34878D82A}">
                    <a16:rowId xmlns:a16="http://schemas.microsoft.com/office/drawing/2014/main" val="2553333783"/>
                  </a:ext>
                </a:extLst>
              </a:tr>
              <a:tr h="148014">
                <a:tc>
                  <a:txBody>
                    <a:bodyPr/>
                    <a:lstStyle/>
                    <a:p>
                      <a:r>
                        <a:rPr lang="en-US" sz="1000" dirty="0">
                          <a:latin typeface="IBM Plex Sans Condensed" panose="020B0506050203000203" pitchFamily="34" charset="77"/>
                        </a:rPr>
                        <a:t>Methane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&lt;0.01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4565260"/>
                  </a:ext>
                </a:extLst>
              </a:tr>
              <a:tr h="148014">
                <a:tc>
                  <a:txBody>
                    <a:bodyPr/>
                    <a:lstStyle/>
                    <a:p>
                      <a:r>
                        <a:rPr lang="en-US" sz="1000" dirty="0">
                          <a:latin typeface="IBM Plex Sans Condensed" panose="020B0506050203000203" pitchFamily="34" charset="77"/>
                        </a:rPr>
                        <a:t>Ethane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0996065"/>
                  </a:ext>
                </a:extLst>
              </a:tr>
              <a:tr h="148014">
                <a:tc>
                  <a:txBody>
                    <a:bodyPr/>
                    <a:lstStyle/>
                    <a:p>
                      <a:r>
                        <a:rPr lang="en-US" sz="1000" dirty="0">
                          <a:latin typeface="IBM Plex Sans Condensed" panose="020B0506050203000203" pitchFamily="34" charset="77"/>
                        </a:rPr>
                        <a:t>Propane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387885"/>
                  </a:ext>
                </a:extLst>
              </a:tr>
              <a:tr h="148014">
                <a:tc>
                  <a:txBody>
                    <a:bodyPr/>
                    <a:lstStyle/>
                    <a:p>
                      <a:r>
                        <a:rPr lang="en-US" sz="1000" dirty="0">
                          <a:latin typeface="IBM Plex Sans Condensed" panose="020B0506050203000203" pitchFamily="34" charset="77"/>
                        </a:rPr>
                        <a:t>Iso-Butane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0.46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8878070"/>
                  </a:ext>
                </a:extLst>
              </a:tr>
              <a:tr h="148014">
                <a:tc>
                  <a:txBody>
                    <a:bodyPr/>
                    <a:lstStyle/>
                    <a:p>
                      <a:r>
                        <a:rPr lang="en-US" sz="1000" dirty="0">
                          <a:latin typeface="IBM Plex Sans Condensed" panose="020B0506050203000203" pitchFamily="34" charset="77"/>
                        </a:rPr>
                        <a:t>N- Butane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2.36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IBM Plex Sans Condensed" panose="020B0506050203000203" pitchFamily="34" charset="77"/>
                        </a:rPr>
                        <a:t>Div. 2.1 Gas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104529"/>
                  </a:ext>
                </a:extLst>
              </a:tr>
              <a:tr h="148014">
                <a:tc>
                  <a:txBody>
                    <a:bodyPr/>
                    <a:lstStyle/>
                    <a:p>
                      <a:r>
                        <a:rPr lang="en-US" sz="1000" dirty="0">
                          <a:latin typeface="IBM Plex Sans Condensed" panose="020B0506050203000203" pitchFamily="34" charset="77"/>
                        </a:rPr>
                        <a:t>Total Gas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3.67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0" dirty="0">
                        <a:latin typeface="IBM Plex Sans Condensed" panose="020B0506050203000203" pitchFamily="34" charset="77"/>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2430970"/>
                  </a:ext>
                </a:extLst>
              </a:tr>
              <a:tr h="148014">
                <a:tc>
                  <a:txBody>
                    <a:bodyPr/>
                    <a:lstStyle/>
                    <a:p>
                      <a:r>
                        <a:rPr lang="en-US" sz="1000" dirty="0">
                          <a:latin typeface="IBM Plex Sans Condensed" panose="020B0506050203000203" pitchFamily="34" charset="77"/>
                        </a:rPr>
                        <a:t>Neopentane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&lt;0.01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5583352"/>
                  </a:ext>
                </a:extLst>
              </a:tr>
              <a:tr h="148014">
                <a:tc>
                  <a:txBody>
                    <a:bodyPr/>
                    <a:lstStyle/>
                    <a:p>
                      <a:r>
                        <a:rPr lang="en-US" sz="1000" dirty="0">
                          <a:latin typeface="IBM Plex Sans Condensed" panose="020B0506050203000203" pitchFamily="34" charset="77"/>
                        </a:rPr>
                        <a:t>Iso-Pentane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1.33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0501438"/>
                  </a:ext>
                </a:extLst>
              </a:tr>
              <a:tr h="148014">
                <a:tc>
                  <a:txBody>
                    <a:bodyPr/>
                    <a:lstStyle/>
                    <a:p>
                      <a:r>
                        <a:rPr lang="en-US" sz="1000" dirty="0">
                          <a:latin typeface="IBM Plex Sans Condensed" panose="020B0506050203000203" pitchFamily="34" charset="77"/>
                        </a:rPr>
                        <a:t>N-Pentane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2.36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8391748"/>
                  </a:ext>
                </a:extLst>
              </a:tr>
              <a:tr h="148014">
                <a:tc>
                  <a:txBody>
                    <a:bodyPr/>
                    <a:lstStyle/>
                    <a:p>
                      <a:r>
                        <a:rPr lang="en-US" sz="1000" dirty="0">
                          <a:latin typeface="IBM Plex Sans Condensed" panose="020B0506050203000203" pitchFamily="34" charset="77"/>
                        </a:rPr>
                        <a:t>Hexanes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4.10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Class3; PG II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4346941"/>
                  </a:ext>
                </a:extLst>
              </a:tr>
              <a:tr h="158152">
                <a:tc>
                  <a:txBody>
                    <a:bodyPr/>
                    <a:lstStyle/>
                    <a:p>
                      <a:r>
                        <a:rPr lang="en-US" sz="1000" dirty="0" err="1">
                          <a:latin typeface="IBM Plex Sans Condensed" panose="020B0506050203000203" pitchFamily="34" charset="77"/>
                        </a:rPr>
                        <a:t>Heptanes</a:t>
                      </a:r>
                      <a:r>
                        <a:rPr lang="en-US" sz="1000" dirty="0">
                          <a:latin typeface="IBM Plex Sans Condensed" panose="020B0506050203000203" pitchFamily="34" charset="77"/>
                        </a:rPr>
                        <a:t> Plus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88.56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latin typeface="IBM Plex Sans Condensed" panose="020B0506050203000203" pitchFamily="34" charset="77"/>
                        </a:rPr>
                        <a:t>Varies Class 3; PG II to combustible liquid to non-regulated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8399556"/>
                  </a:ext>
                </a:extLst>
              </a:tr>
              <a:tr h="148014">
                <a:tc>
                  <a:txBody>
                    <a:bodyPr/>
                    <a:lstStyle/>
                    <a:p>
                      <a:r>
                        <a:rPr lang="en-US" sz="1000" dirty="0">
                          <a:latin typeface="IBM Plex Sans Condensed" panose="020B0506050203000203" pitchFamily="34" charset="77"/>
                        </a:rPr>
                        <a:t>Benzenes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000" dirty="0">
                          <a:latin typeface="IBM Plex Sans Condensed" panose="020B0506050203000203" pitchFamily="34" charset="77"/>
                        </a:rPr>
                        <a:t>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r>
                        <a:rPr lang="en-US" sz="1000" dirty="0">
                          <a:latin typeface="IBM Plex Sans Condensed" panose="020B0506050203000203" pitchFamily="34" charset="77"/>
                        </a:rPr>
                        <a:t>Class 3; PG II</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02920469"/>
                  </a:ext>
                </a:extLst>
              </a:tr>
            </a:tbl>
          </a:graphicData>
        </a:graphic>
      </p:graphicFrame>
      <p:cxnSp>
        <p:nvCxnSpPr>
          <p:cNvPr id="2" name="Straight Connector 1">
            <a:extLst>
              <a:ext uri="{FF2B5EF4-FFF2-40B4-BE49-F238E27FC236}">
                <a16:creationId xmlns:a16="http://schemas.microsoft.com/office/drawing/2014/main" id="{504E4F31-6877-2D81-E605-66C7981CE34A}"/>
              </a:ext>
            </a:extLst>
          </p:cNvPr>
          <p:cNvCxnSpPr>
            <a:cxnSpLocks/>
          </p:cNvCxnSpPr>
          <p:nvPr/>
        </p:nvCxnSpPr>
        <p:spPr>
          <a:xfrm>
            <a:off x="-78377" y="923109"/>
            <a:ext cx="11834947" cy="0"/>
          </a:xfrm>
          <a:prstGeom prst="line">
            <a:avLst/>
          </a:prstGeom>
          <a:ln w="12700">
            <a:solidFill>
              <a:srgbClr val="0A2636"/>
            </a:solidFill>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E9550253-DEA6-9947-B00F-FF486CBBA0C4}"/>
              </a:ext>
            </a:extLst>
          </p:cNvPr>
          <p:cNvSpPr/>
          <p:nvPr/>
        </p:nvSpPr>
        <p:spPr>
          <a:xfrm>
            <a:off x="5183549" y="3002201"/>
            <a:ext cx="6573021" cy="853598"/>
          </a:xfrm>
          <a:prstGeom prst="roundRect">
            <a:avLst/>
          </a:prstGeom>
          <a:solidFill>
            <a:srgbClr val="F6F9FB"/>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rgbClr val="0A2636"/>
                </a:solidFill>
                <a:latin typeface="Spectral" panose="02020502060000000000" pitchFamily="18" charset="77"/>
              </a:rPr>
              <a:t>General </a:t>
            </a:r>
          </a:p>
          <a:p>
            <a:endParaRPr lang="en-US" sz="1100" dirty="0">
              <a:solidFill>
                <a:schemeClr val="tx1"/>
              </a:solidFill>
              <a:latin typeface="IBM Plex Sans Condensed" panose="020B0506050203000203" pitchFamily="34" charset="77"/>
            </a:endParaRPr>
          </a:p>
          <a:p>
            <a:r>
              <a:rPr lang="en-US" sz="1100" dirty="0">
                <a:solidFill>
                  <a:schemeClr val="tx1"/>
                </a:solidFill>
                <a:latin typeface="IBM Plex Sans Condensed" panose="020B0506050203000203" pitchFamily="34" charset="77"/>
              </a:rPr>
              <a:t>Crude oils are primarily composed of hydrocarbon gases and liquids. A sample breakdown of Bakken crude oil, considered a light crude oil, is given in Appendix A [1]. The DOT classification is a measurement of flammability (2.1 for gases, 3 for liquids).</a:t>
            </a:r>
          </a:p>
        </p:txBody>
      </p:sp>
    </p:spTree>
    <p:extLst>
      <p:ext uri="{BB962C8B-B14F-4D97-AF65-F5344CB8AC3E}">
        <p14:creationId xmlns:p14="http://schemas.microsoft.com/office/powerpoint/2010/main" val="1328600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5010</TotalTime>
  <Words>3180</Words>
  <Application>Microsoft Macintosh PowerPoint</Application>
  <PresentationFormat>Widescreen</PresentationFormat>
  <Paragraphs>362</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IBM Plex Sans Condensed</vt:lpstr>
      <vt:lpstr>Spectral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Kiera Mcwatt</dc:creator>
  <cp:lastModifiedBy>Kiera Mcwatt</cp:lastModifiedBy>
  <cp:revision>31</cp:revision>
  <dcterms:created xsi:type="dcterms:W3CDTF">2024-01-23T17:24:49Z</dcterms:created>
  <dcterms:modified xsi:type="dcterms:W3CDTF">2024-01-29T03:15:06Z</dcterms:modified>
</cp:coreProperties>
</file>