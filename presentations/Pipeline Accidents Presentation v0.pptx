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2"/>
    <p:sldId id="256" r:id="rId3"/>
    <p:sldId id="265" r:id="rId4"/>
    <p:sldId id="264" r:id="rId5"/>
    <p:sldId id="266" r:id="rId6"/>
    <p:sldId id="278" r:id="rId7"/>
    <p:sldId id="279" r:id="rId8"/>
    <p:sldId id="281" r:id="rId9"/>
    <p:sldId id="271" r:id="rId10"/>
    <p:sldId id="283" r:id="rId11"/>
    <p:sldId id="282" r:id="rId12"/>
    <p:sldId id="286" r:id="rId13"/>
    <p:sldId id="285" r:id="rId14"/>
    <p:sldId id="274" r:id="rId15"/>
    <p:sldId id="267" r:id="rId16"/>
    <p:sldId id="277" r:id="rId17"/>
    <p:sldId id="262" r:id="rId18"/>
    <p:sldId id="284" r:id="rId19"/>
    <p:sldId id="263" r:id="rId20"/>
    <p:sldId id="257" r:id="rId21"/>
    <p:sldId id="258" r:id="rId22"/>
    <p:sldId id="259" r:id="rId23"/>
    <p:sldId id="26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36AAB0"/>
    <a:srgbClr val="FFC000"/>
    <a:srgbClr val="000000"/>
    <a:srgbClr val="213442"/>
    <a:srgbClr val="257E88"/>
    <a:srgbClr val="D6DBDD"/>
    <a:srgbClr val="6EAED0"/>
    <a:srgbClr val="1D2C33"/>
    <a:srgbClr val="6EAE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60"/>
    <p:restoredTop sz="94593"/>
  </p:normalViewPr>
  <p:slideViewPr>
    <p:cSldViewPr snapToGrid="0">
      <p:cViewPr varScale="1">
        <p:scale>
          <a:sx n="119" d="100"/>
          <a:sy n="119" d="100"/>
        </p:scale>
        <p:origin x="49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C4D0A-E1ED-5C57-0D99-B029F91DC5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16C0ADC-07C5-0123-1C9B-27AEC2EC11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0A630FE-1D7B-7BB8-B07D-7B1179486125}"/>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5" name="Footer Placeholder 4">
            <a:extLst>
              <a:ext uri="{FF2B5EF4-FFF2-40B4-BE49-F238E27FC236}">
                <a16:creationId xmlns:a16="http://schemas.microsoft.com/office/drawing/2014/main" id="{4552BF43-605E-560E-FA8D-DAB08F3F63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B871D0-8173-D3B6-6E66-9BB502CC18B1}"/>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201728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E6529-5BE5-0AD8-CBC7-2ED6A8D099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6D7B846-0CB8-C82A-05C5-7F9FC1D438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BDF5E7-DAEB-33D0-4684-D9719C6DEC7C}"/>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5" name="Footer Placeholder 4">
            <a:extLst>
              <a:ext uri="{FF2B5EF4-FFF2-40B4-BE49-F238E27FC236}">
                <a16:creationId xmlns:a16="http://schemas.microsoft.com/office/drawing/2014/main" id="{ADDCB93A-7F23-4CEE-C8D4-7980371916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33780-3C2D-EEC4-59D0-90918FEF9383}"/>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68175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1EC98-330C-CE06-0378-5C02F8B43E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6B7DCBC-D9D3-9263-8DB2-3623EEA554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856E002-8F61-561F-86DB-40AB9AB570DB}"/>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5" name="Footer Placeholder 4">
            <a:extLst>
              <a:ext uri="{FF2B5EF4-FFF2-40B4-BE49-F238E27FC236}">
                <a16:creationId xmlns:a16="http://schemas.microsoft.com/office/drawing/2014/main" id="{1DE34117-CEC8-40CA-0A61-8BBC67A79D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EF6604-EACD-042C-4A34-1527D979109B}"/>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0624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06DAB-6F3C-D3B6-F9C5-993AA5190E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590C6E-9CEA-B52A-E10C-D8D9B8FB6E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3D157F-A9B5-9703-AC0C-FB6D8E4602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9B00BB-4211-C4B9-C9F7-80BB246F6353}"/>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6" name="Footer Placeholder 5">
            <a:extLst>
              <a:ext uri="{FF2B5EF4-FFF2-40B4-BE49-F238E27FC236}">
                <a16:creationId xmlns:a16="http://schemas.microsoft.com/office/drawing/2014/main" id="{470EB9D0-4D83-7ABA-F369-7C7189AADD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AF73CD-26B1-E97D-773B-6C7243EF625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247915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18774-24C1-6B70-E733-A582313BA9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B8002E-7618-100E-EA3B-6CBF5CFCD9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591FFC-B8EC-FA38-4CF7-F2F1130C09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FF3533-EE77-981D-2105-259256E7C4D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A876E7-62C5-18D1-BEED-B851930BC9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81756A-D127-74BD-A17A-B90B5EACA62C}"/>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8" name="Footer Placeholder 7">
            <a:extLst>
              <a:ext uri="{FF2B5EF4-FFF2-40B4-BE49-F238E27FC236}">
                <a16:creationId xmlns:a16="http://schemas.microsoft.com/office/drawing/2014/main" id="{1055A8B8-86AF-1434-1CFE-7EF2D53B848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1EFC9DB-C534-742D-6CD3-8420E29DD316}"/>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74012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42785-F6CF-8AAF-64C1-5004BC1B0A6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87C524-2E0E-CF5D-FD4B-D1AC319488CB}"/>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4" name="Footer Placeholder 3">
            <a:extLst>
              <a:ext uri="{FF2B5EF4-FFF2-40B4-BE49-F238E27FC236}">
                <a16:creationId xmlns:a16="http://schemas.microsoft.com/office/drawing/2014/main" id="{2DEE261A-4E0F-06A8-1E4C-A798E42FB6C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01D0BF-7E8D-D99E-BEF6-91D6645B884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79496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A2D605-B790-F0D4-8378-2CEDFF2A74FE}"/>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3" name="Footer Placeholder 2">
            <a:extLst>
              <a:ext uri="{FF2B5EF4-FFF2-40B4-BE49-F238E27FC236}">
                <a16:creationId xmlns:a16="http://schemas.microsoft.com/office/drawing/2014/main" id="{53238132-0A4F-03DF-58B1-94BF9128DF3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D6177E9-763D-2D5D-9D8C-97B20F8E4A7F}"/>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410957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EF000-DE8A-CE9E-41F4-F694C6CBC1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82CB7-DF53-D0A9-F02E-92927C209C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8594C14-7299-956F-C961-BED0731CD3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009C1-E38C-C2A1-7912-337666758055}"/>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6" name="Footer Placeholder 5">
            <a:extLst>
              <a:ext uri="{FF2B5EF4-FFF2-40B4-BE49-F238E27FC236}">
                <a16:creationId xmlns:a16="http://schemas.microsoft.com/office/drawing/2014/main" id="{E817D2FF-00E2-5DCA-C61F-695D851285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02D0CA8-769C-1161-F822-37861152E99E}"/>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3268242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42AE2-56A6-1953-1EC6-1C380A044A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107935E-DE29-E13C-2EFF-A731AE506F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573276-6F92-B28B-DFF6-B85B15CA0B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E0E02C-8F0E-0766-10B8-3D13F31EBC6D}"/>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6" name="Footer Placeholder 5">
            <a:extLst>
              <a:ext uri="{FF2B5EF4-FFF2-40B4-BE49-F238E27FC236}">
                <a16:creationId xmlns:a16="http://schemas.microsoft.com/office/drawing/2014/main" id="{39382496-98D3-8388-AD22-0F4E4D699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F996A0-FC2B-88E3-5E35-2293932622B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158459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66E25-C21D-D50B-12F1-31691B1134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38063E-5F85-1778-60EC-43CE2883133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4A609A-6CF0-65DD-7EB1-6AACF166AC98}"/>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5" name="Footer Placeholder 4">
            <a:extLst>
              <a:ext uri="{FF2B5EF4-FFF2-40B4-BE49-F238E27FC236}">
                <a16:creationId xmlns:a16="http://schemas.microsoft.com/office/drawing/2014/main" id="{0C48029D-4661-8072-483E-2EDA5A220B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99EDA1-A260-41E2-9E3A-54A9E1629DAA}"/>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081663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117EE9-2527-9EAC-DEDA-46B849C1D0A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E14748-244C-0064-4007-8F59163AEA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82F76A-A9E6-D00E-72F6-74D78A1A8B43}"/>
              </a:ext>
            </a:extLst>
          </p:cNvPr>
          <p:cNvSpPr>
            <a:spLocks noGrp="1"/>
          </p:cNvSpPr>
          <p:nvPr>
            <p:ph type="dt" sz="half" idx="10"/>
          </p:nvPr>
        </p:nvSpPr>
        <p:spPr/>
        <p:txBody>
          <a:bodyPr/>
          <a:lstStyle/>
          <a:p>
            <a:fld id="{F2B6BF67-2978-CE4D-8D5C-6E816D1CE5DA}" type="datetimeFigureOut">
              <a:rPr lang="en-US" smtClean="0"/>
              <a:t>1/28/24</a:t>
            </a:fld>
            <a:endParaRPr lang="en-US"/>
          </a:p>
        </p:txBody>
      </p:sp>
      <p:sp>
        <p:nvSpPr>
          <p:cNvPr id="5" name="Footer Placeholder 4">
            <a:extLst>
              <a:ext uri="{FF2B5EF4-FFF2-40B4-BE49-F238E27FC236}">
                <a16:creationId xmlns:a16="http://schemas.microsoft.com/office/drawing/2014/main" id="{288FDC10-B7C5-1653-745E-520E932248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A00E2E-4D15-2875-D036-3FB9C012BBAC}"/>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40224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0EE122-A685-2B1F-28CC-3E492A8655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FF6834F-F1AC-C207-8881-5AA24912A8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0FF414-9283-03A5-C327-17E5CB0EFD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B6BF67-2978-CE4D-8D5C-6E816D1CE5DA}" type="datetimeFigureOut">
              <a:rPr lang="en-US" smtClean="0"/>
              <a:t>1/28/24</a:t>
            </a:fld>
            <a:endParaRPr lang="en-US"/>
          </a:p>
        </p:txBody>
      </p:sp>
      <p:sp>
        <p:nvSpPr>
          <p:cNvPr id="5" name="Footer Placeholder 4">
            <a:extLst>
              <a:ext uri="{FF2B5EF4-FFF2-40B4-BE49-F238E27FC236}">
                <a16:creationId xmlns:a16="http://schemas.microsoft.com/office/drawing/2014/main" id="{0258DD94-17DC-117C-0836-3192D08ACE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F6908EB-6321-127E-2E17-10E2F54E60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330F7D-D613-E24A-9838-C4B5C3515E0D}" type="slidenum">
              <a:rPr lang="en-US" smtClean="0"/>
              <a:t>‹#›</a:t>
            </a:fld>
            <a:endParaRPr lang="en-US"/>
          </a:p>
        </p:txBody>
      </p:sp>
    </p:spTree>
    <p:extLst>
      <p:ext uri="{BB962C8B-B14F-4D97-AF65-F5344CB8AC3E}">
        <p14:creationId xmlns:p14="http://schemas.microsoft.com/office/powerpoint/2010/main" val="1450351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epa.gov/emergency-response/types-crude-oil" TargetMode="Externa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www.eia.gov/dnav/pet/TblDefs/pet_pnp_crq_tbldef2.asp" TargetMode="External"/><Relationship Id="rId7" Type="http://schemas.openxmlformats.org/officeDocument/2006/relationships/hyperlink" Target="https://www.phmsa.dot.gov/regulations" TargetMode="External"/><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hyperlink" Target="https://natural-resources.canada.ca/our-natural-resources/energy-sources-distribution/fossil-fuels/pipelines/faqs-federally-regulated-petroleum-pipelines-canada/5893#h-4-1" TargetMode="External"/><Relationship Id="rId5" Type="http://schemas.openxmlformats.org/officeDocument/2006/relationships/hyperlink" Target="https://www.phmsa.dot.gov/incident-reporting/accident-investigation-division/pipeline-failure-causes" TargetMode="External"/><Relationship Id="rId4" Type="http://schemas.openxmlformats.org/officeDocument/2006/relationships/hyperlink" Target="https://www.pipesearch.com/blog/sweet-and-sour-crude-oil/136"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141E8-7A77-B683-CBCA-B721AC37DBC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42D54F5-96FD-BFB9-21CC-0BD88CE6E898}"/>
              </a:ext>
            </a:extLst>
          </p:cNvPr>
          <p:cNvSpPr>
            <a:spLocks noGrp="1"/>
          </p:cNvSpPr>
          <p:nvPr>
            <p:ph idx="1"/>
          </p:nvPr>
        </p:nvSpPr>
        <p:spPr/>
        <p:txBody>
          <a:bodyPr/>
          <a:lstStyle/>
          <a:p>
            <a:endParaRPr lang="en-US"/>
          </a:p>
        </p:txBody>
      </p:sp>
      <p:pic>
        <p:nvPicPr>
          <p:cNvPr id="6146" name="Picture 2" descr="Why Is Validere a Great Place to Work? - Validere">
            <a:extLst>
              <a:ext uri="{FF2B5EF4-FFF2-40B4-BE49-F238E27FC236}">
                <a16:creationId xmlns:a16="http://schemas.microsoft.com/office/drawing/2014/main" id="{D4130606-64FB-7738-40AD-DD2BE50BA0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556"/>
          <a:stretch/>
        </p:blipFill>
        <p:spPr bwMode="auto">
          <a:xfrm flipH="1" flipV="1">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DB5877E-665B-64F8-9EF0-1F08DC10C61F}"/>
              </a:ext>
            </a:extLst>
          </p:cNvPr>
          <p:cNvSpPr/>
          <p:nvPr/>
        </p:nvSpPr>
        <p:spPr>
          <a:xfrm>
            <a:off x="729573" y="1784737"/>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chemeClr val="bg1"/>
                </a:solidFill>
              </a:rPr>
              <a:t>Properties of Crude Oil Responsible for Pipeline Accidents</a:t>
            </a:r>
          </a:p>
        </p:txBody>
      </p:sp>
      <p:sp>
        <p:nvSpPr>
          <p:cNvPr id="5" name="Rectangle 4">
            <a:extLst>
              <a:ext uri="{FF2B5EF4-FFF2-40B4-BE49-F238E27FC236}">
                <a16:creationId xmlns:a16="http://schemas.microsoft.com/office/drawing/2014/main" id="{88A1459F-5616-25FF-A46F-2D925E859077}"/>
              </a:ext>
            </a:extLst>
          </p:cNvPr>
          <p:cNvSpPr/>
          <p:nvPr/>
        </p:nvSpPr>
        <p:spPr>
          <a:xfrm>
            <a:off x="729573" y="3491387"/>
            <a:ext cx="5969541" cy="3615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bg1"/>
                </a:solidFill>
              </a:rPr>
              <a:t>Date: January 29, 2023</a:t>
            </a:r>
          </a:p>
        </p:txBody>
      </p:sp>
      <p:sp>
        <p:nvSpPr>
          <p:cNvPr id="6" name="Rectangle 5">
            <a:extLst>
              <a:ext uri="{FF2B5EF4-FFF2-40B4-BE49-F238E27FC236}">
                <a16:creationId xmlns:a16="http://schemas.microsoft.com/office/drawing/2014/main" id="{479A94D8-104F-A669-9211-52C5BED1D9DE}"/>
              </a:ext>
            </a:extLst>
          </p:cNvPr>
          <p:cNvSpPr/>
          <p:nvPr/>
        </p:nvSpPr>
        <p:spPr>
          <a:xfrm>
            <a:off x="729573" y="3142478"/>
            <a:ext cx="5969541" cy="3489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bg1"/>
                </a:solidFill>
              </a:rPr>
              <a:t>Created By: Cameron MacKinnon</a:t>
            </a:r>
          </a:p>
        </p:txBody>
      </p:sp>
      <p:cxnSp>
        <p:nvCxnSpPr>
          <p:cNvPr id="7" name="Straight Connector 6">
            <a:extLst>
              <a:ext uri="{FF2B5EF4-FFF2-40B4-BE49-F238E27FC236}">
                <a16:creationId xmlns:a16="http://schemas.microsoft.com/office/drawing/2014/main" id="{FE3C0BFB-6277-8E26-2255-59D04F6A73B4}"/>
              </a:ext>
            </a:extLst>
          </p:cNvPr>
          <p:cNvCxnSpPr>
            <a:cxnSpLocks/>
          </p:cNvCxnSpPr>
          <p:nvPr/>
        </p:nvCxnSpPr>
        <p:spPr>
          <a:xfrm>
            <a:off x="836023" y="3005024"/>
            <a:ext cx="6731726" cy="0"/>
          </a:xfrm>
          <a:prstGeom prst="line">
            <a:avLst/>
          </a:prstGeom>
          <a:ln w="38100">
            <a:solidFill>
              <a:srgbClr val="D6DBDD"/>
            </a:solidFill>
          </a:ln>
        </p:spPr>
        <p:style>
          <a:lnRef idx="1">
            <a:schemeClr val="accent1"/>
          </a:lnRef>
          <a:fillRef idx="0">
            <a:schemeClr val="accent1"/>
          </a:fillRef>
          <a:effectRef idx="0">
            <a:schemeClr val="accent1"/>
          </a:effectRef>
          <a:fontRef idx="minor">
            <a:schemeClr val="tx1"/>
          </a:fontRef>
        </p:style>
      </p:cxnSp>
      <p:pic>
        <p:nvPicPr>
          <p:cNvPr id="8" name="Picture 2" descr="Validere Acquires Regulatory Reporting Platform Clairifi - Validere">
            <a:extLst>
              <a:ext uri="{FF2B5EF4-FFF2-40B4-BE49-F238E27FC236}">
                <a16:creationId xmlns:a16="http://schemas.microsoft.com/office/drawing/2014/main" id="{3BF0D8B9-1BB4-7CC2-EDF9-838BE3BCC4B7}"/>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42245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Table of Contents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489166"/>
            <a:ext cx="10162903" cy="3970318"/>
          </a:xfrm>
          <a:prstGeom prst="rect">
            <a:avLst/>
          </a:prstGeom>
          <a:noFill/>
        </p:spPr>
        <p:txBody>
          <a:bodyPr wrap="square" rtlCol="0">
            <a:spAutoFit/>
          </a:bodyPr>
          <a:lstStyle/>
          <a:p>
            <a:pPr marL="342900" indent="-342900">
              <a:buFont typeface="Arial" panose="020B0604020202020204" pitchFamily="34" charset="0"/>
              <a:buChar char="•"/>
            </a:pPr>
            <a:r>
              <a:rPr lang="en-US" dirty="0"/>
              <a:t>Problem Statement</a:t>
            </a:r>
          </a:p>
          <a:p>
            <a:pPr marL="342900" indent="-342900">
              <a:buFont typeface="Arial" panose="020B0604020202020204" pitchFamily="34" charset="0"/>
              <a:buChar char="•"/>
            </a:pPr>
            <a:r>
              <a:rPr lang="en-US" dirty="0"/>
              <a:t>Scope</a:t>
            </a:r>
          </a:p>
          <a:p>
            <a:pPr marL="800100" lvl="1" indent="-342900">
              <a:buFont typeface="Arial" panose="020B0604020202020204" pitchFamily="34" charset="0"/>
              <a:buChar char="•"/>
            </a:pPr>
            <a:r>
              <a:rPr lang="en-US" dirty="0"/>
              <a:t>Pipeline Accidents</a:t>
            </a:r>
          </a:p>
          <a:p>
            <a:pPr marL="800100" lvl="1" indent="-342900">
              <a:buFont typeface="Arial" panose="020B0604020202020204" pitchFamily="34" charset="0"/>
              <a:buChar char="•"/>
            </a:pPr>
            <a:r>
              <a:rPr lang="en-US" dirty="0"/>
              <a:t>Pipeline Materials</a:t>
            </a:r>
          </a:p>
          <a:p>
            <a:pPr marL="342900" indent="-342900">
              <a:buFont typeface="Arial" panose="020B0604020202020204" pitchFamily="34" charset="0"/>
              <a:buChar char="•"/>
            </a:pPr>
            <a:r>
              <a:rPr lang="en-US" dirty="0"/>
              <a:t>Approach</a:t>
            </a:r>
          </a:p>
          <a:p>
            <a:pPr marL="800100" lvl="1" indent="-342900">
              <a:buFont typeface="Arial" panose="020B0604020202020204" pitchFamily="34" charset="0"/>
              <a:buChar char="•"/>
            </a:pPr>
            <a:r>
              <a:rPr lang="en-US" dirty="0"/>
              <a:t>Physical and Chemical Properties of Crude Oil</a:t>
            </a:r>
          </a:p>
          <a:p>
            <a:pPr marL="800100" lvl="1" indent="-342900">
              <a:buFont typeface="Arial" panose="020B0604020202020204" pitchFamily="34" charset="0"/>
              <a:buChar char="•"/>
            </a:pPr>
            <a:r>
              <a:rPr lang="en-US" dirty="0"/>
              <a:t>Hypothesis</a:t>
            </a:r>
          </a:p>
          <a:p>
            <a:pPr marL="342900" indent="-342900">
              <a:buFont typeface="Arial" panose="020B0604020202020204" pitchFamily="34" charset="0"/>
              <a:buChar char="•"/>
            </a:pPr>
            <a:r>
              <a:rPr lang="en-US" dirty="0"/>
              <a:t>Datasets</a:t>
            </a:r>
          </a:p>
          <a:p>
            <a:pPr marL="342900" indent="-342900">
              <a:buFont typeface="Arial" panose="020B0604020202020204" pitchFamily="34" charset="0"/>
              <a:buChar char="•"/>
            </a:pPr>
            <a:r>
              <a:rPr lang="en-US" dirty="0"/>
              <a:t>Analysis</a:t>
            </a:r>
          </a:p>
          <a:p>
            <a:pPr marL="342900" indent="-342900">
              <a:buFont typeface="Arial" panose="020B0604020202020204" pitchFamily="34" charset="0"/>
              <a:buChar char="•"/>
            </a:pPr>
            <a:r>
              <a:rPr lang="en-US" dirty="0"/>
              <a:t>Results</a:t>
            </a:r>
          </a:p>
          <a:p>
            <a:pPr marL="342900" indent="-342900">
              <a:buFont typeface="Arial" panose="020B0604020202020204" pitchFamily="34" charset="0"/>
              <a:buChar char="•"/>
            </a:pPr>
            <a:r>
              <a:rPr lang="en-US" dirty="0"/>
              <a:t>Conclusion / Future Investigation</a:t>
            </a:r>
          </a:p>
          <a:p>
            <a:pPr marL="342900" indent="-342900">
              <a:buFont typeface="Arial" panose="020B0604020202020204" pitchFamily="34" charset="0"/>
              <a:buChar char="•"/>
            </a:pPr>
            <a:r>
              <a:rPr lang="en-US" dirty="0"/>
              <a:t>Regulations &amp; Implications</a:t>
            </a:r>
          </a:p>
          <a:p>
            <a:pPr marL="342900" indent="-342900">
              <a:buFont typeface="Arial" panose="020B0604020202020204" pitchFamily="34" charset="0"/>
              <a:buChar char="•"/>
            </a:pPr>
            <a:r>
              <a:rPr lang="en-US" dirty="0"/>
              <a:t>References</a:t>
            </a:r>
          </a:p>
          <a:p>
            <a:pPr marL="342900" indent="-342900">
              <a:buFont typeface="Arial" panose="020B0604020202020204" pitchFamily="34" charset="0"/>
              <a:buChar char="•"/>
            </a:pPr>
            <a:r>
              <a:rPr lang="en-US" dirty="0"/>
              <a:t>Appendix</a:t>
            </a: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487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Problem Statement</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348343" y="1047347"/>
            <a:ext cx="11325495" cy="307777"/>
          </a:xfrm>
          <a:prstGeom prst="rect">
            <a:avLst/>
          </a:prstGeom>
          <a:noFill/>
        </p:spPr>
        <p:txBody>
          <a:bodyPr wrap="square" rtlCol="0">
            <a:spAutoFit/>
          </a:bodyPr>
          <a:lstStyle/>
          <a:p>
            <a:r>
              <a:rPr lang="en-US" sz="1400" dirty="0"/>
              <a:t>What qualities of crude oil lead to pipeline accidents and what are the related regulations?  </a:t>
            </a:r>
          </a:p>
        </p:txBody>
      </p:sp>
      <p:sp>
        <p:nvSpPr>
          <p:cNvPr id="3" name="Rectangle 2">
            <a:extLst>
              <a:ext uri="{FF2B5EF4-FFF2-40B4-BE49-F238E27FC236}">
                <a16:creationId xmlns:a16="http://schemas.microsoft.com/office/drawing/2014/main" id="{3AE8F328-242B-CA62-B910-BC5A7CA5CCB1}"/>
              </a:ext>
            </a:extLst>
          </p:cNvPr>
          <p:cNvSpPr/>
          <p:nvPr/>
        </p:nvSpPr>
        <p:spPr>
          <a:xfrm>
            <a:off x="431075" y="1802089"/>
            <a:ext cx="3587931" cy="489857"/>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Part A</a:t>
            </a:r>
          </a:p>
        </p:txBody>
      </p:sp>
      <p:sp>
        <p:nvSpPr>
          <p:cNvPr id="5" name="Rectangle 4">
            <a:extLst>
              <a:ext uri="{FF2B5EF4-FFF2-40B4-BE49-F238E27FC236}">
                <a16:creationId xmlns:a16="http://schemas.microsoft.com/office/drawing/2014/main" id="{BE1D5ACF-9C1F-29AA-A958-C9A2470EADB8}"/>
              </a:ext>
            </a:extLst>
          </p:cNvPr>
          <p:cNvSpPr/>
          <p:nvPr/>
        </p:nvSpPr>
        <p:spPr>
          <a:xfrm>
            <a:off x="431075" y="3473696"/>
            <a:ext cx="3587931" cy="489857"/>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Part B – Regulations &amp; Implications</a:t>
            </a:r>
          </a:p>
        </p:txBody>
      </p:sp>
      <p:sp>
        <p:nvSpPr>
          <p:cNvPr id="9" name="Rectangle 8">
            <a:extLst>
              <a:ext uri="{FF2B5EF4-FFF2-40B4-BE49-F238E27FC236}">
                <a16:creationId xmlns:a16="http://schemas.microsoft.com/office/drawing/2014/main" id="{C3EE2856-0C0B-F380-15D8-332C8F627E12}"/>
              </a:ext>
            </a:extLst>
          </p:cNvPr>
          <p:cNvSpPr/>
          <p:nvPr/>
        </p:nvSpPr>
        <p:spPr>
          <a:xfrm>
            <a:off x="431075" y="2291946"/>
            <a:ext cx="11325495" cy="4898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What physical or chemical properties of crude oil could be responsible for pipeline accidents?</a:t>
            </a:r>
          </a:p>
        </p:txBody>
      </p:sp>
      <p:sp>
        <p:nvSpPr>
          <p:cNvPr id="10" name="Rectangle 9">
            <a:extLst>
              <a:ext uri="{FF2B5EF4-FFF2-40B4-BE49-F238E27FC236}">
                <a16:creationId xmlns:a16="http://schemas.microsoft.com/office/drawing/2014/main" id="{4BD953D9-371A-5C60-4681-88D91CACE5C3}"/>
              </a:ext>
            </a:extLst>
          </p:cNvPr>
          <p:cNvSpPr/>
          <p:nvPr/>
        </p:nvSpPr>
        <p:spPr>
          <a:xfrm>
            <a:off x="431075" y="3963554"/>
            <a:ext cx="11325495" cy="9234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 What regulations on those properties would you recommend?</a:t>
            </a:r>
          </a:p>
          <a:p>
            <a:r>
              <a:rPr lang="en-US" sz="1400" dirty="0">
                <a:solidFill>
                  <a:schemeClr val="tx1"/>
                </a:solidFill>
              </a:rPr>
              <a:t>- Have we gotten better at regulating those properties over time?</a:t>
            </a:r>
          </a:p>
          <a:p>
            <a:r>
              <a:rPr lang="en-US" sz="1400" dirty="0">
                <a:solidFill>
                  <a:schemeClr val="tx1"/>
                </a:solidFill>
              </a:rPr>
              <a:t>- What implications on the oil market would these regulations have? </a:t>
            </a:r>
          </a:p>
          <a:p>
            <a:r>
              <a:rPr lang="en-US" sz="1400" dirty="0">
                <a:solidFill>
                  <a:schemeClr val="tx1"/>
                </a:solidFill>
              </a:rPr>
              <a:t>- How can success of these regulations be quantified in the short term and long term? </a:t>
            </a:r>
          </a:p>
        </p:txBody>
      </p:sp>
    </p:spTree>
    <p:extLst>
      <p:ext uri="{BB962C8B-B14F-4D97-AF65-F5344CB8AC3E}">
        <p14:creationId xmlns:p14="http://schemas.microsoft.com/office/powerpoint/2010/main" val="3876749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ESG Is Not a Black Box - Validere">
            <a:extLst>
              <a:ext uri="{FF2B5EF4-FFF2-40B4-BE49-F238E27FC236}">
                <a16:creationId xmlns:a16="http://schemas.microsoft.com/office/drawing/2014/main" id="{EA3C2ED1-6235-120F-BB67-8B382C3EA5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729573" y="2208713"/>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b="1" dirty="0">
                <a:solidFill>
                  <a:schemeClr val="bg1"/>
                </a:solidFill>
              </a:rPr>
              <a:t>Part A – Physical or Chemical Properties of Crude Oil that could be Responsible for Pipeline Accidents </a:t>
            </a:r>
          </a:p>
        </p:txBody>
      </p:sp>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cxnSp>
        <p:nvCxnSpPr>
          <p:cNvPr id="2" name="Straight Connector 1">
            <a:extLst>
              <a:ext uri="{FF2B5EF4-FFF2-40B4-BE49-F238E27FC236}">
                <a16:creationId xmlns:a16="http://schemas.microsoft.com/office/drawing/2014/main" id="{3B597046-2C0C-F03C-1EBC-7E510934E079}"/>
              </a:ext>
            </a:extLst>
          </p:cNvPr>
          <p:cNvCxnSpPr>
            <a:cxnSpLocks/>
          </p:cNvCxnSpPr>
          <p:nvPr/>
        </p:nvCxnSpPr>
        <p:spPr>
          <a:xfrm>
            <a:off x="827314" y="3579789"/>
            <a:ext cx="6731726" cy="0"/>
          </a:xfrm>
          <a:prstGeom prst="line">
            <a:avLst/>
          </a:prstGeom>
          <a:ln w="38100">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39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Crude Oil</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260183"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636D0E5C-832B-9E12-2DFD-71918E49D73D}"/>
              </a:ext>
            </a:extLst>
          </p:cNvPr>
          <p:cNvSpPr/>
          <p:nvPr/>
        </p:nvSpPr>
        <p:spPr>
          <a:xfrm>
            <a:off x="2139403" y="1801293"/>
            <a:ext cx="5024125" cy="66001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Crude oils are primarily composed of hydrocarbon gases and liquids. A sample breakdown of Bakken crude oil, considered a light crude oil, is given to the right [1]. The DOT classification is a measurement of flammability (2.1 for gases, 3 for liquids).</a:t>
            </a:r>
          </a:p>
        </p:txBody>
      </p:sp>
      <p:sp>
        <p:nvSpPr>
          <p:cNvPr id="22" name="Rounded Rectangle 21">
            <a:extLst>
              <a:ext uri="{FF2B5EF4-FFF2-40B4-BE49-F238E27FC236}">
                <a16:creationId xmlns:a16="http://schemas.microsoft.com/office/drawing/2014/main" id="{931CF134-3B7B-7650-80AD-962A8EAEF00A}"/>
              </a:ext>
            </a:extLst>
          </p:cNvPr>
          <p:cNvSpPr/>
          <p:nvPr/>
        </p:nvSpPr>
        <p:spPr>
          <a:xfrm>
            <a:off x="333468" y="2646674"/>
            <a:ext cx="1719937"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Physical Properties</a:t>
            </a:r>
          </a:p>
        </p:txBody>
      </p:sp>
      <p:sp>
        <p:nvSpPr>
          <p:cNvPr id="23" name="Rectangle 22">
            <a:extLst>
              <a:ext uri="{FF2B5EF4-FFF2-40B4-BE49-F238E27FC236}">
                <a16:creationId xmlns:a16="http://schemas.microsoft.com/office/drawing/2014/main" id="{4DC245F1-BD6C-B40D-D10E-8BF1FCF2A1E5}"/>
              </a:ext>
            </a:extLst>
          </p:cNvPr>
          <p:cNvSpPr/>
          <p:nvPr/>
        </p:nvSpPr>
        <p:spPr>
          <a:xfrm>
            <a:off x="2298336" y="2687091"/>
            <a:ext cx="2354220"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A: Light, Volatile Oils [2]</a:t>
            </a:r>
          </a:p>
        </p:txBody>
      </p:sp>
      <p:sp>
        <p:nvSpPr>
          <p:cNvPr id="24" name="Rectangle 23">
            <a:extLst>
              <a:ext uri="{FF2B5EF4-FFF2-40B4-BE49-F238E27FC236}">
                <a16:creationId xmlns:a16="http://schemas.microsoft.com/office/drawing/2014/main" id="{6F991887-4F70-54B3-1E4C-724330DDE77F}"/>
              </a:ext>
            </a:extLst>
          </p:cNvPr>
          <p:cNvSpPr/>
          <p:nvPr/>
        </p:nvSpPr>
        <p:spPr>
          <a:xfrm>
            <a:off x="4730932" y="268810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B: Non-Sticky Oils</a:t>
            </a:r>
          </a:p>
        </p:txBody>
      </p:sp>
      <p:sp>
        <p:nvSpPr>
          <p:cNvPr id="27" name="Rectangle 26">
            <a:extLst>
              <a:ext uri="{FF2B5EF4-FFF2-40B4-BE49-F238E27FC236}">
                <a16:creationId xmlns:a16="http://schemas.microsoft.com/office/drawing/2014/main" id="{2C1BD15A-2798-62AE-DFDA-FFE460ECC393}"/>
              </a:ext>
            </a:extLst>
          </p:cNvPr>
          <p:cNvSpPr/>
          <p:nvPr/>
        </p:nvSpPr>
        <p:spPr>
          <a:xfrm>
            <a:off x="2298335" y="2961674"/>
            <a:ext cx="2354219" cy="1149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Highly fluid</a:t>
            </a:r>
          </a:p>
          <a:p>
            <a:pPr marL="285750" indent="-285750">
              <a:buFont typeface="Arial" panose="020B0604020202020204" pitchFamily="34" charset="0"/>
              <a:buChar char="•"/>
            </a:pPr>
            <a:r>
              <a:rPr lang="en-US" sz="1000" dirty="0">
                <a:solidFill>
                  <a:schemeClr val="tx1"/>
                </a:solidFill>
              </a:rPr>
              <a:t>Often clear</a:t>
            </a:r>
          </a:p>
          <a:p>
            <a:pPr marL="285750" indent="-285750">
              <a:buFont typeface="Arial" panose="020B0604020202020204" pitchFamily="34" charset="0"/>
              <a:buChar char="•"/>
            </a:pPr>
            <a:r>
              <a:rPr lang="en-US" sz="1000" dirty="0">
                <a:solidFill>
                  <a:schemeClr val="tx1"/>
                </a:solidFill>
              </a:rPr>
              <a:t>Spread rapidly on solid or water surfaces</a:t>
            </a:r>
          </a:p>
          <a:p>
            <a:pPr marL="285750" indent="-285750">
              <a:buFont typeface="Arial" panose="020B0604020202020204" pitchFamily="34" charset="0"/>
              <a:buChar char="•"/>
            </a:pPr>
            <a:r>
              <a:rPr lang="en-US" sz="1000" dirty="0">
                <a:solidFill>
                  <a:schemeClr val="tx1"/>
                </a:solidFill>
              </a:rPr>
              <a:t>Have a strong odor</a:t>
            </a:r>
          </a:p>
          <a:p>
            <a:pPr marL="285750" indent="-285750">
              <a:buFont typeface="Arial" panose="020B0604020202020204" pitchFamily="34" charset="0"/>
              <a:buChar char="•"/>
            </a:pPr>
            <a:r>
              <a:rPr lang="en-US" sz="1000" dirty="0">
                <a:solidFill>
                  <a:schemeClr val="tx1"/>
                </a:solidFill>
              </a:rPr>
              <a:t>High evaporation rate</a:t>
            </a:r>
          </a:p>
          <a:p>
            <a:pPr marL="285750" indent="-285750">
              <a:buFont typeface="Arial" panose="020B0604020202020204" pitchFamily="34" charset="0"/>
              <a:buChar char="•"/>
            </a:pPr>
            <a:r>
              <a:rPr lang="en-US" sz="1000" dirty="0">
                <a:solidFill>
                  <a:schemeClr val="tx1"/>
                </a:solidFill>
              </a:rPr>
              <a:t>Usually flammable</a:t>
            </a:r>
          </a:p>
          <a:p>
            <a:pPr marL="285750" indent="-285750">
              <a:buFont typeface="Arial" panose="020B0604020202020204" pitchFamily="34" charset="0"/>
              <a:buChar char="•"/>
            </a:pPr>
            <a:endParaRPr lang="en-US" sz="1000" dirty="0">
              <a:solidFill>
                <a:schemeClr val="tx1"/>
              </a:solidFill>
            </a:endParaRPr>
          </a:p>
        </p:txBody>
      </p:sp>
      <p:sp>
        <p:nvSpPr>
          <p:cNvPr id="28" name="Rectangle 27">
            <a:extLst>
              <a:ext uri="{FF2B5EF4-FFF2-40B4-BE49-F238E27FC236}">
                <a16:creationId xmlns:a16="http://schemas.microsoft.com/office/drawing/2014/main" id="{9B82BC63-92A6-BAD7-FCAE-E227149A0273}"/>
              </a:ext>
            </a:extLst>
          </p:cNvPr>
          <p:cNvSpPr/>
          <p:nvPr/>
        </p:nvSpPr>
        <p:spPr>
          <a:xfrm>
            <a:off x="4730932" y="2945383"/>
            <a:ext cx="2354219" cy="7386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Waxy or oily</a:t>
            </a:r>
          </a:p>
          <a:p>
            <a:pPr marL="285750" indent="-285750">
              <a:buFont typeface="Arial" panose="020B0604020202020204" pitchFamily="34" charset="0"/>
              <a:buChar char="•"/>
            </a:pPr>
            <a:r>
              <a:rPr lang="en-US" sz="1000" dirty="0">
                <a:solidFill>
                  <a:schemeClr val="tx1"/>
                </a:solidFill>
              </a:rPr>
              <a:t>Less toxic</a:t>
            </a:r>
          </a:p>
          <a:p>
            <a:pPr marL="285750" indent="-285750">
              <a:buFont typeface="Arial" panose="020B0604020202020204" pitchFamily="34" charset="0"/>
              <a:buChar char="•"/>
            </a:pPr>
            <a:r>
              <a:rPr lang="en-US" sz="1000" dirty="0">
                <a:solidFill>
                  <a:schemeClr val="tx1"/>
                </a:solidFill>
              </a:rPr>
              <a:t>Penetrate porous substances</a:t>
            </a:r>
          </a:p>
          <a:p>
            <a:pPr marL="285750" indent="-285750">
              <a:buFont typeface="Arial" panose="020B0604020202020204" pitchFamily="34" charset="0"/>
              <a:buChar char="•"/>
            </a:pPr>
            <a:r>
              <a:rPr lang="en-US" sz="1000" dirty="0">
                <a:solidFill>
                  <a:schemeClr val="tx1"/>
                </a:solidFill>
              </a:rPr>
              <a:t>Evaporation of volatiles leads to Class C or D residue</a:t>
            </a:r>
          </a:p>
        </p:txBody>
      </p:sp>
      <p:cxnSp>
        <p:nvCxnSpPr>
          <p:cNvPr id="30" name="Straight Connector 29">
            <a:extLst>
              <a:ext uri="{FF2B5EF4-FFF2-40B4-BE49-F238E27FC236}">
                <a16:creationId xmlns:a16="http://schemas.microsoft.com/office/drawing/2014/main" id="{B1B3655C-4794-4CE4-9158-989BFFCA1E9C}"/>
              </a:ext>
            </a:extLst>
          </p:cNvPr>
          <p:cNvCxnSpPr/>
          <p:nvPr/>
        </p:nvCxnSpPr>
        <p:spPr>
          <a:xfrm>
            <a:off x="2298335" y="2900714"/>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87F1003-28BD-B113-109E-B451173D607F}"/>
              </a:ext>
            </a:extLst>
          </p:cNvPr>
          <p:cNvCxnSpPr/>
          <p:nvPr/>
        </p:nvCxnSpPr>
        <p:spPr>
          <a:xfrm>
            <a:off x="4809310" y="2905068"/>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EAD76F7A-6529-9CBD-E072-A32C5FC52596}"/>
              </a:ext>
            </a:extLst>
          </p:cNvPr>
          <p:cNvSpPr/>
          <p:nvPr/>
        </p:nvSpPr>
        <p:spPr>
          <a:xfrm>
            <a:off x="2298335" y="411120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C: Heavy, Sticky Oils</a:t>
            </a:r>
          </a:p>
        </p:txBody>
      </p:sp>
      <p:sp>
        <p:nvSpPr>
          <p:cNvPr id="33" name="Rectangle 32">
            <a:extLst>
              <a:ext uri="{FF2B5EF4-FFF2-40B4-BE49-F238E27FC236}">
                <a16:creationId xmlns:a16="http://schemas.microsoft.com/office/drawing/2014/main" id="{A3482493-CBB1-0892-F82B-E77BB0377AA3}"/>
              </a:ext>
            </a:extLst>
          </p:cNvPr>
          <p:cNvSpPr/>
          <p:nvPr/>
        </p:nvSpPr>
        <p:spPr>
          <a:xfrm>
            <a:off x="2298335" y="4368483"/>
            <a:ext cx="2354219" cy="7386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Viscous</a:t>
            </a:r>
          </a:p>
          <a:p>
            <a:pPr marL="285750" indent="-285750">
              <a:buFont typeface="Arial" panose="020B0604020202020204" pitchFamily="34" charset="0"/>
              <a:buChar char="•"/>
            </a:pPr>
            <a:r>
              <a:rPr lang="en-US" sz="1000" dirty="0">
                <a:solidFill>
                  <a:schemeClr val="tx1"/>
                </a:solidFill>
              </a:rPr>
              <a:t>Sticky or tarry</a:t>
            </a:r>
          </a:p>
          <a:p>
            <a:pPr marL="285750" indent="-285750">
              <a:buFont typeface="Arial" panose="020B0604020202020204" pitchFamily="34" charset="0"/>
              <a:buChar char="•"/>
            </a:pPr>
            <a:r>
              <a:rPr lang="en-US" sz="1000" dirty="0">
                <a:solidFill>
                  <a:schemeClr val="tx1"/>
                </a:solidFill>
              </a:rPr>
              <a:t>Brown or black</a:t>
            </a:r>
          </a:p>
        </p:txBody>
      </p:sp>
      <p:cxnSp>
        <p:nvCxnSpPr>
          <p:cNvPr id="34" name="Straight Connector 33">
            <a:extLst>
              <a:ext uri="{FF2B5EF4-FFF2-40B4-BE49-F238E27FC236}">
                <a16:creationId xmlns:a16="http://schemas.microsoft.com/office/drawing/2014/main" id="{6DE24D3F-695A-BC90-41BE-9D92BAFF9815}"/>
              </a:ext>
            </a:extLst>
          </p:cNvPr>
          <p:cNvCxnSpPr/>
          <p:nvPr/>
        </p:nvCxnSpPr>
        <p:spPr>
          <a:xfrm>
            <a:off x="2376713" y="4328168"/>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BE0A8636-50D8-8BCA-BD06-E24328315222}"/>
              </a:ext>
            </a:extLst>
          </p:cNvPr>
          <p:cNvSpPr/>
          <p:nvPr/>
        </p:nvSpPr>
        <p:spPr>
          <a:xfrm>
            <a:off x="4730931" y="411120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D: Non-fluid Oils</a:t>
            </a:r>
          </a:p>
        </p:txBody>
      </p:sp>
      <p:sp>
        <p:nvSpPr>
          <p:cNvPr id="39" name="Rectangle 38">
            <a:extLst>
              <a:ext uri="{FF2B5EF4-FFF2-40B4-BE49-F238E27FC236}">
                <a16:creationId xmlns:a16="http://schemas.microsoft.com/office/drawing/2014/main" id="{45CB12EF-39C5-C1EA-E6D2-4AD38E8E2400}"/>
              </a:ext>
            </a:extLst>
          </p:cNvPr>
          <p:cNvSpPr/>
          <p:nvPr/>
        </p:nvSpPr>
        <p:spPr>
          <a:xfrm>
            <a:off x="4730931" y="4368483"/>
            <a:ext cx="2354219" cy="7386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Relatively non-toxic</a:t>
            </a:r>
          </a:p>
          <a:p>
            <a:pPr marL="285750" indent="-285750">
              <a:buFont typeface="Arial" panose="020B0604020202020204" pitchFamily="34" charset="0"/>
              <a:buChar char="•"/>
            </a:pPr>
            <a:r>
              <a:rPr lang="en-US" sz="1000" dirty="0">
                <a:solidFill>
                  <a:schemeClr val="tx1"/>
                </a:solidFill>
              </a:rPr>
              <a:t>Do not penetrate porous substances</a:t>
            </a:r>
          </a:p>
          <a:p>
            <a:pPr marL="285750" indent="-285750">
              <a:buFont typeface="Arial" panose="020B0604020202020204" pitchFamily="34" charset="0"/>
              <a:buChar char="•"/>
            </a:pPr>
            <a:r>
              <a:rPr lang="en-US" sz="1000" dirty="0">
                <a:solidFill>
                  <a:schemeClr val="tx1"/>
                </a:solidFill>
              </a:rPr>
              <a:t>Black or dark brown</a:t>
            </a:r>
          </a:p>
        </p:txBody>
      </p:sp>
      <p:cxnSp>
        <p:nvCxnSpPr>
          <p:cNvPr id="40" name="Straight Connector 39">
            <a:extLst>
              <a:ext uri="{FF2B5EF4-FFF2-40B4-BE49-F238E27FC236}">
                <a16:creationId xmlns:a16="http://schemas.microsoft.com/office/drawing/2014/main" id="{AB83A383-69A1-9D02-2543-A50D0B967E47}"/>
              </a:ext>
            </a:extLst>
          </p:cNvPr>
          <p:cNvCxnSpPr/>
          <p:nvPr/>
        </p:nvCxnSpPr>
        <p:spPr>
          <a:xfrm>
            <a:off x="4809309" y="4328168"/>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AFFB841C-5C20-E60C-EE55-8F36671D336B}"/>
              </a:ext>
            </a:extLst>
          </p:cNvPr>
          <p:cNvSpPr txBox="1"/>
          <p:nvPr/>
        </p:nvSpPr>
        <p:spPr>
          <a:xfrm>
            <a:off x="348342" y="1047347"/>
            <a:ext cx="11408227" cy="523220"/>
          </a:xfrm>
          <a:prstGeom prst="rect">
            <a:avLst/>
          </a:prstGeom>
          <a:noFill/>
        </p:spPr>
        <p:txBody>
          <a:bodyPr wrap="square" rtlCol="0">
            <a:spAutoFit/>
          </a:bodyPr>
          <a:lstStyle/>
          <a:p>
            <a:r>
              <a:rPr lang="en-US" sz="1400" dirty="0"/>
              <a:t>To determine what underlying properties of crude oil could be contributing to pipeline accidents, we need to first understand the composition of crude oil. This includes its chemical composition, its physical properties, and any additional qualities that could be related to pipeline incidents. </a:t>
            </a:r>
          </a:p>
        </p:txBody>
      </p:sp>
      <p:sp>
        <p:nvSpPr>
          <p:cNvPr id="44" name="Rectangle 43">
            <a:extLst>
              <a:ext uri="{FF2B5EF4-FFF2-40B4-BE49-F238E27FC236}">
                <a16:creationId xmlns:a16="http://schemas.microsoft.com/office/drawing/2014/main" id="{A7BC24F4-A733-EE42-36D2-6F38A6418BE4}"/>
              </a:ext>
            </a:extLst>
          </p:cNvPr>
          <p:cNvSpPr/>
          <p:nvPr/>
        </p:nvSpPr>
        <p:spPr>
          <a:xfrm>
            <a:off x="333465" y="3148092"/>
            <a:ext cx="1719937" cy="17720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i="1" dirty="0">
                <a:solidFill>
                  <a:schemeClr val="tx1"/>
                </a:solidFill>
              </a:rPr>
              <a:t>The weight of crude oils is measured on an arbitrary scale based on their relative gravity/density to water, where water has 10 API gravity. Heavy crudes have an API of 22 or below, lighter crudes generally exceed 38 API. [3]</a:t>
            </a:r>
          </a:p>
        </p:txBody>
      </p:sp>
      <p:sp>
        <p:nvSpPr>
          <p:cNvPr id="45" name="Rounded Rectangle 44">
            <a:extLst>
              <a:ext uri="{FF2B5EF4-FFF2-40B4-BE49-F238E27FC236}">
                <a16:creationId xmlns:a16="http://schemas.microsoft.com/office/drawing/2014/main" id="{694DB9D0-D312-B8AA-E32A-4F32A40D98D3}"/>
              </a:ext>
            </a:extLst>
          </p:cNvPr>
          <p:cNvSpPr/>
          <p:nvPr/>
        </p:nvSpPr>
        <p:spPr>
          <a:xfrm>
            <a:off x="333466" y="5204752"/>
            <a:ext cx="1719937"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Chemical Properties</a:t>
            </a:r>
          </a:p>
        </p:txBody>
      </p:sp>
      <p:sp>
        <p:nvSpPr>
          <p:cNvPr id="46" name="Rectangle 45">
            <a:extLst>
              <a:ext uri="{FF2B5EF4-FFF2-40B4-BE49-F238E27FC236}">
                <a16:creationId xmlns:a16="http://schemas.microsoft.com/office/drawing/2014/main" id="{85C717E0-6867-EA79-8DA1-6F3460CE9E1A}"/>
              </a:ext>
            </a:extLst>
          </p:cNvPr>
          <p:cNvSpPr/>
          <p:nvPr/>
        </p:nvSpPr>
        <p:spPr>
          <a:xfrm>
            <a:off x="333465" y="5666302"/>
            <a:ext cx="1719937" cy="5943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i="1" dirty="0">
                <a:solidFill>
                  <a:schemeClr val="tx1"/>
                </a:solidFill>
              </a:rPr>
              <a:t>Crude Oil is also known for containing varying concentrations of sulfur.</a:t>
            </a:r>
          </a:p>
        </p:txBody>
      </p:sp>
      <p:sp>
        <p:nvSpPr>
          <p:cNvPr id="47" name="Rectangle 46">
            <a:extLst>
              <a:ext uri="{FF2B5EF4-FFF2-40B4-BE49-F238E27FC236}">
                <a16:creationId xmlns:a16="http://schemas.microsoft.com/office/drawing/2014/main" id="{3677D8AB-7D27-B849-6DFE-2264A5BC024C}"/>
              </a:ext>
            </a:extLst>
          </p:cNvPr>
          <p:cNvSpPr/>
          <p:nvPr/>
        </p:nvSpPr>
        <p:spPr>
          <a:xfrm>
            <a:off x="5008692" y="5551754"/>
            <a:ext cx="1798695"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b="1" dirty="0">
                <a:solidFill>
                  <a:schemeClr val="tx1"/>
                </a:solidFill>
              </a:rPr>
              <a:t>Sour: </a:t>
            </a:r>
            <a:r>
              <a:rPr lang="en-US" sz="1100" dirty="0">
                <a:solidFill>
                  <a:schemeClr val="tx1"/>
                </a:solidFill>
              </a:rPr>
              <a:t>&gt;=0.5% sulfur content </a:t>
            </a:r>
          </a:p>
        </p:txBody>
      </p:sp>
      <p:sp>
        <p:nvSpPr>
          <p:cNvPr id="53" name="Rounded Rectangle 52">
            <a:extLst>
              <a:ext uri="{FF2B5EF4-FFF2-40B4-BE49-F238E27FC236}">
                <a16:creationId xmlns:a16="http://schemas.microsoft.com/office/drawing/2014/main" id="{BEB6DF96-3E5E-8BA4-6E9A-4CBEC1C4FC2B}"/>
              </a:ext>
            </a:extLst>
          </p:cNvPr>
          <p:cNvSpPr/>
          <p:nvPr/>
        </p:nvSpPr>
        <p:spPr>
          <a:xfrm>
            <a:off x="2053402" y="1801293"/>
            <a:ext cx="5110126" cy="660016"/>
          </a:xfrm>
          <a:prstGeom prst="roundRect">
            <a:avLst/>
          </a:prstGeom>
          <a:noFill/>
          <a:ln>
            <a:solidFill>
              <a:srgbClr val="1D2C3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dirty="0"/>
          </a:p>
        </p:txBody>
      </p:sp>
      <p:sp>
        <p:nvSpPr>
          <p:cNvPr id="50" name="Rectangle 49">
            <a:extLst>
              <a:ext uri="{FF2B5EF4-FFF2-40B4-BE49-F238E27FC236}">
                <a16:creationId xmlns:a16="http://schemas.microsoft.com/office/drawing/2014/main" id="{3120FFF6-8CAD-A2BF-1EB7-99B7624328D6}"/>
              </a:ext>
            </a:extLst>
          </p:cNvPr>
          <p:cNvSpPr/>
          <p:nvPr/>
        </p:nvSpPr>
        <p:spPr>
          <a:xfrm>
            <a:off x="2538360" y="5551754"/>
            <a:ext cx="1874168"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b="1" dirty="0">
                <a:solidFill>
                  <a:schemeClr val="tx1"/>
                </a:solidFill>
              </a:rPr>
              <a:t>Sweet: </a:t>
            </a:r>
            <a:r>
              <a:rPr lang="en-US" sz="1100" dirty="0">
                <a:solidFill>
                  <a:schemeClr val="tx1"/>
                </a:solidFill>
              </a:rPr>
              <a:t>&lt;0.5% sulfur content</a:t>
            </a:r>
          </a:p>
        </p:txBody>
      </p:sp>
      <p:sp>
        <p:nvSpPr>
          <p:cNvPr id="3" name="Rounded Rectangle 2">
            <a:extLst>
              <a:ext uri="{FF2B5EF4-FFF2-40B4-BE49-F238E27FC236}">
                <a16:creationId xmlns:a16="http://schemas.microsoft.com/office/drawing/2014/main" id="{AE61767A-DEB0-E918-7E7A-7A3DB7D74A77}"/>
              </a:ext>
            </a:extLst>
          </p:cNvPr>
          <p:cNvSpPr/>
          <p:nvPr/>
        </p:nvSpPr>
        <p:spPr>
          <a:xfrm>
            <a:off x="333466" y="1801292"/>
            <a:ext cx="1719940" cy="660016"/>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General</a:t>
            </a:r>
          </a:p>
        </p:txBody>
      </p:sp>
    </p:spTree>
    <p:extLst>
      <p:ext uri="{BB962C8B-B14F-4D97-AF65-F5344CB8AC3E}">
        <p14:creationId xmlns:p14="http://schemas.microsoft.com/office/powerpoint/2010/main" val="33289516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Pipeline Accidents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260183"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348342" y="1047347"/>
            <a:ext cx="11408227" cy="523220"/>
          </a:xfrm>
          <a:prstGeom prst="rect">
            <a:avLst/>
          </a:prstGeom>
          <a:noFill/>
        </p:spPr>
        <p:txBody>
          <a:bodyPr wrap="square" rtlCol="0">
            <a:spAutoFit/>
          </a:bodyPr>
          <a:lstStyle/>
          <a:p>
            <a:r>
              <a:rPr lang="en-US" sz="1400" dirty="0"/>
              <a:t>The PHMSA lists 10 unique causes for pipeline failures along with notable characteristics and what percentage they make up of total pipeline incidents [5]. Given these failure types, we want to determine which could be potentially relevant to our analysis so that we can filter our data accordingly.  </a:t>
            </a:r>
          </a:p>
        </p:txBody>
      </p:sp>
      <p:graphicFrame>
        <p:nvGraphicFramePr>
          <p:cNvPr id="24" name="Table 23">
            <a:extLst>
              <a:ext uri="{FF2B5EF4-FFF2-40B4-BE49-F238E27FC236}">
                <a16:creationId xmlns:a16="http://schemas.microsoft.com/office/drawing/2014/main" id="{A199F87B-86AF-4F3F-A7D3-7F396998EB84}"/>
              </a:ext>
            </a:extLst>
          </p:cNvPr>
          <p:cNvGraphicFramePr>
            <a:graphicFrameLocks noGrp="1"/>
          </p:cNvGraphicFramePr>
          <p:nvPr>
            <p:extLst>
              <p:ext uri="{D42A27DB-BD31-4B8C-83A1-F6EECF244321}">
                <p14:modId xmlns:p14="http://schemas.microsoft.com/office/powerpoint/2010/main" val="3868331234"/>
              </p:ext>
            </p:extLst>
          </p:nvPr>
        </p:nvGraphicFramePr>
        <p:xfrm>
          <a:off x="348342" y="1909213"/>
          <a:ext cx="8534401" cy="4206240"/>
        </p:xfrm>
        <a:graphic>
          <a:graphicData uri="http://schemas.openxmlformats.org/drawingml/2006/table">
            <a:tbl>
              <a:tblPr firstRow="1" bandRow="1">
                <a:tableStyleId>{5C22544A-7EE6-4342-B048-85BDC9FD1C3A}</a:tableStyleId>
              </a:tblPr>
              <a:tblGrid>
                <a:gridCol w="1341121">
                  <a:extLst>
                    <a:ext uri="{9D8B030D-6E8A-4147-A177-3AD203B41FA5}">
                      <a16:colId xmlns:a16="http://schemas.microsoft.com/office/drawing/2014/main" val="2774616000"/>
                    </a:ext>
                  </a:extLst>
                </a:gridCol>
                <a:gridCol w="3361508">
                  <a:extLst>
                    <a:ext uri="{9D8B030D-6E8A-4147-A177-3AD203B41FA5}">
                      <a16:colId xmlns:a16="http://schemas.microsoft.com/office/drawing/2014/main" val="3179188171"/>
                    </a:ext>
                  </a:extLst>
                </a:gridCol>
                <a:gridCol w="1645920">
                  <a:extLst>
                    <a:ext uri="{9D8B030D-6E8A-4147-A177-3AD203B41FA5}">
                      <a16:colId xmlns:a16="http://schemas.microsoft.com/office/drawing/2014/main" val="3542846944"/>
                    </a:ext>
                  </a:extLst>
                </a:gridCol>
                <a:gridCol w="975360">
                  <a:extLst>
                    <a:ext uri="{9D8B030D-6E8A-4147-A177-3AD203B41FA5}">
                      <a16:colId xmlns:a16="http://schemas.microsoft.com/office/drawing/2014/main" val="47899730"/>
                    </a:ext>
                  </a:extLst>
                </a:gridCol>
                <a:gridCol w="1210492">
                  <a:extLst>
                    <a:ext uri="{9D8B030D-6E8A-4147-A177-3AD203B41FA5}">
                      <a16:colId xmlns:a16="http://schemas.microsoft.com/office/drawing/2014/main" val="2679204528"/>
                    </a:ext>
                  </a:extLst>
                </a:gridCol>
              </a:tblGrid>
              <a:tr h="234734">
                <a:tc>
                  <a:txBody>
                    <a:bodyPr/>
                    <a:lstStyle/>
                    <a:p>
                      <a:pPr algn="l"/>
                      <a:r>
                        <a:rPr lang="en-US" sz="1000" dirty="0">
                          <a:solidFill>
                            <a:schemeClr val="tx1"/>
                          </a:solidFill>
                        </a:rPr>
                        <a:t>Pipeline Failure Cause</a:t>
                      </a:r>
                    </a:p>
                  </a:txBody>
                  <a:tcPr anchor="ctr">
                    <a:lnB w="12700" cap="flat" cmpd="sng" algn="ctr">
                      <a:solidFill>
                        <a:schemeClr val="tx1"/>
                      </a:solidFill>
                      <a:prstDash val="solid"/>
                      <a:round/>
                      <a:headEnd type="none" w="med" len="med"/>
                      <a:tailEnd type="none" w="med" len="med"/>
                    </a:lnB>
                    <a:noFill/>
                  </a:tcPr>
                </a:tc>
                <a:tc>
                  <a:txBody>
                    <a:bodyPr/>
                    <a:lstStyle/>
                    <a:p>
                      <a:pPr algn="l"/>
                      <a:r>
                        <a:rPr lang="en-US" sz="1000" dirty="0">
                          <a:solidFill>
                            <a:schemeClr val="tx1"/>
                          </a:solidFill>
                        </a:rPr>
                        <a:t>Description</a:t>
                      </a:r>
                    </a:p>
                  </a:txBody>
                  <a:tcPr anchor="ctr">
                    <a:lnB w="12700" cap="flat" cmpd="sng" algn="ctr">
                      <a:solidFill>
                        <a:schemeClr val="tx1"/>
                      </a:solidFill>
                      <a:prstDash val="solid"/>
                      <a:round/>
                      <a:headEnd type="none" w="med" len="med"/>
                      <a:tailEnd type="none" w="med" len="med"/>
                    </a:lnB>
                    <a:noFill/>
                  </a:tcPr>
                </a:tc>
                <a:tc>
                  <a:txBody>
                    <a:bodyPr/>
                    <a:lstStyle/>
                    <a:p>
                      <a:pPr algn="ctr"/>
                      <a:r>
                        <a:rPr lang="en-US" sz="1000" dirty="0">
                          <a:solidFill>
                            <a:schemeClr val="tx1"/>
                          </a:solidFill>
                        </a:rPr>
                        <a:t>1998-2017 Percentage Pipeline Accidents</a:t>
                      </a:r>
                    </a:p>
                  </a:txBody>
                  <a:tcPr anchor="ctr">
                    <a:lnR w="12700" cap="flat" cmpd="sng" algn="ctr">
                      <a:solidFill>
                        <a:schemeClr val="tx1"/>
                      </a:solidFill>
                      <a:prstDash val="sysDash"/>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a:r>
                        <a:rPr lang="en-US" sz="1000" dirty="0">
                          <a:solidFill>
                            <a:schemeClr val="tx1"/>
                          </a:solidFill>
                        </a:rPr>
                        <a:t>Weight-relevant?</a:t>
                      </a:r>
                    </a:p>
                  </a:txBody>
                  <a:tcPr anchor="ctr">
                    <a:lnL w="12700" cap="flat" cmpd="sng" algn="ctr">
                      <a:solidFill>
                        <a:schemeClr val="tx1"/>
                      </a:solidFill>
                      <a:prstDash val="sysDash"/>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a:r>
                        <a:rPr lang="en-US" sz="1000" dirty="0">
                          <a:solidFill>
                            <a:schemeClr val="tx1"/>
                          </a:solidFill>
                        </a:rPr>
                        <a:t>Sulfur-relevant?</a:t>
                      </a:r>
                    </a:p>
                  </a:txBody>
                  <a:tcPr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934697"/>
                  </a:ext>
                </a:extLst>
              </a:tr>
              <a:tr h="234734">
                <a:tc>
                  <a:txBody>
                    <a:bodyPr/>
                    <a:lstStyle/>
                    <a:p>
                      <a:pPr algn="l"/>
                      <a:r>
                        <a:rPr lang="en-US" sz="1000" dirty="0">
                          <a:solidFill>
                            <a:schemeClr val="tx1"/>
                          </a:solidFill>
                        </a:rPr>
                        <a:t>External Corrosion</a:t>
                      </a:r>
                    </a:p>
                  </a:txBody>
                  <a:tcPr anchor="ctr">
                    <a:lnT w="12700" cap="flat" cmpd="sng" algn="ctr">
                      <a:solidFill>
                        <a:schemeClr val="tx1"/>
                      </a:solidFill>
                      <a:prstDash val="solid"/>
                      <a:round/>
                      <a:headEnd type="none" w="med" len="med"/>
                      <a:tailEnd type="none" w="med" len="med"/>
                    </a:lnT>
                    <a:noFill/>
                  </a:tcPr>
                </a:tc>
                <a:tc>
                  <a:txBody>
                    <a:bodyPr/>
                    <a:lstStyle/>
                    <a:p>
                      <a:pPr algn="l"/>
                      <a:r>
                        <a:rPr lang="en-US" sz="1000" dirty="0">
                          <a:solidFill>
                            <a:schemeClr val="tx1"/>
                          </a:solidFill>
                        </a:rPr>
                        <a:t>Due to environmental conditions on the outside of the pipe</a:t>
                      </a:r>
                    </a:p>
                  </a:txBody>
                  <a:tcPr anchor="ctr">
                    <a:lnT w="12700" cap="flat" cmpd="sng" algn="ctr">
                      <a:solidFill>
                        <a:schemeClr val="tx1"/>
                      </a:solidFill>
                      <a:prstDash val="solid"/>
                      <a:round/>
                      <a:headEnd type="none" w="med" len="med"/>
                      <a:tailEnd type="none" w="med" len="med"/>
                    </a:lnT>
                    <a:noFill/>
                  </a:tcPr>
                </a:tc>
                <a:tc>
                  <a:txBody>
                    <a:bodyPr/>
                    <a:lstStyle/>
                    <a:p>
                      <a:pPr algn="ctr"/>
                      <a:r>
                        <a:rPr lang="en-US" sz="1000" dirty="0">
                          <a:solidFill>
                            <a:schemeClr val="tx1"/>
                          </a:solidFill>
                        </a:rPr>
                        <a:t>8 %</a:t>
                      </a:r>
                    </a:p>
                  </a:txBody>
                  <a:tcPr anchor="ctr">
                    <a:lnR w="12700" cap="flat" cmpd="sng" algn="ctr">
                      <a:solidFill>
                        <a:schemeClr val="tx1"/>
                      </a:solidFill>
                      <a:prstDash val="sysDash"/>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a:r>
                        <a:rPr lang="en-US" sz="1000" dirty="0">
                          <a:solidFill>
                            <a:schemeClr val="tx1"/>
                          </a:solidFill>
                        </a:rPr>
                        <a:t>No</a:t>
                      </a:r>
                    </a:p>
                  </a:txBody>
                  <a:tcPr anchor="ctr">
                    <a:lnL w="12700" cap="flat" cmpd="sng" algn="ctr">
                      <a:solidFill>
                        <a:schemeClr val="tx1"/>
                      </a:solidFill>
                      <a:prstDash val="sysDash"/>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a:r>
                        <a:rPr lang="en-US" sz="1000" dirty="0">
                          <a:solidFill>
                            <a:schemeClr val="tx1"/>
                          </a:solidFill>
                        </a:rPr>
                        <a:t>No</a:t>
                      </a:r>
                    </a:p>
                  </a:txBody>
                  <a:tcPr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3179457090"/>
                  </a:ext>
                </a:extLst>
              </a:tr>
              <a:tr h="234734">
                <a:tc>
                  <a:txBody>
                    <a:bodyPr/>
                    <a:lstStyle/>
                    <a:p>
                      <a:pPr algn="l"/>
                      <a:r>
                        <a:rPr lang="en-US" sz="1000" dirty="0">
                          <a:solidFill>
                            <a:schemeClr val="tx1"/>
                          </a:solidFill>
                        </a:rPr>
                        <a:t>Internal Corrosion</a:t>
                      </a:r>
                    </a:p>
                  </a:txBody>
                  <a:tcPr anchor="ctr">
                    <a:noFill/>
                  </a:tcPr>
                </a:tc>
                <a:tc>
                  <a:txBody>
                    <a:bodyPr/>
                    <a:lstStyle/>
                    <a:p>
                      <a:pPr algn="l"/>
                      <a:r>
                        <a:rPr lang="en-US" sz="1000" dirty="0">
                          <a:solidFill>
                            <a:schemeClr val="tx1"/>
                          </a:solidFill>
                        </a:rPr>
                        <a:t>Contaminants naturally contained within the transported commodity, such as hydrogen sulfide, carbon dioxide, or other chemicals</a:t>
                      </a:r>
                    </a:p>
                  </a:txBody>
                  <a:tcPr anchor="ctr">
                    <a:noFill/>
                  </a:tcPr>
                </a:tc>
                <a:tc>
                  <a:txBody>
                    <a:bodyPr/>
                    <a:lstStyle/>
                    <a:p>
                      <a:pPr algn="ctr"/>
                      <a:r>
                        <a:rPr lang="en-US" sz="1000" dirty="0">
                          <a:solidFill>
                            <a:schemeClr val="tx1"/>
                          </a:solidFill>
                        </a:rPr>
                        <a:t>12 %</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No</a:t>
                      </a:r>
                    </a:p>
                  </a:txBody>
                  <a:tcPr anchor="ctr">
                    <a:lnL w="12700" cap="flat" cmpd="sng" algn="ctr">
                      <a:solidFill>
                        <a:schemeClr val="tx1"/>
                      </a:solidFill>
                      <a:prstDash val="sysDash"/>
                      <a:round/>
                      <a:headEnd type="none" w="med" len="med"/>
                      <a:tailEnd type="none" w="med" len="med"/>
                    </a:lnL>
                    <a:noFill/>
                  </a:tcPr>
                </a:tc>
                <a:tc>
                  <a:txBody>
                    <a:bodyPr/>
                    <a:lstStyle/>
                    <a:p>
                      <a:pPr algn="ctr"/>
                      <a:r>
                        <a:rPr lang="en-US" sz="1000" dirty="0">
                          <a:solidFill>
                            <a:schemeClr val="tx1"/>
                          </a:solidFill>
                        </a:rPr>
                        <a:t>Yes</a:t>
                      </a:r>
                    </a:p>
                  </a:txBody>
                  <a:tcPr anchor="ctr">
                    <a:solidFill>
                      <a:schemeClr val="accent6"/>
                    </a:solidFill>
                  </a:tcPr>
                </a:tc>
                <a:extLst>
                  <a:ext uri="{0D108BD9-81ED-4DB2-BD59-A6C34878D82A}">
                    <a16:rowId xmlns:a16="http://schemas.microsoft.com/office/drawing/2014/main" val="343196518"/>
                  </a:ext>
                </a:extLst>
              </a:tr>
              <a:tr h="234734">
                <a:tc>
                  <a:txBody>
                    <a:bodyPr/>
                    <a:lstStyle/>
                    <a:p>
                      <a:pPr algn="l"/>
                      <a:r>
                        <a:rPr lang="en-US" sz="1000" dirty="0">
                          <a:solidFill>
                            <a:schemeClr val="tx1"/>
                          </a:solidFill>
                        </a:rPr>
                        <a:t>Stress Corrosion Cracking</a:t>
                      </a:r>
                    </a:p>
                  </a:txBody>
                  <a:tcPr anchor="ctr">
                    <a:noFill/>
                  </a:tcPr>
                </a:tc>
                <a:tc>
                  <a:txBody>
                    <a:bodyPr/>
                    <a:lstStyle/>
                    <a:p>
                      <a:pPr algn="l"/>
                      <a:r>
                        <a:rPr lang="en-US" sz="1000" dirty="0">
                          <a:solidFill>
                            <a:schemeClr val="tx1"/>
                          </a:solidFill>
                        </a:rPr>
                        <a:t>Environmentally-assisted cracking that reduces the pressure-carrying capability of the pipe</a:t>
                      </a:r>
                    </a:p>
                  </a:txBody>
                  <a:tcPr anchor="ctr">
                    <a:noFill/>
                  </a:tcPr>
                </a:tc>
                <a:tc>
                  <a:txBody>
                    <a:bodyPr/>
                    <a:lstStyle/>
                    <a:p>
                      <a:pPr algn="ctr"/>
                      <a:r>
                        <a:rPr lang="en-US" sz="1000" dirty="0">
                          <a:solidFill>
                            <a:schemeClr val="tx1"/>
                          </a:solidFill>
                        </a:rPr>
                        <a:t>1 %</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Maybe</a:t>
                      </a:r>
                    </a:p>
                  </a:txBody>
                  <a:tcPr anchor="ctr">
                    <a:lnL w="12700" cap="flat" cmpd="sng" algn="ctr">
                      <a:solidFill>
                        <a:schemeClr val="tx1"/>
                      </a:solidFill>
                      <a:prstDash val="sysDash"/>
                      <a:round/>
                      <a:headEnd type="none" w="med" len="med"/>
                      <a:tailEnd type="none" w="med" len="med"/>
                    </a:lnL>
                    <a:solidFill>
                      <a:schemeClr val="accent4"/>
                    </a:solidFill>
                  </a:tcPr>
                </a:tc>
                <a:tc>
                  <a:txBody>
                    <a:bodyPr/>
                    <a:lstStyle/>
                    <a:p>
                      <a:pPr algn="ctr"/>
                      <a:r>
                        <a:rPr lang="en-US" sz="1000" dirty="0">
                          <a:solidFill>
                            <a:schemeClr val="tx1"/>
                          </a:solidFill>
                        </a:rPr>
                        <a:t>Maybe</a:t>
                      </a:r>
                    </a:p>
                  </a:txBody>
                  <a:tcPr anchor="ctr">
                    <a:solidFill>
                      <a:schemeClr val="accent4"/>
                    </a:solidFill>
                  </a:tcPr>
                </a:tc>
                <a:extLst>
                  <a:ext uri="{0D108BD9-81ED-4DB2-BD59-A6C34878D82A}">
                    <a16:rowId xmlns:a16="http://schemas.microsoft.com/office/drawing/2014/main" val="394841422"/>
                  </a:ext>
                </a:extLst>
              </a:tr>
              <a:tr h="234734">
                <a:tc>
                  <a:txBody>
                    <a:bodyPr/>
                    <a:lstStyle/>
                    <a:p>
                      <a:pPr algn="l"/>
                      <a:r>
                        <a:rPr lang="en-US" sz="1000" dirty="0">
                          <a:solidFill>
                            <a:schemeClr val="tx1"/>
                          </a:solidFill>
                        </a:rPr>
                        <a:t>Selective Seam Corrosion</a:t>
                      </a:r>
                    </a:p>
                  </a:txBody>
                  <a:tcPr anchor="ctr">
                    <a:noFill/>
                  </a:tcPr>
                </a:tc>
                <a:tc>
                  <a:txBody>
                    <a:bodyPr/>
                    <a:lstStyle/>
                    <a:p>
                      <a:pPr algn="l"/>
                      <a:r>
                        <a:rPr lang="en-US" sz="1000" dirty="0">
                          <a:solidFill>
                            <a:schemeClr val="tx1"/>
                          </a:solidFill>
                        </a:rPr>
                        <a:t>Localized corrosion along specific welding points. Generally, has been fixed since 1970 due to upgrade materials. </a:t>
                      </a:r>
                    </a:p>
                  </a:txBody>
                  <a:tcPr anchor="ctr">
                    <a:noFill/>
                  </a:tcPr>
                </a:tc>
                <a:tc>
                  <a:txBody>
                    <a:bodyPr/>
                    <a:lstStyle/>
                    <a:p>
                      <a:pPr algn="ctr"/>
                      <a:r>
                        <a:rPr lang="en-US" sz="1000" dirty="0">
                          <a:solidFill>
                            <a:schemeClr val="tx1"/>
                          </a:solidFill>
                        </a:rPr>
                        <a:t>1 %</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No</a:t>
                      </a:r>
                    </a:p>
                  </a:txBody>
                  <a:tcPr anchor="ctr">
                    <a:lnL w="12700" cap="flat" cmpd="sng" algn="ctr">
                      <a:solidFill>
                        <a:schemeClr val="tx1"/>
                      </a:solidFill>
                      <a:prstDash val="sysDash"/>
                      <a:round/>
                      <a:headEnd type="none" w="med" len="med"/>
                      <a:tailEnd type="none" w="med" len="med"/>
                    </a:lnL>
                    <a:noFill/>
                  </a:tcPr>
                </a:tc>
                <a:tc>
                  <a:txBody>
                    <a:bodyPr/>
                    <a:lstStyle/>
                    <a:p>
                      <a:pPr algn="ctr"/>
                      <a:r>
                        <a:rPr lang="en-US" sz="1000" dirty="0">
                          <a:solidFill>
                            <a:schemeClr val="tx1"/>
                          </a:solidFill>
                        </a:rPr>
                        <a:t>No</a:t>
                      </a:r>
                    </a:p>
                  </a:txBody>
                  <a:tcPr anchor="ctr">
                    <a:noFill/>
                  </a:tcPr>
                </a:tc>
                <a:extLst>
                  <a:ext uri="{0D108BD9-81ED-4DB2-BD59-A6C34878D82A}">
                    <a16:rowId xmlns:a16="http://schemas.microsoft.com/office/drawing/2014/main" val="1443164737"/>
                  </a:ext>
                </a:extLst>
              </a:tr>
              <a:tr h="234734">
                <a:tc>
                  <a:txBody>
                    <a:bodyPr/>
                    <a:lstStyle/>
                    <a:p>
                      <a:pPr algn="l"/>
                      <a:r>
                        <a:rPr lang="en-US" sz="1000" dirty="0">
                          <a:solidFill>
                            <a:schemeClr val="tx1"/>
                          </a:solidFill>
                        </a:rPr>
                        <a:t>Excavation Damage</a:t>
                      </a:r>
                    </a:p>
                  </a:txBody>
                  <a:tcPr anchor="ctr">
                    <a:noFill/>
                  </a:tcPr>
                </a:tc>
                <a:tc>
                  <a:txBody>
                    <a:bodyPr/>
                    <a:lstStyle/>
                    <a:p>
                      <a:pPr algn="l"/>
                      <a:r>
                        <a:rPr lang="en-US" sz="1000" dirty="0">
                          <a:solidFill>
                            <a:schemeClr val="tx1"/>
                          </a:solidFill>
                        </a:rPr>
                        <a:t>Excavator damaging exterior of pipeline</a:t>
                      </a:r>
                    </a:p>
                  </a:txBody>
                  <a:tcPr anchor="ctr">
                    <a:noFill/>
                  </a:tcPr>
                </a:tc>
                <a:tc>
                  <a:txBody>
                    <a:bodyPr/>
                    <a:lstStyle/>
                    <a:p>
                      <a:pPr algn="ctr"/>
                      <a:r>
                        <a:rPr lang="en-US" sz="1000" dirty="0">
                          <a:solidFill>
                            <a:schemeClr val="tx1"/>
                          </a:solidFill>
                        </a:rPr>
                        <a:t>15 %</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No</a:t>
                      </a:r>
                    </a:p>
                  </a:txBody>
                  <a:tcPr anchor="ctr">
                    <a:lnL w="12700" cap="flat" cmpd="sng" algn="ctr">
                      <a:solidFill>
                        <a:schemeClr val="tx1"/>
                      </a:solidFill>
                      <a:prstDash val="sysDash"/>
                      <a:round/>
                      <a:headEnd type="none" w="med" len="med"/>
                      <a:tailEnd type="none" w="med" len="med"/>
                    </a:lnL>
                    <a:noFill/>
                  </a:tcPr>
                </a:tc>
                <a:tc>
                  <a:txBody>
                    <a:bodyPr/>
                    <a:lstStyle/>
                    <a:p>
                      <a:pPr algn="ctr"/>
                      <a:r>
                        <a:rPr lang="en-US" sz="1000" dirty="0">
                          <a:solidFill>
                            <a:schemeClr val="tx1"/>
                          </a:solidFill>
                        </a:rPr>
                        <a:t>No</a:t>
                      </a:r>
                    </a:p>
                  </a:txBody>
                  <a:tcPr anchor="ctr">
                    <a:noFill/>
                  </a:tcPr>
                </a:tc>
                <a:extLst>
                  <a:ext uri="{0D108BD9-81ED-4DB2-BD59-A6C34878D82A}">
                    <a16:rowId xmlns:a16="http://schemas.microsoft.com/office/drawing/2014/main" val="4103626185"/>
                  </a:ext>
                </a:extLst>
              </a:tr>
              <a:tr h="234734">
                <a:tc>
                  <a:txBody>
                    <a:bodyPr/>
                    <a:lstStyle/>
                    <a:p>
                      <a:pPr algn="l"/>
                      <a:r>
                        <a:rPr lang="en-US" sz="1000" dirty="0">
                          <a:solidFill>
                            <a:schemeClr val="tx1"/>
                          </a:solidFill>
                        </a:rPr>
                        <a:t>Natural Force Damage</a:t>
                      </a:r>
                    </a:p>
                  </a:txBody>
                  <a:tcPr anchor="ctr">
                    <a:noFill/>
                  </a:tcPr>
                </a:tc>
                <a:tc>
                  <a:txBody>
                    <a:bodyPr/>
                    <a:lstStyle/>
                    <a:p>
                      <a:pPr algn="l"/>
                      <a:r>
                        <a:rPr lang="en-US" sz="1000" dirty="0">
                          <a:solidFill>
                            <a:schemeClr val="tx1"/>
                          </a:solidFill>
                        </a:rPr>
                        <a:t>Naturally occurring events, such as earth movement or heavy rains. </a:t>
                      </a:r>
                    </a:p>
                  </a:txBody>
                  <a:tcPr anchor="ctr">
                    <a:noFill/>
                  </a:tcPr>
                </a:tc>
                <a:tc>
                  <a:txBody>
                    <a:bodyPr/>
                    <a:lstStyle/>
                    <a:p>
                      <a:pPr algn="ctr"/>
                      <a:r>
                        <a:rPr lang="en-US" sz="1000" dirty="0">
                          <a:solidFill>
                            <a:schemeClr val="tx1"/>
                          </a:solidFill>
                        </a:rPr>
                        <a:t>9 %</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No</a:t>
                      </a:r>
                    </a:p>
                  </a:txBody>
                  <a:tcPr anchor="ctr">
                    <a:lnL w="12700" cap="flat" cmpd="sng" algn="ctr">
                      <a:solidFill>
                        <a:schemeClr val="tx1"/>
                      </a:solidFill>
                      <a:prstDash val="sysDash"/>
                      <a:round/>
                      <a:headEnd type="none" w="med" len="med"/>
                      <a:tailEnd type="none" w="med" len="med"/>
                    </a:lnL>
                    <a:noFill/>
                  </a:tcPr>
                </a:tc>
                <a:tc>
                  <a:txBody>
                    <a:bodyPr/>
                    <a:lstStyle/>
                    <a:p>
                      <a:pPr algn="ctr"/>
                      <a:r>
                        <a:rPr lang="en-US" sz="1000" dirty="0">
                          <a:solidFill>
                            <a:schemeClr val="tx1"/>
                          </a:solidFill>
                        </a:rPr>
                        <a:t>No</a:t>
                      </a:r>
                    </a:p>
                  </a:txBody>
                  <a:tcPr anchor="ctr">
                    <a:noFill/>
                  </a:tcPr>
                </a:tc>
                <a:extLst>
                  <a:ext uri="{0D108BD9-81ED-4DB2-BD59-A6C34878D82A}">
                    <a16:rowId xmlns:a16="http://schemas.microsoft.com/office/drawing/2014/main" val="425625405"/>
                  </a:ext>
                </a:extLst>
              </a:tr>
              <a:tr h="234734">
                <a:tc>
                  <a:txBody>
                    <a:bodyPr/>
                    <a:lstStyle/>
                    <a:p>
                      <a:pPr algn="l"/>
                      <a:r>
                        <a:rPr lang="en-US" sz="1000" dirty="0">
                          <a:solidFill>
                            <a:schemeClr val="tx1"/>
                          </a:solidFill>
                        </a:rPr>
                        <a:t>Other Outside Force Damage</a:t>
                      </a:r>
                    </a:p>
                  </a:txBody>
                  <a:tcPr anchor="ctr">
                    <a:noFill/>
                  </a:tcPr>
                </a:tc>
                <a:tc>
                  <a:txBody>
                    <a:bodyPr/>
                    <a:lstStyle/>
                    <a:p>
                      <a:pPr algn="l"/>
                      <a:r>
                        <a:rPr lang="en-US" sz="1000" dirty="0">
                          <a:solidFill>
                            <a:schemeClr val="tx1"/>
                          </a:solidFill>
                        </a:rPr>
                        <a:t>Vehicle or equipment contact; vandalism; damage caused by accidents, etc.</a:t>
                      </a:r>
                    </a:p>
                  </a:txBody>
                  <a:tcPr anchor="ctr">
                    <a:noFill/>
                  </a:tcPr>
                </a:tc>
                <a:tc>
                  <a:txBody>
                    <a:bodyPr/>
                    <a:lstStyle/>
                    <a:p>
                      <a:pPr algn="ctr"/>
                      <a:r>
                        <a:rPr lang="en-US" sz="1000" dirty="0">
                          <a:solidFill>
                            <a:schemeClr val="tx1"/>
                          </a:solidFill>
                        </a:rPr>
                        <a:t>&lt;1</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No</a:t>
                      </a:r>
                    </a:p>
                  </a:txBody>
                  <a:tcPr anchor="ctr">
                    <a:lnL w="12700" cap="flat" cmpd="sng" algn="ctr">
                      <a:solidFill>
                        <a:schemeClr val="tx1"/>
                      </a:solidFill>
                      <a:prstDash val="sysDash"/>
                      <a:round/>
                      <a:headEnd type="none" w="med" len="med"/>
                      <a:tailEnd type="none" w="med" len="med"/>
                    </a:lnL>
                    <a:noFill/>
                  </a:tcPr>
                </a:tc>
                <a:tc>
                  <a:txBody>
                    <a:bodyPr/>
                    <a:lstStyle/>
                    <a:p>
                      <a:pPr algn="ctr"/>
                      <a:r>
                        <a:rPr lang="en-US" sz="1000" dirty="0">
                          <a:solidFill>
                            <a:schemeClr val="tx1"/>
                          </a:solidFill>
                        </a:rPr>
                        <a:t>No</a:t>
                      </a:r>
                    </a:p>
                  </a:txBody>
                  <a:tcPr anchor="ctr">
                    <a:noFill/>
                  </a:tcPr>
                </a:tc>
                <a:extLst>
                  <a:ext uri="{0D108BD9-81ED-4DB2-BD59-A6C34878D82A}">
                    <a16:rowId xmlns:a16="http://schemas.microsoft.com/office/drawing/2014/main" val="3953680749"/>
                  </a:ext>
                </a:extLst>
              </a:tr>
              <a:tr h="234734">
                <a:tc>
                  <a:txBody>
                    <a:bodyPr/>
                    <a:lstStyle/>
                    <a:p>
                      <a:pPr algn="l"/>
                      <a:r>
                        <a:rPr lang="en-US" sz="1000" dirty="0">
                          <a:solidFill>
                            <a:schemeClr val="tx1"/>
                          </a:solidFill>
                        </a:rPr>
                        <a:t>Material/Weld Failure</a:t>
                      </a:r>
                    </a:p>
                  </a:txBody>
                  <a:tcPr anchor="ctr">
                    <a:noFill/>
                  </a:tcPr>
                </a:tc>
                <a:tc>
                  <a:txBody>
                    <a:bodyPr/>
                    <a:lstStyle/>
                    <a:p>
                      <a:pPr algn="l"/>
                      <a:r>
                        <a:rPr lang="en-US" sz="1000" dirty="0">
                          <a:solidFill>
                            <a:schemeClr val="tx1"/>
                          </a:solidFill>
                        </a:rPr>
                        <a:t>Impurities remaining in the molten steel upon manufacturing. </a:t>
                      </a:r>
                    </a:p>
                  </a:txBody>
                  <a:tcPr anchor="ctr">
                    <a:noFill/>
                  </a:tcPr>
                </a:tc>
                <a:tc>
                  <a:txBody>
                    <a:bodyPr/>
                    <a:lstStyle/>
                    <a:p>
                      <a:pPr algn="ctr"/>
                      <a:r>
                        <a:rPr lang="en-US" sz="1000" dirty="0">
                          <a:solidFill>
                            <a:schemeClr val="tx1"/>
                          </a:solidFill>
                        </a:rPr>
                        <a:t>Not Provided</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Maybe</a:t>
                      </a:r>
                    </a:p>
                  </a:txBody>
                  <a:tcPr anchor="ctr">
                    <a:lnL w="12700" cap="flat" cmpd="sng" algn="ctr">
                      <a:solidFill>
                        <a:schemeClr val="tx1"/>
                      </a:solidFill>
                      <a:prstDash val="sysDash"/>
                      <a:round/>
                      <a:headEnd type="none" w="med" len="med"/>
                      <a:tailEnd type="none" w="med" len="med"/>
                    </a:lnL>
                    <a:solidFill>
                      <a:schemeClr val="accent4"/>
                    </a:solidFill>
                  </a:tcPr>
                </a:tc>
                <a:tc>
                  <a:txBody>
                    <a:bodyPr/>
                    <a:lstStyle/>
                    <a:p>
                      <a:pPr algn="ctr"/>
                      <a:r>
                        <a:rPr lang="en-US" sz="1000" dirty="0">
                          <a:solidFill>
                            <a:schemeClr val="tx1"/>
                          </a:solidFill>
                        </a:rPr>
                        <a:t>Maybe</a:t>
                      </a:r>
                    </a:p>
                  </a:txBody>
                  <a:tcPr anchor="ctr">
                    <a:solidFill>
                      <a:schemeClr val="accent4"/>
                    </a:solidFill>
                  </a:tcPr>
                </a:tc>
                <a:extLst>
                  <a:ext uri="{0D108BD9-81ED-4DB2-BD59-A6C34878D82A}">
                    <a16:rowId xmlns:a16="http://schemas.microsoft.com/office/drawing/2014/main" val="1457711238"/>
                  </a:ext>
                </a:extLst>
              </a:tr>
              <a:tr h="234734">
                <a:tc>
                  <a:txBody>
                    <a:bodyPr/>
                    <a:lstStyle/>
                    <a:p>
                      <a:pPr algn="l"/>
                      <a:r>
                        <a:rPr lang="en-US" sz="1000" dirty="0">
                          <a:solidFill>
                            <a:schemeClr val="tx1"/>
                          </a:solidFill>
                        </a:rPr>
                        <a:t>Equipment Failure</a:t>
                      </a:r>
                    </a:p>
                  </a:txBody>
                  <a:tcPr anchor="ctr">
                    <a:noFill/>
                  </a:tcPr>
                </a:tc>
                <a:tc>
                  <a:txBody>
                    <a:bodyPr/>
                    <a:lstStyle/>
                    <a:p>
                      <a:pPr algn="l"/>
                      <a:r>
                        <a:rPr lang="en-US" sz="1000" dirty="0">
                          <a:solidFill>
                            <a:schemeClr val="tx1"/>
                          </a:solidFill>
                        </a:rPr>
                        <a:t>Pipeline component other than the pipe. E.g., pumps and compressors, meters and metering equipment, valves</a:t>
                      </a:r>
                    </a:p>
                  </a:txBody>
                  <a:tcPr anchor="ctr">
                    <a:noFill/>
                  </a:tcPr>
                </a:tc>
                <a:tc>
                  <a:txBody>
                    <a:bodyPr/>
                    <a:lstStyle/>
                    <a:p>
                      <a:pPr algn="ctr"/>
                      <a:r>
                        <a:rPr lang="en-US" sz="1000" dirty="0">
                          <a:solidFill>
                            <a:schemeClr val="tx1"/>
                          </a:solidFill>
                        </a:rPr>
                        <a:t>Not Provided</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Yes</a:t>
                      </a:r>
                    </a:p>
                  </a:txBody>
                  <a:tcPr anchor="ctr">
                    <a:lnL w="12700" cap="flat" cmpd="sng" algn="ctr">
                      <a:solidFill>
                        <a:schemeClr val="tx1"/>
                      </a:solidFill>
                      <a:prstDash val="sysDash"/>
                      <a:round/>
                      <a:headEnd type="none" w="med" len="med"/>
                      <a:tailEnd type="none" w="med" len="med"/>
                    </a:lnL>
                    <a:solidFill>
                      <a:schemeClr val="accent6"/>
                    </a:solidFill>
                  </a:tcPr>
                </a:tc>
                <a:tc>
                  <a:txBody>
                    <a:bodyPr/>
                    <a:lstStyle/>
                    <a:p>
                      <a:pPr algn="ctr"/>
                      <a:r>
                        <a:rPr lang="en-US" sz="1000" dirty="0">
                          <a:solidFill>
                            <a:schemeClr val="tx1"/>
                          </a:solidFill>
                        </a:rPr>
                        <a:t>Maybe</a:t>
                      </a:r>
                    </a:p>
                  </a:txBody>
                  <a:tcPr anchor="ctr">
                    <a:solidFill>
                      <a:schemeClr val="accent4"/>
                    </a:solidFill>
                  </a:tcPr>
                </a:tc>
                <a:extLst>
                  <a:ext uri="{0D108BD9-81ED-4DB2-BD59-A6C34878D82A}">
                    <a16:rowId xmlns:a16="http://schemas.microsoft.com/office/drawing/2014/main" val="3354135380"/>
                  </a:ext>
                </a:extLst>
              </a:tr>
              <a:tr h="234734">
                <a:tc>
                  <a:txBody>
                    <a:bodyPr/>
                    <a:lstStyle/>
                    <a:p>
                      <a:pPr algn="l"/>
                      <a:r>
                        <a:rPr lang="en-US" sz="1000" dirty="0">
                          <a:solidFill>
                            <a:schemeClr val="tx1"/>
                          </a:solidFill>
                        </a:rPr>
                        <a:t>Incorrect Operation</a:t>
                      </a:r>
                    </a:p>
                  </a:txBody>
                  <a:tcPr anchor="ctr">
                    <a:noFill/>
                  </a:tcPr>
                </a:tc>
                <a:tc>
                  <a:txBody>
                    <a:bodyPr/>
                    <a:lstStyle/>
                    <a:p>
                      <a:pPr algn="l"/>
                      <a:r>
                        <a:rPr lang="en-US" sz="1000" dirty="0">
                          <a:solidFill>
                            <a:schemeClr val="tx1"/>
                          </a:solidFill>
                        </a:rPr>
                        <a:t>Direct or indirect cause of a pipeline failure; e.g., wrong valve open, overfilling a tank, over-pressuring a piece of equipment</a:t>
                      </a:r>
                    </a:p>
                  </a:txBody>
                  <a:tcPr anchor="ctr">
                    <a:noFill/>
                  </a:tcPr>
                </a:tc>
                <a:tc>
                  <a:txBody>
                    <a:bodyPr/>
                    <a:lstStyle/>
                    <a:p>
                      <a:pPr algn="ctr"/>
                      <a:r>
                        <a:rPr lang="en-US" sz="1000" dirty="0">
                          <a:solidFill>
                            <a:schemeClr val="tx1"/>
                          </a:solidFill>
                        </a:rPr>
                        <a:t>Not Provided</a:t>
                      </a:r>
                    </a:p>
                  </a:txBody>
                  <a:tcPr anchor="ctr">
                    <a:lnR w="12700" cap="flat" cmpd="sng" algn="ctr">
                      <a:solidFill>
                        <a:schemeClr val="tx1"/>
                      </a:solidFill>
                      <a:prstDash val="sysDash"/>
                      <a:round/>
                      <a:headEnd type="none" w="med" len="med"/>
                      <a:tailEnd type="none" w="med" len="med"/>
                    </a:lnR>
                    <a:noFill/>
                  </a:tcPr>
                </a:tc>
                <a:tc>
                  <a:txBody>
                    <a:bodyPr/>
                    <a:lstStyle/>
                    <a:p>
                      <a:pPr algn="ctr"/>
                      <a:r>
                        <a:rPr lang="en-US" sz="1000" dirty="0">
                          <a:solidFill>
                            <a:schemeClr val="tx1"/>
                          </a:solidFill>
                        </a:rPr>
                        <a:t>No</a:t>
                      </a:r>
                    </a:p>
                  </a:txBody>
                  <a:tcPr anchor="ctr">
                    <a:lnL w="12700" cap="flat" cmpd="sng" algn="ctr">
                      <a:solidFill>
                        <a:schemeClr val="tx1"/>
                      </a:solidFill>
                      <a:prstDash val="sysDash"/>
                      <a:round/>
                      <a:headEnd type="none" w="med" len="med"/>
                      <a:tailEnd type="none" w="med" len="med"/>
                    </a:lnL>
                    <a:noFill/>
                  </a:tcPr>
                </a:tc>
                <a:tc>
                  <a:txBody>
                    <a:bodyPr/>
                    <a:lstStyle/>
                    <a:p>
                      <a:pPr algn="ctr"/>
                      <a:r>
                        <a:rPr lang="en-US" sz="1000" dirty="0">
                          <a:solidFill>
                            <a:schemeClr val="tx1"/>
                          </a:solidFill>
                        </a:rPr>
                        <a:t>No</a:t>
                      </a:r>
                    </a:p>
                  </a:txBody>
                  <a:tcPr anchor="ctr">
                    <a:noFill/>
                  </a:tcPr>
                </a:tc>
                <a:extLst>
                  <a:ext uri="{0D108BD9-81ED-4DB2-BD59-A6C34878D82A}">
                    <a16:rowId xmlns:a16="http://schemas.microsoft.com/office/drawing/2014/main" val="2838458305"/>
                  </a:ext>
                </a:extLst>
              </a:tr>
            </a:tbl>
          </a:graphicData>
        </a:graphic>
      </p:graphicFrame>
      <p:sp>
        <p:nvSpPr>
          <p:cNvPr id="26" name="Rounded Rectangle 25">
            <a:extLst>
              <a:ext uri="{FF2B5EF4-FFF2-40B4-BE49-F238E27FC236}">
                <a16:creationId xmlns:a16="http://schemas.microsoft.com/office/drawing/2014/main" id="{288012E2-37BF-D378-E9E6-08972EB3C34E}"/>
              </a:ext>
            </a:extLst>
          </p:cNvPr>
          <p:cNvSpPr/>
          <p:nvPr/>
        </p:nvSpPr>
        <p:spPr>
          <a:xfrm>
            <a:off x="9448800" y="2098766"/>
            <a:ext cx="2159726" cy="452845"/>
          </a:xfrm>
          <a:prstGeom prst="round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Key Takeaways</a:t>
            </a:r>
          </a:p>
        </p:txBody>
      </p:sp>
      <p:sp>
        <p:nvSpPr>
          <p:cNvPr id="27" name="Rounded Rectangle 26">
            <a:extLst>
              <a:ext uri="{FF2B5EF4-FFF2-40B4-BE49-F238E27FC236}">
                <a16:creationId xmlns:a16="http://schemas.microsoft.com/office/drawing/2014/main" id="{AE372507-7327-9467-631A-68204B2106EF}"/>
              </a:ext>
            </a:extLst>
          </p:cNvPr>
          <p:cNvSpPr/>
          <p:nvPr/>
        </p:nvSpPr>
        <p:spPr>
          <a:xfrm>
            <a:off x="9448800" y="2626965"/>
            <a:ext cx="2159726" cy="130060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b="1" u="sng" dirty="0">
                <a:solidFill>
                  <a:schemeClr val="tx1"/>
                </a:solidFill>
              </a:rPr>
              <a:t>Physical Properties</a:t>
            </a:r>
          </a:p>
          <a:p>
            <a:r>
              <a:rPr lang="en-US" sz="1100" dirty="0">
                <a:solidFill>
                  <a:schemeClr val="tx1"/>
                </a:solidFill>
              </a:rPr>
              <a:t>Focus on accidents in which the weight of the substance could have exacerbated stress corrosion, or material/equipment failure.</a:t>
            </a:r>
          </a:p>
        </p:txBody>
      </p:sp>
      <p:sp>
        <p:nvSpPr>
          <p:cNvPr id="28" name="Rounded Rectangle 27">
            <a:extLst>
              <a:ext uri="{FF2B5EF4-FFF2-40B4-BE49-F238E27FC236}">
                <a16:creationId xmlns:a16="http://schemas.microsoft.com/office/drawing/2014/main" id="{055FB232-17B8-0D0D-FBD8-B081FFF982D2}"/>
              </a:ext>
            </a:extLst>
          </p:cNvPr>
          <p:cNvSpPr/>
          <p:nvPr/>
        </p:nvSpPr>
        <p:spPr>
          <a:xfrm>
            <a:off x="9448800" y="4002920"/>
            <a:ext cx="2159726" cy="160005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b="1" u="sng" dirty="0">
                <a:solidFill>
                  <a:schemeClr val="tx1"/>
                </a:solidFill>
              </a:rPr>
              <a:t>Chemical Properties</a:t>
            </a:r>
          </a:p>
          <a:p>
            <a:r>
              <a:rPr lang="en-US" sz="1100" dirty="0">
                <a:solidFill>
                  <a:schemeClr val="tx1"/>
                </a:solidFill>
              </a:rPr>
              <a:t>Focus on incidents in which internal corrosion occurred, or material failures where the substance could have deteriorated the performance of the equipment/system. </a:t>
            </a:r>
          </a:p>
        </p:txBody>
      </p:sp>
    </p:spTree>
    <p:extLst>
      <p:ext uri="{BB962C8B-B14F-4D97-AF65-F5344CB8AC3E}">
        <p14:creationId xmlns:p14="http://schemas.microsoft.com/office/powerpoint/2010/main" val="1690350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Dataset Collection</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B26CFC8-9196-77DE-28B4-BD7F7CB3C76A}"/>
              </a:ext>
            </a:extLst>
          </p:cNvPr>
          <p:cNvSpPr txBox="1"/>
          <p:nvPr/>
        </p:nvSpPr>
        <p:spPr>
          <a:xfrm>
            <a:off x="348342" y="1047347"/>
            <a:ext cx="11408227" cy="523220"/>
          </a:xfrm>
          <a:prstGeom prst="rect">
            <a:avLst/>
          </a:prstGeom>
          <a:noFill/>
        </p:spPr>
        <p:txBody>
          <a:bodyPr wrap="square" rtlCol="0">
            <a:spAutoFit/>
          </a:bodyPr>
          <a:lstStyle/>
          <a:p>
            <a:r>
              <a:rPr lang="en-US" sz="1400" dirty="0"/>
              <a:t>We need to source data that contains information on pipeline incidents. The ideal dataset will contain detailed information on the substances that are being transported and the cause of the accident. Additional information about pipeline specifications could be valuable. </a:t>
            </a:r>
          </a:p>
        </p:txBody>
      </p:sp>
      <p:sp>
        <p:nvSpPr>
          <p:cNvPr id="5" name="TextBox 4">
            <a:extLst>
              <a:ext uri="{FF2B5EF4-FFF2-40B4-BE49-F238E27FC236}">
                <a16:creationId xmlns:a16="http://schemas.microsoft.com/office/drawing/2014/main" id="{04D9FF41-E4C7-367E-B017-FB5F1E06DF59}"/>
              </a:ext>
            </a:extLst>
          </p:cNvPr>
          <p:cNvSpPr txBox="1"/>
          <p:nvPr/>
        </p:nvSpPr>
        <p:spPr>
          <a:xfrm>
            <a:off x="348341" y="2091357"/>
            <a:ext cx="2272940" cy="1954381"/>
          </a:xfrm>
          <a:prstGeom prst="rect">
            <a:avLst/>
          </a:prstGeom>
          <a:noFill/>
        </p:spPr>
        <p:txBody>
          <a:bodyPr wrap="square" rtlCol="0">
            <a:spAutoFit/>
          </a:bodyPr>
          <a:lstStyle/>
          <a:p>
            <a:r>
              <a:rPr lang="en-US" sz="1100" dirty="0"/>
              <a:t>The Canada Energy Regulator (CER) (formally the National Energy Board) regulates pipelines that cross inter-provincial or international boundaries; pipelines that are intra-provincial are regulated by each individual province [6]. The Onshore Pipeline Regulations (OPR) were created by the CER to ensure companies are meeting pipeline safety requirements.</a:t>
            </a:r>
          </a:p>
        </p:txBody>
      </p:sp>
      <p:graphicFrame>
        <p:nvGraphicFramePr>
          <p:cNvPr id="9" name="Table 8">
            <a:extLst>
              <a:ext uri="{FF2B5EF4-FFF2-40B4-BE49-F238E27FC236}">
                <a16:creationId xmlns:a16="http://schemas.microsoft.com/office/drawing/2014/main" id="{36E4C231-EE62-F6F4-7E1B-F4F91A77BFD5}"/>
              </a:ext>
            </a:extLst>
          </p:cNvPr>
          <p:cNvGraphicFramePr>
            <a:graphicFrameLocks noGrp="1"/>
          </p:cNvGraphicFramePr>
          <p:nvPr>
            <p:extLst>
              <p:ext uri="{D42A27DB-BD31-4B8C-83A1-F6EECF244321}">
                <p14:modId xmlns:p14="http://schemas.microsoft.com/office/powerpoint/2010/main" val="1153776499"/>
              </p:ext>
            </p:extLst>
          </p:nvPr>
        </p:nvGraphicFramePr>
        <p:xfrm>
          <a:off x="2943496" y="1694467"/>
          <a:ext cx="8813073" cy="4358640"/>
        </p:xfrm>
        <a:graphic>
          <a:graphicData uri="http://schemas.openxmlformats.org/drawingml/2006/table">
            <a:tbl>
              <a:tblPr firstRow="1" bandRow="1">
                <a:tableStyleId>{5C22544A-7EE6-4342-B048-85BDC9FD1C3A}</a:tableStyleId>
              </a:tblPr>
              <a:tblGrid>
                <a:gridCol w="480428">
                  <a:extLst>
                    <a:ext uri="{9D8B030D-6E8A-4147-A177-3AD203B41FA5}">
                      <a16:colId xmlns:a16="http://schemas.microsoft.com/office/drawing/2014/main" val="4109172394"/>
                    </a:ext>
                  </a:extLst>
                </a:gridCol>
                <a:gridCol w="1043573">
                  <a:extLst>
                    <a:ext uri="{9D8B030D-6E8A-4147-A177-3AD203B41FA5}">
                      <a16:colId xmlns:a16="http://schemas.microsoft.com/office/drawing/2014/main" val="1864110391"/>
                    </a:ext>
                  </a:extLst>
                </a:gridCol>
                <a:gridCol w="1314994">
                  <a:extLst>
                    <a:ext uri="{9D8B030D-6E8A-4147-A177-3AD203B41FA5}">
                      <a16:colId xmlns:a16="http://schemas.microsoft.com/office/drawing/2014/main" val="2570560924"/>
                    </a:ext>
                  </a:extLst>
                </a:gridCol>
                <a:gridCol w="879566">
                  <a:extLst>
                    <a:ext uri="{9D8B030D-6E8A-4147-A177-3AD203B41FA5}">
                      <a16:colId xmlns:a16="http://schemas.microsoft.com/office/drawing/2014/main" val="2579643522"/>
                    </a:ext>
                  </a:extLst>
                </a:gridCol>
                <a:gridCol w="644434">
                  <a:extLst>
                    <a:ext uri="{9D8B030D-6E8A-4147-A177-3AD203B41FA5}">
                      <a16:colId xmlns:a16="http://schemas.microsoft.com/office/drawing/2014/main" val="1114013748"/>
                    </a:ext>
                  </a:extLst>
                </a:gridCol>
                <a:gridCol w="1001486">
                  <a:extLst>
                    <a:ext uri="{9D8B030D-6E8A-4147-A177-3AD203B41FA5}">
                      <a16:colId xmlns:a16="http://schemas.microsoft.com/office/drawing/2014/main" val="1117030240"/>
                    </a:ext>
                  </a:extLst>
                </a:gridCol>
                <a:gridCol w="801189">
                  <a:extLst>
                    <a:ext uri="{9D8B030D-6E8A-4147-A177-3AD203B41FA5}">
                      <a16:colId xmlns:a16="http://schemas.microsoft.com/office/drawing/2014/main" val="1794540429"/>
                    </a:ext>
                  </a:extLst>
                </a:gridCol>
                <a:gridCol w="853440">
                  <a:extLst>
                    <a:ext uri="{9D8B030D-6E8A-4147-A177-3AD203B41FA5}">
                      <a16:colId xmlns:a16="http://schemas.microsoft.com/office/drawing/2014/main" val="3983182840"/>
                    </a:ext>
                  </a:extLst>
                </a:gridCol>
                <a:gridCol w="1793963">
                  <a:extLst>
                    <a:ext uri="{9D8B030D-6E8A-4147-A177-3AD203B41FA5}">
                      <a16:colId xmlns:a16="http://schemas.microsoft.com/office/drawing/2014/main" val="4117142743"/>
                    </a:ext>
                  </a:extLst>
                </a:gridCol>
              </a:tblGrid>
              <a:tr h="248019">
                <a:tc>
                  <a:txBody>
                    <a:bodyPr/>
                    <a:lstStyle/>
                    <a:p>
                      <a:pPr algn="ctr"/>
                      <a:r>
                        <a:rPr lang="en-US" sz="1000" dirty="0">
                          <a:solidFill>
                            <a:schemeClr val="tx1"/>
                          </a:solidFill>
                        </a:rPr>
                        <a:t>Label</a:t>
                      </a: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Dataset Name</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Description</a:t>
                      </a:r>
                    </a:p>
                  </a:txBody>
                  <a:tcPr anchor="ct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Date Range</a:t>
                      </a:r>
                    </a:p>
                  </a:txBody>
                  <a:tcPr anchor="ct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 Records</a:t>
                      </a:r>
                    </a:p>
                  </a:txBody>
                  <a:tcPr anchor="ct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Crude Oil Types</a:t>
                      </a:r>
                    </a:p>
                  </a:txBody>
                  <a:tcPr anchor="ct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Weight-specific info?</a:t>
                      </a:r>
                    </a:p>
                  </a:txBody>
                  <a:tcPr anchor="ct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Sulfur-specific info? </a:t>
                      </a:r>
                    </a:p>
                  </a:txBody>
                  <a:tcPr anchor="ct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Accident-specific info</a:t>
                      </a:r>
                    </a:p>
                  </a:txBody>
                  <a:tcPr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43394472"/>
                  </a:ext>
                </a:extLst>
              </a:tr>
              <a:tr h="337324">
                <a:tc>
                  <a:txBody>
                    <a:bodyPr/>
                    <a:lstStyle/>
                    <a:p>
                      <a:pPr algn="ctr"/>
                      <a:r>
                        <a:rPr lang="en-US" sz="1000" dirty="0">
                          <a:solidFill>
                            <a:schemeClr val="bg1"/>
                          </a:solidFill>
                        </a:rPr>
                        <a:t>A</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rgbClr val="257E88"/>
                    </a:solidFill>
                  </a:tcPr>
                </a:tc>
                <a:tc>
                  <a:txBody>
                    <a:bodyPr/>
                    <a:lstStyle/>
                    <a:p>
                      <a:r>
                        <a:rPr lang="en-US" sz="800" dirty="0">
                          <a:solidFill>
                            <a:schemeClr val="tx1"/>
                          </a:solidFill>
                        </a:rPr>
                        <a:t>Pipeline-incidents-comprehensive-</a:t>
                      </a:r>
                      <a:r>
                        <a:rPr lang="en-US" sz="800" dirty="0" err="1">
                          <a:solidFill>
                            <a:schemeClr val="tx1"/>
                          </a:solidFill>
                        </a:rPr>
                        <a:t>data.csv</a:t>
                      </a:r>
                      <a:endParaRPr lang="en-US" sz="800" dirty="0">
                        <a:solidFill>
                          <a:schemeClr val="tx1"/>
                        </a:solidFill>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r>
                        <a:rPr lang="en-US" sz="800" dirty="0">
                          <a:solidFill>
                            <a:schemeClr val="tx1"/>
                          </a:solidFill>
                        </a:rPr>
                        <a:t>Pipeline incidents as defined by OPR and Processing Plant regulations</a:t>
                      </a:r>
                    </a:p>
                  </a:txBody>
                  <a:tcPr anchor="ctr">
                    <a:lnT w="12700" cap="flat" cmpd="sng" algn="ctr">
                      <a:solidFill>
                        <a:schemeClr val="tx1"/>
                      </a:solidFill>
                      <a:prstDash val="solid"/>
                      <a:round/>
                      <a:headEnd type="none" w="med" len="med"/>
                      <a:tailEnd type="none" w="med" len="med"/>
                    </a:lnT>
                    <a:noFill/>
                  </a:tcPr>
                </a:tc>
                <a:tc>
                  <a:txBody>
                    <a:bodyPr/>
                    <a:lstStyle/>
                    <a:p>
                      <a:r>
                        <a:rPr lang="en-US" sz="800" dirty="0">
                          <a:solidFill>
                            <a:schemeClr val="tx1"/>
                          </a:solidFill>
                        </a:rPr>
                        <a:t>2008 to Present</a:t>
                      </a:r>
                    </a:p>
                  </a:txBody>
                  <a:tcPr anchor="ctr">
                    <a:lnT w="12700" cap="flat" cmpd="sng" algn="ctr">
                      <a:solidFill>
                        <a:schemeClr val="tx1"/>
                      </a:solidFill>
                      <a:prstDash val="solid"/>
                      <a:round/>
                      <a:headEnd type="none" w="med" len="med"/>
                      <a:tailEnd type="none" w="med" len="med"/>
                    </a:lnT>
                    <a:noFill/>
                  </a:tcPr>
                </a:tc>
                <a:tc>
                  <a:txBody>
                    <a:bodyPr/>
                    <a:lstStyle/>
                    <a:p>
                      <a:r>
                        <a:rPr lang="en-US" sz="800" dirty="0">
                          <a:solidFill>
                            <a:schemeClr val="tx1"/>
                          </a:solidFill>
                        </a:rPr>
                        <a:t>1856</a:t>
                      </a:r>
                    </a:p>
                  </a:txBody>
                  <a:tcPr anchor="ctr">
                    <a:lnT w="12700" cap="flat" cmpd="sng" algn="ctr">
                      <a:solidFill>
                        <a:schemeClr val="tx1"/>
                      </a:solidFill>
                      <a:prstDash val="solid"/>
                      <a:round/>
                      <a:headEnd type="none" w="med" len="med"/>
                      <a:tailEnd type="none" w="med" len="med"/>
                    </a:lnT>
                    <a:noFill/>
                  </a:tcPr>
                </a:tc>
                <a:tc>
                  <a:txBody>
                    <a:bodyPr/>
                    <a:lstStyle/>
                    <a:p>
                      <a:r>
                        <a:rPr lang="en-US" sz="800" dirty="0">
                          <a:solidFill>
                            <a:schemeClr val="tx1"/>
                          </a:solidFill>
                        </a:rPr>
                        <a:t>Crude Oil, Crude Oil (Heavy, Light, Sour, and Sweet)</a:t>
                      </a:r>
                    </a:p>
                  </a:txBody>
                  <a:tcPr anchor="ctr">
                    <a:lnT w="12700" cap="flat" cmpd="sng" algn="ctr">
                      <a:solidFill>
                        <a:schemeClr val="tx1"/>
                      </a:solidFill>
                      <a:prstDash val="solid"/>
                      <a:round/>
                      <a:headEnd type="none" w="med" len="med"/>
                      <a:tailEnd type="none" w="med" len="med"/>
                    </a:lnT>
                    <a:noFill/>
                  </a:tcPr>
                </a:tc>
                <a:tc>
                  <a:txBody>
                    <a:bodyPr/>
                    <a:lstStyle/>
                    <a:p>
                      <a:r>
                        <a:rPr lang="en-US" sz="800" dirty="0">
                          <a:solidFill>
                            <a:schemeClr val="tx1"/>
                          </a:solidFill>
                        </a:rPr>
                        <a:t>No</a:t>
                      </a:r>
                    </a:p>
                  </a:txBody>
                  <a:tcPr anchor="ctr">
                    <a:lnT w="12700" cap="flat" cmpd="sng" algn="ctr">
                      <a:solidFill>
                        <a:schemeClr val="tx1"/>
                      </a:solidFill>
                      <a:prstDash val="solid"/>
                      <a:round/>
                      <a:headEnd type="none" w="med" len="med"/>
                      <a:tailEnd type="none" w="med" len="med"/>
                    </a:lnT>
                    <a:solidFill>
                      <a:srgbClr val="FF0000">
                        <a:alpha val="49804"/>
                      </a:srgbClr>
                    </a:solidFill>
                  </a:tcPr>
                </a:tc>
                <a:tc>
                  <a:txBody>
                    <a:bodyPr/>
                    <a:lstStyle/>
                    <a:p>
                      <a:r>
                        <a:rPr lang="en-US" sz="800" dirty="0">
                          <a:solidFill>
                            <a:schemeClr val="tx1"/>
                          </a:solidFill>
                        </a:rPr>
                        <a:t>No – grouped together</a:t>
                      </a:r>
                    </a:p>
                  </a:txBody>
                  <a:tcPr anchor="ctr">
                    <a:lnT w="12700" cap="flat" cmpd="sng" algn="ctr">
                      <a:solidFill>
                        <a:schemeClr val="tx1"/>
                      </a:solidFill>
                      <a:prstDash val="solid"/>
                      <a:round/>
                      <a:headEnd type="none" w="med" len="med"/>
                      <a:tailEnd type="none" w="med" len="med"/>
                    </a:lnT>
                    <a:solidFill>
                      <a:srgbClr val="FF0000">
                        <a:alpha val="50196"/>
                      </a:srgbClr>
                    </a:solidFill>
                  </a:tcPr>
                </a:tc>
                <a:tc>
                  <a:txBody>
                    <a:bodyPr/>
                    <a:lstStyle/>
                    <a:p>
                      <a:r>
                        <a:rPr lang="en-US" sz="800" b="1" i="0" dirty="0">
                          <a:solidFill>
                            <a:schemeClr val="tx1"/>
                          </a:solidFill>
                        </a:rPr>
                        <a:t>What happened</a:t>
                      </a:r>
                      <a:r>
                        <a:rPr lang="en-US" sz="800" i="1" dirty="0">
                          <a:solidFill>
                            <a:schemeClr val="tx1"/>
                          </a:solidFill>
                        </a:rPr>
                        <a:t>: </a:t>
                      </a:r>
                      <a:r>
                        <a:rPr lang="en-US" sz="800" dirty="0">
                          <a:solidFill>
                            <a:schemeClr val="tx1"/>
                          </a:solidFill>
                        </a:rPr>
                        <a:t>damage, deterioration, construction, etc.; </a:t>
                      </a:r>
                      <a:r>
                        <a:rPr lang="en-US" sz="800" b="1" i="0" dirty="0">
                          <a:solidFill>
                            <a:schemeClr val="tx1"/>
                          </a:solidFill>
                        </a:rPr>
                        <a:t>Incident type:</a:t>
                      </a:r>
                      <a:r>
                        <a:rPr lang="en-US" sz="800" i="1" dirty="0">
                          <a:solidFill>
                            <a:schemeClr val="tx1"/>
                          </a:solidFill>
                        </a:rPr>
                        <a:t> </a:t>
                      </a:r>
                      <a:r>
                        <a:rPr lang="en-US" sz="800" dirty="0">
                          <a:solidFill>
                            <a:schemeClr val="tx1"/>
                          </a:solidFill>
                        </a:rPr>
                        <a:t>fire, release of substance, etc.</a:t>
                      </a:r>
                    </a:p>
                  </a:txBody>
                  <a:tcPr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3861430521"/>
                  </a:ext>
                </a:extLst>
              </a:tr>
              <a:tr h="248019">
                <a:tc>
                  <a:txBody>
                    <a:bodyPr/>
                    <a:lstStyle/>
                    <a:p>
                      <a:pPr algn="ctr"/>
                      <a:r>
                        <a:rPr lang="en-US" sz="1000" dirty="0">
                          <a:solidFill>
                            <a:schemeClr val="bg1"/>
                          </a:solidFill>
                        </a:rPr>
                        <a:t>B</a:t>
                      </a:r>
                    </a:p>
                  </a:txBody>
                  <a:tcPr anchor="ctr">
                    <a:lnR w="12700" cap="flat" cmpd="sng" algn="ctr">
                      <a:solidFill>
                        <a:schemeClr val="tx1"/>
                      </a:solidFill>
                      <a:prstDash val="solid"/>
                      <a:round/>
                      <a:headEnd type="none" w="med" len="med"/>
                      <a:tailEnd type="none" w="med" len="med"/>
                    </a:lnR>
                    <a:solidFill>
                      <a:srgbClr val="257E88"/>
                    </a:solidFill>
                  </a:tcPr>
                </a:tc>
                <a:tc>
                  <a:txBody>
                    <a:bodyPr/>
                    <a:lstStyle/>
                    <a:p>
                      <a:r>
                        <a:rPr lang="en-US" sz="800" dirty="0" err="1">
                          <a:solidFill>
                            <a:schemeClr val="tx1"/>
                          </a:solidFill>
                        </a:rPr>
                        <a:t>PODSdb_MDOTW_VW_OCCURRENCE_PUBLIC.csv</a:t>
                      </a:r>
                      <a:endParaRPr lang="en-US" sz="800" dirty="0">
                        <a:solidFill>
                          <a:schemeClr val="tx1"/>
                        </a:solidFill>
                      </a:endParaRPr>
                    </a:p>
                  </a:txBody>
                  <a:tcPr anchor="ctr">
                    <a:lnL w="12700" cap="flat" cmpd="sng" algn="ctr">
                      <a:solidFill>
                        <a:schemeClr val="tx1"/>
                      </a:solidFill>
                      <a:prstDash val="solid"/>
                      <a:round/>
                      <a:headEnd type="none" w="med" len="med"/>
                      <a:tailEnd type="none" w="med" len="med"/>
                    </a:lnL>
                    <a:noFill/>
                  </a:tcPr>
                </a:tc>
                <a:tc>
                  <a:txBody>
                    <a:bodyPr/>
                    <a:lstStyle/>
                    <a:p>
                      <a:r>
                        <a:rPr lang="en-US" sz="800" dirty="0">
                          <a:solidFill>
                            <a:schemeClr val="tx1"/>
                          </a:solidFill>
                        </a:rPr>
                        <a:t>Incidents at CER-regulated pipelines </a:t>
                      </a:r>
                      <a:r>
                        <a:rPr lang="en-US" sz="800" b="1" dirty="0">
                          <a:solidFill>
                            <a:schemeClr val="tx1"/>
                          </a:solidFill>
                        </a:rPr>
                        <a:t>and facilities </a:t>
                      </a:r>
                      <a:r>
                        <a:rPr lang="en-US" sz="800" dirty="0">
                          <a:solidFill>
                            <a:schemeClr val="tx1"/>
                          </a:solidFill>
                        </a:rPr>
                        <a:t>as defined by OPR </a:t>
                      </a:r>
                    </a:p>
                  </a:txBody>
                  <a:tcPr anchor="ctr">
                    <a:noFill/>
                  </a:tcPr>
                </a:tc>
                <a:tc>
                  <a:txBody>
                    <a:bodyPr/>
                    <a:lstStyle/>
                    <a:p>
                      <a:r>
                        <a:rPr lang="en-US" sz="800" dirty="0">
                          <a:solidFill>
                            <a:schemeClr val="tx1"/>
                          </a:solidFill>
                        </a:rPr>
                        <a:t>2008 to current</a:t>
                      </a:r>
                    </a:p>
                  </a:txBody>
                  <a:tcPr anchor="ctr">
                    <a:noFill/>
                  </a:tcPr>
                </a:tc>
                <a:tc>
                  <a:txBody>
                    <a:bodyPr/>
                    <a:lstStyle/>
                    <a:p>
                      <a:r>
                        <a:rPr lang="en-US" sz="800" dirty="0">
                          <a:solidFill>
                            <a:schemeClr val="tx1"/>
                          </a:solidFill>
                        </a:rPr>
                        <a:t>3265</a:t>
                      </a:r>
                    </a:p>
                  </a:txBody>
                  <a:tcPr anchor="ctr">
                    <a:noFill/>
                  </a:tcPr>
                </a:tc>
                <a:tc>
                  <a:txBody>
                    <a:bodyPr/>
                    <a:lstStyle/>
                    <a:p>
                      <a:r>
                        <a:rPr lang="en-US" sz="800" dirty="0">
                          <a:solidFill>
                            <a:schemeClr val="tx1"/>
                          </a:solidFill>
                        </a:rPr>
                        <a:t>Crude Oil, Crude Oil-Sour</a:t>
                      </a:r>
                    </a:p>
                  </a:txBody>
                  <a:tcPr anchor="ctr">
                    <a:noFill/>
                  </a:tcPr>
                </a:tc>
                <a:tc>
                  <a:txBody>
                    <a:bodyPr/>
                    <a:lstStyle/>
                    <a:p>
                      <a:r>
                        <a:rPr lang="en-US" sz="800" dirty="0">
                          <a:solidFill>
                            <a:schemeClr val="tx1"/>
                          </a:solidFill>
                        </a:rPr>
                        <a:t>No</a:t>
                      </a:r>
                    </a:p>
                  </a:txBody>
                  <a:tcPr anchor="ctr">
                    <a:solidFill>
                      <a:srgbClr val="FF0000">
                        <a:alpha val="50588"/>
                      </a:srgbClr>
                    </a:solidFill>
                  </a:tcPr>
                </a:tc>
                <a:tc>
                  <a:txBody>
                    <a:bodyPr/>
                    <a:lstStyle/>
                    <a:p>
                      <a:r>
                        <a:rPr lang="en-US" sz="800" dirty="0">
                          <a:solidFill>
                            <a:schemeClr val="tx1"/>
                          </a:solidFill>
                        </a:rPr>
                        <a:t>Sour vs. not sour</a:t>
                      </a:r>
                    </a:p>
                  </a:txBody>
                  <a:tcPr anchor="ctr">
                    <a:solidFill>
                      <a:srgbClr val="FFC000">
                        <a:alpha val="49804"/>
                      </a:srgbClr>
                    </a:solidFill>
                  </a:tcPr>
                </a:tc>
                <a:tc>
                  <a:txBody>
                    <a:bodyPr/>
                    <a:lstStyle/>
                    <a:p>
                      <a:r>
                        <a:rPr lang="en-US" sz="800" b="1" i="0" dirty="0">
                          <a:solidFill>
                            <a:schemeClr val="tx1"/>
                          </a:solidFill>
                        </a:rPr>
                        <a:t>Classification of Occurrence </a:t>
                      </a:r>
                      <a:r>
                        <a:rPr lang="en-US" sz="800" dirty="0">
                          <a:solidFill>
                            <a:schemeClr val="tx1"/>
                          </a:solidFill>
                        </a:rPr>
                        <a:t>(encoded); </a:t>
                      </a:r>
                      <a:r>
                        <a:rPr lang="en-US" sz="800" b="1" i="0" dirty="0">
                          <a:solidFill>
                            <a:schemeClr val="tx1"/>
                          </a:solidFill>
                        </a:rPr>
                        <a:t>occurrence summary</a:t>
                      </a:r>
                    </a:p>
                  </a:txBody>
                  <a:tcPr anchor="ctr">
                    <a:noFill/>
                  </a:tcPr>
                </a:tc>
                <a:extLst>
                  <a:ext uri="{0D108BD9-81ED-4DB2-BD59-A6C34878D82A}">
                    <a16:rowId xmlns:a16="http://schemas.microsoft.com/office/drawing/2014/main" val="3984137333"/>
                  </a:ext>
                </a:extLst>
              </a:tr>
              <a:tr h="248019">
                <a:tc>
                  <a:txBody>
                    <a:bodyPr/>
                    <a:lstStyle/>
                    <a:p>
                      <a:pPr algn="ctr"/>
                      <a:r>
                        <a:rPr lang="en-US" sz="1000" dirty="0">
                          <a:solidFill>
                            <a:schemeClr val="bg1"/>
                          </a:solidFill>
                        </a:rPr>
                        <a:t>C</a:t>
                      </a:r>
                    </a:p>
                  </a:txBody>
                  <a:tcPr anchor="ctr">
                    <a:lnR w="12700" cap="flat" cmpd="sng" algn="ctr">
                      <a:solidFill>
                        <a:schemeClr val="tx1"/>
                      </a:solidFill>
                      <a:prstDash val="solid"/>
                      <a:round/>
                      <a:headEnd type="none" w="med" len="med"/>
                      <a:tailEnd type="none" w="med" len="med"/>
                    </a:lnR>
                    <a:solidFill>
                      <a:srgbClr val="FFC000"/>
                    </a:solidFill>
                  </a:tcPr>
                </a:tc>
                <a:tc>
                  <a:txBody>
                    <a:bodyPr/>
                    <a:lstStyle/>
                    <a:p>
                      <a:r>
                        <a:rPr lang="en-US" sz="800" dirty="0"/>
                        <a:t>Accident_hazardous_liquid_pre1986.txt</a:t>
                      </a:r>
                    </a:p>
                  </a:txBody>
                  <a:tcPr anchor="ctr">
                    <a:lnL w="12700" cap="flat" cmpd="sng" algn="ctr">
                      <a:solidFill>
                        <a:schemeClr val="tx1"/>
                      </a:solidFill>
                      <a:prstDash val="solid"/>
                      <a:round/>
                      <a:headEnd type="none" w="med" len="med"/>
                      <a:tailEnd type="none" w="med" len="med"/>
                    </a:lnL>
                    <a:noFill/>
                  </a:tcPr>
                </a:tc>
                <a:tc>
                  <a:txBody>
                    <a:bodyPr/>
                    <a:lstStyle/>
                    <a:p>
                      <a:r>
                        <a:rPr lang="en-US" sz="800" dirty="0"/>
                        <a:t>Incidents within Hazardous Liquid and Carbon Dioxide Pipelines from 1968 to 1985</a:t>
                      </a:r>
                    </a:p>
                  </a:txBody>
                  <a:tcPr anchor="ctr">
                    <a:noFill/>
                  </a:tcPr>
                </a:tc>
                <a:tc>
                  <a:txBody>
                    <a:bodyPr/>
                    <a:lstStyle/>
                    <a:p>
                      <a:r>
                        <a:rPr lang="en-US" sz="800" dirty="0"/>
                        <a:t>1968 to 1985</a:t>
                      </a:r>
                    </a:p>
                  </a:txBody>
                  <a:tcPr anchor="ctr">
                    <a:noFill/>
                  </a:tcPr>
                </a:tc>
                <a:tc>
                  <a:txBody>
                    <a:bodyPr/>
                    <a:lstStyle/>
                    <a:p>
                      <a:r>
                        <a:rPr lang="en-US" sz="800" dirty="0"/>
                        <a:t>4734</a:t>
                      </a:r>
                    </a:p>
                  </a:txBody>
                  <a:tcPr anchor="ctr">
                    <a:noFill/>
                  </a:tcPr>
                </a:tc>
                <a:tc>
                  <a:txBody>
                    <a:bodyPr/>
                    <a:lstStyle/>
                    <a:p>
                      <a:r>
                        <a:rPr lang="en-US" sz="800" dirty="0"/>
                        <a:t>Crude Oil</a:t>
                      </a:r>
                    </a:p>
                  </a:txBody>
                  <a:tcPr anchor="ctr">
                    <a:noFill/>
                  </a:tcPr>
                </a:tc>
                <a:tc>
                  <a:txBody>
                    <a:bodyPr/>
                    <a:lstStyle/>
                    <a:p>
                      <a:r>
                        <a:rPr lang="en-US" sz="800" dirty="0"/>
                        <a:t>No</a:t>
                      </a:r>
                    </a:p>
                  </a:txBody>
                  <a:tcPr anchor="ctr">
                    <a:solidFill>
                      <a:srgbClr val="FF0000">
                        <a:alpha val="50588"/>
                      </a:srgbClr>
                    </a:solidFill>
                  </a:tcPr>
                </a:tc>
                <a:tc>
                  <a:txBody>
                    <a:bodyPr/>
                    <a:lstStyle/>
                    <a:p>
                      <a:r>
                        <a:rPr lang="en-US" sz="800" dirty="0"/>
                        <a:t>No</a:t>
                      </a:r>
                    </a:p>
                  </a:txBody>
                  <a:tcPr anchor="ctr">
                    <a:solidFill>
                      <a:srgbClr val="FF0000">
                        <a:alpha val="50196"/>
                      </a:srgbClr>
                    </a:solidFill>
                  </a:tcPr>
                </a:tc>
                <a:tc>
                  <a:txBody>
                    <a:bodyPr/>
                    <a:lstStyle/>
                    <a:p>
                      <a:r>
                        <a:rPr lang="en-US" sz="800" b="1" i="0" dirty="0"/>
                        <a:t>PRIMARY_CAUSE: </a:t>
                      </a:r>
                      <a:r>
                        <a:rPr lang="en-US" sz="800" dirty="0"/>
                        <a:t>corrosion, equipment, defective pipe, etc.</a:t>
                      </a:r>
                    </a:p>
                  </a:txBody>
                  <a:tcPr anchor="ctr">
                    <a:noFill/>
                  </a:tcPr>
                </a:tc>
                <a:extLst>
                  <a:ext uri="{0D108BD9-81ED-4DB2-BD59-A6C34878D82A}">
                    <a16:rowId xmlns:a16="http://schemas.microsoft.com/office/drawing/2014/main" val="3479032449"/>
                  </a:ext>
                </a:extLst>
              </a:tr>
              <a:tr h="248019">
                <a:tc>
                  <a:txBody>
                    <a:bodyPr/>
                    <a:lstStyle/>
                    <a:p>
                      <a:pPr algn="ctr"/>
                      <a:r>
                        <a:rPr lang="en-US" sz="1000" dirty="0">
                          <a:solidFill>
                            <a:schemeClr val="bg1"/>
                          </a:solidFill>
                        </a:rPr>
                        <a:t>D</a:t>
                      </a:r>
                    </a:p>
                  </a:txBody>
                  <a:tcPr anchor="ctr">
                    <a:lnR w="12700" cap="flat" cmpd="sng" algn="ctr">
                      <a:solidFill>
                        <a:schemeClr val="tx1"/>
                      </a:solidFill>
                      <a:prstDash val="solid"/>
                      <a:round/>
                      <a:headEnd type="none" w="med" len="med"/>
                      <a:tailEnd type="none" w="med" len="med"/>
                    </a:lnR>
                    <a:solidFill>
                      <a:srgbClr val="FFC000"/>
                    </a:solidFill>
                  </a:tcPr>
                </a:tc>
                <a:tc>
                  <a:txBody>
                    <a:bodyPr/>
                    <a:lstStyle/>
                    <a:p>
                      <a:r>
                        <a:rPr lang="en-US" sz="800" dirty="0"/>
                        <a:t>Accident_hazardous_liquid_1986_jan2002.txt</a:t>
                      </a:r>
                    </a:p>
                  </a:txBody>
                  <a:tcPr anchor="ctr">
                    <a:lnL w="12700" cap="flat" cmpd="sng" algn="ctr">
                      <a:solidFill>
                        <a:schemeClr val="tx1"/>
                      </a:solidFill>
                      <a:prstDash val="solid"/>
                      <a:round/>
                      <a:headEnd type="none" w="med" len="med"/>
                      <a:tailEnd type="none" w="med" len="med"/>
                    </a:lnL>
                    <a:noFill/>
                  </a:tcPr>
                </a:tc>
                <a:tc>
                  <a:txBody>
                    <a:bodyPr/>
                    <a:lstStyle/>
                    <a:p>
                      <a:r>
                        <a:rPr lang="en-US" sz="800" dirty="0"/>
                        <a:t>^ [1986:2002]</a:t>
                      </a:r>
                    </a:p>
                  </a:txBody>
                  <a:tcPr anchor="ctr">
                    <a:noFill/>
                  </a:tcPr>
                </a:tc>
                <a:tc>
                  <a:txBody>
                    <a:bodyPr/>
                    <a:lstStyle/>
                    <a:p>
                      <a:r>
                        <a:rPr lang="en-US" sz="800" dirty="0"/>
                        <a:t>1986 to 2002</a:t>
                      </a:r>
                    </a:p>
                  </a:txBody>
                  <a:tcPr anchor="ctr">
                    <a:noFill/>
                  </a:tcPr>
                </a:tc>
                <a:tc>
                  <a:txBody>
                    <a:bodyPr/>
                    <a:lstStyle/>
                    <a:p>
                      <a:r>
                        <a:rPr lang="en-US" sz="800" dirty="0"/>
                        <a:t>3095</a:t>
                      </a:r>
                    </a:p>
                  </a:txBody>
                  <a:tcPr anchor="ctr">
                    <a:noFill/>
                  </a:tcPr>
                </a:tc>
                <a:tc>
                  <a:txBody>
                    <a:bodyPr/>
                    <a:lstStyle/>
                    <a:p>
                      <a:r>
                        <a:rPr lang="en-US" sz="800" dirty="0"/>
                        <a:t>Crude Oil</a:t>
                      </a:r>
                    </a:p>
                  </a:txBody>
                  <a:tcPr anchor="ctr">
                    <a:noFill/>
                  </a:tcPr>
                </a:tc>
                <a:tc>
                  <a:txBody>
                    <a:bodyPr/>
                    <a:lstStyle/>
                    <a:p>
                      <a:r>
                        <a:rPr lang="en-US" sz="800" dirty="0"/>
                        <a:t>No</a:t>
                      </a:r>
                    </a:p>
                  </a:txBody>
                  <a:tcPr anchor="ctr">
                    <a:solidFill>
                      <a:srgbClr val="FF0000">
                        <a:alpha val="50588"/>
                      </a:srgbClr>
                    </a:solidFill>
                  </a:tcPr>
                </a:tc>
                <a:tc>
                  <a:txBody>
                    <a:bodyPr/>
                    <a:lstStyle/>
                    <a:p>
                      <a:r>
                        <a:rPr lang="en-US" sz="800" dirty="0"/>
                        <a:t>No</a:t>
                      </a:r>
                    </a:p>
                  </a:txBody>
                  <a:tcPr anchor="ctr">
                    <a:solidFill>
                      <a:srgbClr val="FF0000">
                        <a:alpha val="50196"/>
                      </a:srgbClr>
                    </a:solidFill>
                  </a:tcPr>
                </a:tc>
                <a:tc>
                  <a:txBody>
                    <a:bodyPr/>
                    <a:lstStyle/>
                    <a:p>
                      <a:r>
                        <a:rPr lang="en-US" sz="800" b="1" dirty="0"/>
                        <a:t>CAUS: </a:t>
                      </a:r>
                      <a:r>
                        <a:rPr lang="en-US" sz="800" dirty="0"/>
                        <a:t>corrosion, failed pipe, malfunction, etc. ; </a:t>
                      </a:r>
                      <a:r>
                        <a:rPr lang="en-US" sz="800" b="1" dirty="0"/>
                        <a:t>CAUSO:</a:t>
                      </a:r>
                      <a:r>
                        <a:rPr lang="en-US" sz="800" dirty="0"/>
                        <a:t> breakdown of CAUS; </a:t>
                      </a:r>
                      <a:r>
                        <a:rPr lang="en-US" sz="800" b="1" dirty="0"/>
                        <a:t>NARRATIVE</a:t>
                      </a:r>
                    </a:p>
                  </a:txBody>
                  <a:tcPr anchor="ctr">
                    <a:noFill/>
                  </a:tcPr>
                </a:tc>
                <a:extLst>
                  <a:ext uri="{0D108BD9-81ED-4DB2-BD59-A6C34878D82A}">
                    <a16:rowId xmlns:a16="http://schemas.microsoft.com/office/drawing/2014/main" val="2307539387"/>
                  </a:ext>
                </a:extLst>
              </a:tr>
              <a:tr h="248019">
                <a:tc>
                  <a:txBody>
                    <a:bodyPr/>
                    <a:lstStyle/>
                    <a:p>
                      <a:pPr algn="ctr"/>
                      <a:r>
                        <a:rPr lang="en-US" sz="1000" dirty="0">
                          <a:solidFill>
                            <a:schemeClr val="bg1"/>
                          </a:solidFill>
                        </a:rPr>
                        <a:t>E</a:t>
                      </a:r>
                    </a:p>
                  </a:txBody>
                  <a:tcPr anchor="ctr">
                    <a:lnR w="12700" cap="flat" cmpd="sng" algn="ctr">
                      <a:solidFill>
                        <a:schemeClr val="tx1"/>
                      </a:solidFill>
                      <a:prstDash val="solid"/>
                      <a:round/>
                      <a:headEnd type="none" w="med" len="med"/>
                      <a:tailEnd type="none" w="med" len="med"/>
                    </a:lnR>
                    <a:solidFill>
                      <a:srgbClr val="FFC000"/>
                    </a:solidFill>
                  </a:tcPr>
                </a:tc>
                <a:tc>
                  <a:txBody>
                    <a:bodyPr/>
                    <a:lstStyle/>
                    <a:p>
                      <a:r>
                        <a:rPr lang="en-US" sz="800" dirty="0"/>
                        <a:t>Accident_hazardous_liquid_jan2002_dec2009</a:t>
                      </a:r>
                    </a:p>
                  </a:txBody>
                  <a:tcPr anchor="ctr">
                    <a:lnL w="12700" cap="flat" cmpd="sng" algn="ctr">
                      <a:solidFill>
                        <a:schemeClr val="tx1"/>
                      </a:solidFill>
                      <a:prstDash val="solid"/>
                      <a:round/>
                      <a:headEnd type="none" w="med" len="med"/>
                      <a:tailEnd type="none" w="med" len="med"/>
                    </a:lnL>
                    <a:noFill/>
                  </a:tcPr>
                </a:tc>
                <a:tc>
                  <a:txBody>
                    <a:bodyPr/>
                    <a:lstStyle/>
                    <a:p>
                      <a:r>
                        <a:rPr lang="en-US" sz="800" dirty="0"/>
                        <a:t>^ [2002:2009]</a:t>
                      </a:r>
                    </a:p>
                  </a:txBody>
                  <a:tcPr anchor="ctr">
                    <a:noFill/>
                  </a:tcPr>
                </a:tc>
                <a:tc>
                  <a:txBody>
                    <a:bodyPr/>
                    <a:lstStyle/>
                    <a:p>
                      <a:r>
                        <a:rPr lang="en-US" sz="800" dirty="0"/>
                        <a:t>2002 to 2009</a:t>
                      </a:r>
                    </a:p>
                  </a:txBody>
                  <a:tcPr anchor="ctr">
                    <a:noFill/>
                  </a:tcPr>
                </a:tc>
                <a:tc>
                  <a:txBody>
                    <a:bodyPr/>
                    <a:lstStyle/>
                    <a:p>
                      <a:r>
                        <a:rPr lang="en-US" sz="800" dirty="0"/>
                        <a:t>3031</a:t>
                      </a:r>
                    </a:p>
                  </a:txBody>
                  <a:tcPr anchor="ctr">
                    <a:noFill/>
                  </a:tcPr>
                </a:tc>
                <a:tc>
                  <a:txBody>
                    <a:bodyPr/>
                    <a:lstStyle/>
                    <a:p>
                      <a:r>
                        <a:rPr lang="en-US" sz="800" dirty="0"/>
                        <a:t>Crude Oil, Crude Oil Heavy, Crude Oil Sour, Crude Oil / Location, and more</a:t>
                      </a:r>
                    </a:p>
                  </a:txBody>
                  <a:tcPr anchor="ctr">
                    <a:noFill/>
                  </a:tcPr>
                </a:tc>
                <a:tc>
                  <a:txBody>
                    <a:bodyPr/>
                    <a:lstStyle/>
                    <a:p>
                      <a:r>
                        <a:rPr lang="en-US" sz="800" dirty="0"/>
                        <a:t>Not explicitly; can be roughly extrapolated</a:t>
                      </a:r>
                    </a:p>
                  </a:txBody>
                  <a:tcPr anchor="ctr">
                    <a:solidFill>
                      <a:srgbClr val="FFC000">
                        <a:alpha val="50588"/>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Not explicitly; can be roughly extrapolated</a:t>
                      </a:r>
                    </a:p>
                  </a:txBody>
                  <a:tcPr anchor="ctr">
                    <a:solidFill>
                      <a:srgbClr val="FFC000">
                        <a:alpha val="50588"/>
                      </a:srgbClr>
                    </a:solidFill>
                  </a:tcPr>
                </a:tc>
                <a:tc>
                  <a:txBody>
                    <a:bodyPr/>
                    <a:lstStyle/>
                    <a:p>
                      <a:r>
                        <a:rPr lang="en-US" sz="800" dirty="0"/>
                        <a:t>Small spills: </a:t>
                      </a:r>
                      <a:r>
                        <a:rPr lang="en-US" sz="800" b="1" dirty="0"/>
                        <a:t>GEN_CAUSE </a:t>
                      </a:r>
                      <a:r>
                        <a:rPr lang="en-US" sz="800" dirty="0"/>
                        <a:t>(equipment, corrosion, etc.)</a:t>
                      </a:r>
                    </a:p>
                    <a:p>
                      <a:r>
                        <a:rPr lang="en-US" sz="800" dirty="0"/>
                        <a:t>Big spills: </a:t>
                      </a:r>
                      <a:r>
                        <a:rPr lang="en-US" sz="800" b="1" dirty="0"/>
                        <a:t>CAUSE </a:t>
                      </a:r>
                      <a:r>
                        <a:rPr lang="en-US" sz="800" dirty="0"/>
                        <a:t>(more detailed than small spills); </a:t>
                      </a:r>
                      <a:r>
                        <a:rPr lang="en-US" sz="800" b="1" dirty="0"/>
                        <a:t>NARRATIVE</a:t>
                      </a:r>
                    </a:p>
                  </a:txBody>
                  <a:tcPr anchor="ctr">
                    <a:noFill/>
                  </a:tcPr>
                </a:tc>
                <a:extLst>
                  <a:ext uri="{0D108BD9-81ED-4DB2-BD59-A6C34878D82A}">
                    <a16:rowId xmlns:a16="http://schemas.microsoft.com/office/drawing/2014/main" val="1771338020"/>
                  </a:ext>
                </a:extLst>
              </a:tr>
              <a:tr h="248019">
                <a:tc>
                  <a:txBody>
                    <a:bodyPr/>
                    <a:lstStyle/>
                    <a:p>
                      <a:pPr algn="ctr"/>
                      <a:r>
                        <a:rPr lang="en-US" sz="1000" dirty="0">
                          <a:solidFill>
                            <a:schemeClr val="bg1"/>
                          </a:solidFill>
                        </a:rPr>
                        <a:t>F</a:t>
                      </a:r>
                    </a:p>
                  </a:txBody>
                  <a:tcPr anchor="ctr">
                    <a:lnR w="12700" cap="flat" cmpd="sng" algn="ctr">
                      <a:solidFill>
                        <a:schemeClr val="tx1"/>
                      </a:solidFill>
                      <a:prstDash val="solid"/>
                      <a:round/>
                      <a:headEnd type="none" w="med" len="med"/>
                      <a:tailEnd type="none" w="med" len="med"/>
                    </a:lnR>
                    <a:solidFill>
                      <a:srgbClr val="FFC000"/>
                    </a:solidFill>
                  </a:tcPr>
                </a:tc>
                <a:tc>
                  <a:txBody>
                    <a:bodyPr/>
                    <a:lstStyle/>
                    <a:p>
                      <a:r>
                        <a:rPr lang="en-US" sz="800" dirty="0"/>
                        <a:t>Accident_hazardous_liquid_jan2010_present</a:t>
                      </a:r>
                    </a:p>
                  </a:txBody>
                  <a:tcPr anchor="ctr">
                    <a:lnL w="12700" cap="flat" cmpd="sng" algn="ctr">
                      <a:solidFill>
                        <a:schemeClr val="tx1"/>
                      </a:solidFill>
                      <a:prstDash val="solid"/>
                      <a:round/>
                      <a:headEnd type="none" w="med" len="med"/>
                      <a:tailEnd type="none" w="med" len="med"/>
                    </a:lnL>
                    <a:noFill/>
                  </a:tcPr>
                </a:tc>
                <a:tc>
                  <a:txBody>
                    <a:bodyPr/>
                    <a:lstStyle/>
                    <a:p>
                      <a:r>
                        <a:rPr lang="en-US" sz="800" dirty="0"/>
                        <a:t>^ [2010:2023]</a:t>
                      </a:r>
                    </a:p>
                  </a:txBody>
                  <a:tcPr anchor="ctr">
                    <a:noFill/>
                  </a:tcPr>
                </a:tc>
                <a:tc>
                  <a:txBody>
                    <a:bodyPr/>
                    <a:lstStyle/>
                    <a:p>
                      <a:r>
                        <a:rPr lang="en-US" sz="800" dirty="0"/>
                        <a:t>2010 to 2023</a:t>
                      </a:r>
                    </a:p>
                  </a:txBody>
                  <a:tcPr anchor="ctr">
                    <a:noFill/>
                  </a:tcPr>
                </a:tc>
                <a:tc>
                  <a:txBody>
                    <a:bodyPr/>
                    <a:lstStyle/>
                    <a:p>
                      <a:r>
                        <a:rPr lang="en-US" sz="800" dirty="0"/>
                        <a:t>5248</a:t>
                      </a:r>
                    </a:p>
                  </a:txBody>
                  <a:tcPr anchor="ctr">
                    <a:noFill/>
                  </a:tcPr>
                </a:tc>
                <a:tc>
                  <a:txBody>
                    <a:bodyPr/>
                    <a:lstStyle/>
                    <a:p>
                      <a:r>
                        <a:rPr lang="en-US" sz="800" dirty="0"/>
                        <a:t>Crude Oil</a:t>
                      </a:r>
                    </a:p>
                  </a:txBody>
                  <a:tcPr anchor="ctr">
                    <a:noFill/>
                  </a:tcPr>
                </a:tc>
                <a:tc>
                  <a:txBody>
                    <a:bodyPr/>
                    <a:lstStyle/>
                    <a:p>
                      <a:r>
                        <a:rPr lang="en-US" sz="800" dirty="0"/>
                        <a:t>No</a:t>
                      </a:r>
                    </a:p>
                  </a:txBody>
                  <a:tcPr anchor="ctr">
                    <a:solidFill>
                      <a:srgbClr val="FF0000">
                        <a:alpha val="49804"/>
                      </a:srgbClr>
                    </a:solidFill>
                  </a:tcPr>
                </a:tc>
                <a:tc>
                  <a:txBody>
                    <a:bodyPr/>
                    <a:lstStyle/>
                    <a:p>
                      <a:r>
                        <a:rPr lang="en-US" sz="800" dirty="0"/>
                        <a:t>No</a:t>
                      </a:r>
                    </a:p>
                  </a:txBody>
                  <a:tcPr anchor="ctr">
                    <a:solidFill>
                      <a:srgbClr val="FF0000">
                        <a:alpha val="49804"/>
                      </a:srgbClr>
                    </a:solidFill>
                  </a:tcPr>
                </a:tc>
                <a:tc>
                  <a:txBody>
                    <a:bodyPr/>
                    <a:lstStyle/>
                    <a:p>
                      <a:r>
                        <a:rPr lang="en-US" sz="800" b="1" dirty="0"/>
                        <a:t>CAUSE:</a:t>
                      </a:r>
                      <a:r>
                        <a:rPr lang="en-US" sz="800" dirty="0"/>
                        <a:t> corrosion, equipment, manual error, etc.</a:t>
                      </a:r>
                    </a:p>
                    <a:p>
                      <a:r>
                        <a:rPr lang="en-US" sz="800" b="1" dirty="0"/>
                        <a:t>CAUSE_DETAILS: </a:t>
                      </a:r>
                      <a:r>
                        <a:rPr lang="en-US" sz="800" dirty="0"/>
                        <a:t>more detailed than above; </a:t>
                      </a:r>
                      <a:r>
                        <a:rPr lang="en-US" sz="800" b="1" dirty="0"/>
                        <a:t>NARRATIVE</a:t>
                      </a:r>
                    </a:p>
                  </a:txBody>
                  <a:tcPr anchor="ctr">
                    <a:noFill/>
                  </a:tcPr>
                </a:tc>
                <a:extLst>
                  <a:ext uri="{0D108BD9-81ED-4DB2-BD59-A6C34878D82A}">
                    <a16:rowId xmlns:a16="http://schemas.microsoft.com/office/drawing/2014/main" val="2476054352"/>
                  </a:ext>
                </a:extLst>
              </a:tr>
              <a:tr h="248019">
                <a:tc>
                  <a:txBody>
                    <a:bodyPr/>
                    <a:lstStyle/>
                    <a:p>
                      <a:pPr algn="ctr"/>
                      <a:r>
                        <a:rPr lang="en-US" sz="1000" dirty="0">
                          <a:solidFill>
                            <a:schemeClr val="bg1"/>
                          </a:solidFill>
                        </a:rPr>
                        <a:t>G</a:t>
                      </a:r>
                    </a:p>
                  </a:txBody>
                  <a:tcPr anchor="ctr">
                    <a:lnR w="12700" cap="flat" cmpd="sng" algn="ctr">
                      <a:solidFill>
                        <a:schemeClr val="tx1"/>
                      </a:solidFill>
                      <a:prstDash val="solid"/>
                      <a:round/>
                      <a:headEnd type="none" w="med" len="med"/>
                      <a:tailEnd type="none" w="med" len="med"/>
                    </a:lnR>
                    <a:solidFill>
                      <a:srgbClr val="FFC000"/>
                    </a:solidFill>
                  </a:tcPr>
                </a:tc>
                <a:tc>
                  <a:txBody>
                    <a:bodyPr/>
                    <a:lstStyle/>
                    <a:p>
                      <a:r>
                        <a:rPr lang="en-US" sz="800" dirty="0"/>
                        <a:t>Accident_gravity_reporting_regulated_jul2020_present.txt</a:t>
                      </a:r>
                    </a:p>
                  </a:txBody>
                  <a:tcPr anchor="ctr">
                    <a:lnL w="12700" cap="flat" cmpd="sng" algn="ctr">
                      <a:solidFill>
                        <a:schemeClr val="tx1"/>
                      </a:solidFill>
                      <a:prstDash val="solid"/>
                      <a:round/>
                      <a:headEnd type="none" w="med" len="med"/>
                      <a:tailEnd type="none" w="med" len="med"/>
                    </a:lnL>
                    <a:noFill/>
                  </a:tcPr>
                </a:tc>
                <a:tc>
                  <a:txBody>
                    <a:bodyPr/>
                    <a:lstStyle/>
                    <a:p>
                      <a:r>
                        <a:rPr lang="en-US" sz="800" dirty="0"/>
                        <a:t>Transportation incidents of hazardous liquids flowing through gravity pipelines. </a:t>
                      </a:r>
                    </a:p>
                  </a:txBody>
                  <a:tcPr anchor="ctr">
                    <a:noFill/>
                  </a:tcPr>
                </a:tc>
                <a:tc>
                  <a:txBody>
                    <a:bodyPr/>
                    <a:lstStyle/>
                    <a:p>
                      <a:r>
                        <a:rPr lang="en-US" sz="800" dirty="0"/>
                        <a:t>2021 to 2023</a:t>
                      </a:r>
                    </a:p>
                  </a:txBody>
                  <a:tcPr anchor="ctr">
                    <a:noFill/>
                  </a:tcPr>
                </a:tc>
                <a:tc>
                  <a:txBody>
                    <a:bodyPr/>
                    <a:lstStyle/>
                    <a:p>
                      <a:r>
                        <a:rPr lang="en-US" sz="800" dirty="0"/>
                        <a:t>297</a:t>
                      </a:r>
                    </a:p>
                  </a:txBody>
                  <a:tcPr anchor="ctr">
                    <a:noFill/>
                  </a:tcPr>
                </a:tc>
                <a:tc>
                  <a:txBody>
                    <a:bodyPr/>
                    <a:lstStyle/>
                    <a:p>
                      <a:r>
                        <a:rPr lang="en-US" sz="800" dirty="0"/>
                        <a:t>Crude Oil (Nothing else)</a:t>
                      </a:r>
                    </a:p>
                  </a:txBody>
                  <a:tcPr anchor="ctr">
                    <a:noFill/>
                  </a:tcPr>
                </a:tc>
                <a:tc>
                  <a:txBody>
                    <a:bodyPr/>
                    <a:lstStyle/>
                    <a:p>
                      <a:r>
                        <a:rPr lang="en-US" sz="800" dirty="0"/>
                        <a:t>No</a:t>
                      </a:r>
                    </a:p>
                  </a:txBody>
                  <a:tcPr anchor="ctr">
                    <a:solidFill>
                      <a:srgbClr val="FF0000">
                        <a:alpha val="49804"/>
                      </a:srgbClr>
                    </a:solidFill>
                  </a:tcPr>
                </a:tc>
                <a:tc>
                  <a:txBody>
                    <a:bodyPr/>
                    <a:lstStyle/>
                    <a:p>
                      <a:r>
                        <a:rPr lang="en-US" sz="800" dirty="0"/>
                        <a:t>No</a:t>
                      </a:r>
                    </a:p>
                  </a:txBody>
                  <a:tcPr anchor="ctr">
                    <a:solidFill>
                      <a:srgbClr val="FF0000">
                        <a:alpha val="49804"/>
                      </a:srgbClr>
                    </a:solidFill>
                  </a:tcPr>
                </a:tc>
                <a:tc>
                  <a:txBody>
                    <a:bodyPr/>
                    <a:lstStyle/>
                    <a:p>
                      <a:r>
                        <a:rPr lang="en-US" sz="800" b="1" dirty="0"/>
                        <a:t>CAUSE:</a:t>
                      </a:r>
                      <a:r>
                        <a:rPr lang="en-US" sz="800" dirty="0"/>
                        <a:t> corrosion, equipment, manual error, etc.</a:t>
                      </a:r>
                    </a:p>
                    <a:p>
                      <a:r>
                        <a:rPr lang="en-US" sz="800" b="1" dirty="0"/>
                        <a:t>CAUSE_DETAILS: </a:t>
                      </a:r>
                      <a:r>
                        <a:rPr lang="en-US" sz="800" dirty="0"/>
                        <a:t>more detailed than above; NARRATIVE</a:t>
                      </a:r>
                    </a:p>
                  </a:txBody>
                  <a:tcPr anchor="ctr">
                    <a:noFill/>
                  </a:tcPr>
                </a:tc>
                <a:extLst>
                  <a:ext uri="{0D108BD9-81ED-4DB2-BD59-A6C34878D82A}">
                    <a16:rowId xmlns:a16="http://schemas.microsoft.com/office/drawing/2014/main" val="967564320"/>
                  </a:ext>
                </a:extLst>
              </a:tr>
            </a:tbl>
          </a:graphicData>
        </a:graphic>
      </p:graphicFrame>
      <p:sp>
        <p:nvSpPr>
          <p:cNvPr id="14" name="TextBox 13">
            <a:extLst>
              <a:ext uri="{FF2B5EF4-FFF2-40B4-BE49-F238E27FC236}">
                <a16:creationId xmlns:a16="http://schemas.microsoft.com/office/drawing/2014/main" id="{B7082469-53E4-5BB0-0EA1-AF46CA9402B9}"/>
              </a:ext>
            </a:extLst>
          </p:cNvPr>
          <p:cNvSpPr txBox="1"/>
          <p:nvPr/>
        </p:nvSpPr>
        <p:spPr>
          <a:xfrm>
            <a:off x="348341" y="4873745"/>
            <a:ext cx="2272940" cy="1277273"/>
          </a:xfrm>
          <a:prstGeom prst="rect">
            <a:avLst/>
          </a:prstGeom>
          <a:noFill/>
        </p:spPr>
        <p:txBody>
          <a:bodyPr wrap="square" rtlCol="0">
            <a:spAutoFit/>
          </a:bodyPr>
          <a:lstStyle/>
          <a:p>
            <a:r>
              <a:rPr lang="en-US" sz="1100" dirty="0"/>
              <a:t>The Pipeline and Hazardous Materials Safety Administration (PHMSA) is responsible for regulating and ensuring the safe and secure movement of hazardous materials within the United States [7].</a:t>
            </a:r>
          </a:p>
        </p:txBody>
      </p:sp>
      <p:sp>
        <p:nvSpPr>
          <p:cNvPr id="7" name="Rounded Rectangle 6">
            <a:extLst>
              <a:ext uri="{FF2B5EF4-FFF2-40B4-BE49-F238E27FC236}">
                <a16:creationId xmlns:a16="http://schemas.microsoft.com/office/drawing/2014/main" id="{28516C13-C562-2C46-5461-CB9ADDAC9408}"/>
              </a:ext>
            </a:extLst>
          </p:cNvPr>
          <p:cNvSpPr/>
          <p:nvPr/>
        </p:nvSpPr>
        <p:spPr>
          <a:xfrm>
            <a:off x="348341" y="1694467"/>
            <a:ext cx="2272940" cy="350164"/>
          </a:xfrm>
          <a:prstGeom prst="roundRect">
            <a:avLst/>
          </a:prstGeom>
          <a:solidFill>
            <a:srgbClr val="257E88"/>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Canadian Datasets</a:t>
            </a:r>
            <a:r>
              <a:rPr lang="en-US" sz="1400" dirty="0">
                <a:solidFill>
                  <a:srgbClr val="FF0000"/>
                </a:solidFill>
              </a:rPr>
              <a:t>*</a:t>
            </a:r>
            <a:endParaRPr lang="en-US" sz="1400" dirty="0">
              <a:solidFill>
                <a:schemeClr val="bg1"/>
              </a:solidFill>
            </a:endParaRPr>
          </a:p>
        </p:txBody>
      </p:sp>
      <p:sp>
        <p:nvSpPr>
          <p:cNvPr id="10" name="Rounded Rectangle 9">
            <a:extLst>
              <a:ext uri="{FF2B5EF4-FFF2-40B4-BE49-F238E27FC236}">
                <a16:creationId xmlns:a16="http://schemas.microsoft.com/office/drawing/2014/main" id="{AEFB077F-7647-224C-67AF-4025534A4958}"/>
              </a:ext>
            </a:extLst>
          </p:cNvPr>
          <p:cNvSpPr/>
          <p:nvPr/>
        </p:nvSpPr>
        <p:spPr>
          <a:xfrm>
            <a:off x="348341" y="4446407"/>
            <a:ext cx="2272940" cy="350164"/>
          </a:xfrm>
          <a:prstGeom prst="roundRect">
            <a:avLst/>
          </a:prstGeom>
          <a:solidFill>
            <a:srgbClr val="FFC000"/>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American Datasets</a:t>
            </a:r>
            <a:endParaRPr lang="en-US" sz="1400" dirty="0">
              <a:solidFill>
                <a:srgbClr val="FF0000"/>
              </a:solidFill>
            </a:endParaRPr>
          </a:p>
        </p:txBody>
      </p:sp>
      <p:sp>
        <p:nvSpPr>
          <p:cNvPr id="11" name="TextBox 10">
            <a:extLst>
              <a:ext uri="{FF2B5EF4-FFF2-40B4-BE49-F238E27FC236}">
                <a16:creationId xmlns:a16="http://schemas.microsoft.com/office/drawing/2014/main" id="{0EBA3669-ECF5-C373-E647-E88DA4775883}"/>
              </a:ext>
            </a:extLst>
          </p:cNvPr>
          <p:cNvSpPr txBox="1"/>
          <p:nvPr/>
        </p:nvSpPr>
        <p:spPr>
          <a:xfrm>
            <a:off x="348341" y="6330190"/>
            <a:ext cx="7376162" cy="215444"/>
          </a:xfrm>
          <a:prstGeom prst="rect">
            <a:avLst/>
          </a:prstGeom>
          <a:noFill/>
        </p:spPr>
        <p:txBody>
          <a:bodyPr wrap="square" rtlCol="0">
            <a:spAutoFit/>
          </a:bodyPr>
          <a:lstStyle/>
          <a:p>
            <a:r>
              <a:rPr lang="en-US" sz="800" i="1" dirty="0">
                <a:solidFill>
                  <a:srgbClr val="FF0000"/>
                </a:solidFill>
              </a:rPr>
              <a:t>*</a:t>
            </a:r>
            <a:r>
              <a:rPr lang="en-US" sz="800" i="1" dirty="0"/>
              <a:t>Omitting pipeline transportation occurrence data from Jan 1979 to 1990 as the TSB does not warrant the quality, accuracy, reliability or completeness of its data </a:t>
            </a:r>
            <a:r>
              <a:rPr lang="en-US" sz="800" dirty="0"/>
              <a:t>[8]</a:t>
            </a:r>
          </a:p>
        </p:txBody>
      </p:sp>
    </p:spTree>
    <p:extLst>
      <p:ext uri="{BB962C8B-B14F-4D97-AF65-F5344CB8AC3E}">
        <p14:creationId xmlns:p14="http://schemas.microsoft.com/office/powerpoint/2010/main" val="3456471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Approach</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B26CFC8-9196-77DE-28B4-BD7F7CB3C76A}"/>
              </a:ext>
            </a:extLst>
          </p:cNvPr>
          <p:cNvSpPr txBox="1"/>
          <p:nvPr/>
        </p:nvSpPr>
        <p:spPr>
          <a:xfrm>
            <a:off x="348342" y="1047347"/>
            <a:ext cx="11408227" cy="307777"/>
          </a:xfrm>
          <a:prstGeom prst="rect">
            <a:avLst/>
          </a:prstGeom>
          <a:noFill/>
        </p:spPr>
        <p:txBody>
          <a:bodyPr wrap="square" rtlCol="0">
            <a:spAutoFit/>
          </a:bodyPr>
          <a:lstStyle/>
          <a:p>
            <a:r>
              <a:rPr lang="en-US" sz="1400" dirty="0"/>
              <a:t>Before diving into a dataset, we need to ensure that we’re taking a logical approach to the problem that encompasses the possible scenarios / outcomes. </a:t>
            </a:r>
          </a:p>
        </p:txBody>
      </p:sp>
      <p:sp>
        <p:nvSpPr>
          <p:cNvPr id="3" name="Rectangle 2">
            <a:extLst>
              <a:ext uri="{FF2B5EF4-FFF2-40B4-BE49-F238E27FC236}">
                <a16:creationId xmlns:a16="http://schemas.microsoft.com/office/drawing/2014/main" id="{C2A2411A-DBDF-7D53-90BD-BBE56554D54F}"/>
              </a:ext>
            </a:extLst>
          </p:cNvPr>
          <p:cNvSpPr/>
          <p:nvPr/>
        </p:nvSpPr>
        <p:spPr>
          <a:xfrm>
            <a:off x="431074" y="1578454"/>
            <a:ext cx="4343400"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rPr>
              <a:t>Approach #1 – Crude Oil vs. NOT Crude Oil</a:t>
            </a:r>
          </a:p>
        </p:txBody>
      </p:sp>
      <p:sp>
        <p:nvSpPr>
          <p:cNvPr id="12" name="Rectangle 11">
            <a:extLst>
              <a:ext uri="{FF2B5EF4-FFF2-40B4-BE49-F238E27FC236}">
                <a16:creationId xmlns:a16="http://schemas.microsoft.com/office/drawing/2014/main" id="{72D1A525-016C-9143-3201-5D1A79270C06}"/>
              </a:ext>
            </a:extLst>
          </p:cNvPr>
          <p:cNvSpPr/>
          <p:nvPr/>
        </p:nvSpPr>
        <p:spPr>
          <a:xfrm>
            <a:off x="431075" y="1852934"/>
            <a:ext cx="11325494" cy="6042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One way to determine whether the physical or chemical properties of crude oil influence pipeline accidents is to look at accidents that involved crude oil versus accidents that involved transporting other substances (e.g., natural gas). If there is a discernable difference between accidents for different substance types, we may be able to infer that there are inherent properties of crude oil (that don’t exist / are less prominent in other substances) that are contributing to these incidents. </a:t>
            </a:r>
          </a:p>
        </p:txBody>
      </p:sp>
      <p:sp>
        <p:nvSpPr>
          <p:cNvPr id="17" name="Rectangle 16">
            <a:extLst>
              <a:ext uri="{FF2B5EF4-FFF2-40B4-BE49-F238E27FC236}">
                <a16:creationId xmlns:a16="http://schemas.microsoft.com/office/drawing/2014/main" id="{7CA72A83-84C5-489D-8F07-2433F6F5EEE9}"/>
              </a:ext>
            </a:extLst>
          </p:cNvPr>
          <p:cNvSpPr/>
          <p:nvPr/>
        </p:nvSpPr>
        <p:spPr>
          <a:xfrm>
            <a:off x="431073" y="2675223"/>
            <a:ext cx="4343400"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rPr>
              <a:t>Approach #2 – Inherent Properties of Crude Oil</a:t>
            </a:r>
          </a:p>
        </p:txBody>
      </p:sp>
      <p:sp>
        <p:nvSpPr>
          <p:cNvPr id="18" name="Rectangle 17">
            <a:extLst>
              <a:ext uri="{FF2B5EF4-FFF2-40B4-BE49-F238E27FC236}">
                <a16:creationId xmlns:a16="http://schemas.microsoft.com/office/drawing/2014/main" id="{FF605883-41C7-67CD-6439-76AB53A70B32}"/>
              </a:ext>
            </a:extLst>
          </p:cNvPr>
          <p:cNvSpPr/>
          <p:nvPr/>
        </p:nvSpPr>
        <p:spPr>
          <a:xfrm>
            <a:off x="431074" y="2949703"/>
            <a:ext cx="11325494" cy="4546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The second, and perhaps more direct approach to the problem, is to evaluate crude-oil specific incidents to see if its variations in composition (heavy vs. light, sour vs. sweet) are a direct contributor to pipeline accidents. </a:t>
            </a:r>
          </a:p>
        </p:txBody>
      </p:sp>
      <p:sp>
        <p:nvSpPr>
          <p:cNvPr id="19" name="Rectangle 18">
            <a:extLst>
              <a:ext uri="{FF2B5EF4-FFF2-40B4-BE49-F238E27FC236}">
                <a16:creationId xmlns:a16="http://schemas.microsoft.com/office/drawing/2014/main" id="{96495A1D-B2B7-7CD6-77E9-BF67F27A5E3A}"/>
              </a:ext>
            </a:extLst>
          </p:cNvPr>
          <p:cNvSpPr/>
          <p:nvPr/>
        </p:nvSpPr>
        <p:spPr>
          <a:xfrm>
            <a:off x="431073" y="3622431"/>
            <a:ext cx="4343400" cy="274480"/>
          </a:xfrm>
          <a:prstGeom prst="rect">
            <a:avLst/>
          </a:prstGeom>
          <a:solidFill>
            <a:srgbClr val="36AAB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rPr>
              <a:t>Considerations for Dataset Selection</a:t>
            </a:r>
          </a:p>
        </p:txBody>
      </p:sp>
      <p:sp>
        <p:nvSpPr>
          <p:cNvPr id="20" name="Rectangle 19">
            <a:extLst>
              <a:ext uri="{FF2B5EF4-FFF2-40B4-BE49-F238E27FC236}">
                <a16:creationId xmlns:a16="http://schemas.microsoft.com/office/drawing/2014/main" id="{FC8A95D3-27E0-ECF9-CC5A-4C0C53440C24}"/>
              </a:ext>
            </a:extLst>
          </p:cNvPr>
          <p:cNvSpPr/>
          <p:nvPr/>
        </p:nvSpPr>
        <p:spPr>
          <a:xfrm>
            <a:off x="431073" y="3896911"/>
            <a:ext cx="5664928" cy="21816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Given that we have both Canadian and American datasets, it would be ideal to analyze at least one of each because:</a:t>
            </a:r>
          </a:p>
          <a:p>
            <a:pPr lvl="1"/>
            <a:r>
              <a:rPr lang="en-US" sz="1100" dirty="0">
                <a:solidFill>
                  <a:schemeClr val="tx1"/>
                </a:solidFill>
              </a:rPr>
              <a:t>1) The data that is required by the governing bodies may vary and therefore result in different attributes / information provided about the incident</a:t>
            </a:r>
          </a:p>
          <a:p>
            <a:pPr lvl="1"/>
            <a:r>
              <a:rPr lang="en-US" sz="1100" dirty="0">
                <a:solidFill>
                  <a:schemeClr val="tx1"/>
                </a:solidFill>
              </a:rPr>
              <a:t>2) Canada and the USA have varying geographies, and this may influence substance properties (e.g., difference in temperature could affect corrosion rates)</a:t>
            </a:r>
          </a:p>
          <a:p>
            <a:pPr lvl="1"/>
            <a:r>
              <a:rPr lang="en-US" sz="1100" dirty="0">
                <a:solidFill>
                  <a:schemeClr val="tx1"/>
                </a:solidFill>
              </a:rPr>
              <a:t>3) Because Canada and the USA have different governing bodies for their pipelines, the pipeline-specific specifications (e.g., what materials meet code to build pipelines) may vary, which could contribute to pipeline incidents based on the substance being transported</a:t>
            </a:r>
          </a:p>
          <a:p>
            <a:endParaRPr lang="en-US" sz="1100" dirty="0">
              <a:solidFill>
                <a:schemeClr val="tx1"/>
              </a:solidFill>
            </a:endParaRPr>
          </a:p>
          <a:p>
            <a:r>
              <a:rPr lang="en-US" sz="1100" dirty="0">
                <a:solidFill>
                  <a:schemeClr val="tx1"/>
                </a:solidFill>
              </a:rPr>
              <a:t>Additionally, it seems logical to select data that is as recent as possible and to select datasets with the highest number of records (assuming they are of decent quality). </a:t>
            </a:r>
          </a:p>
        </p:txBody>
      </p:sp>
      <p:sp>
        <p:nvSpPr>
          <p:cNvPr id="22" name="Rounded Rectangle 21">
            <a:extLst>
              <a:ext uri="{FF2B5EF4-FFF2-40B4-BE49-F238E27FC236}">
                <a16:creationId xmlns:a16="http://schemas.microsoft.com/office/drawing/2014/main" id="{D90506D5-ACF7-6CAA-4882-B29231330357}"/>
              </a:ext>
            </a:extLst>
          </p:cNvPr>
          <p:cNvSpPr/>
          <p:nvPr/>
        </p:nvSpPr>
        <p:spPr>
          <a:xfrm>
            <a:off x="6479175" y="3896911"/>
            <a:ext cx="5277391" cy="1903240"/>
          </a:xfrm>
          <a:prstGeom prst="roundRect">
            <a:avLst/>
          </a:prstGeom>
          <a:noFill/>
          <a:ln>
            <a:solidFill>
              <a:srgbClr val="36AAB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b="1" u="sng" dirty="0">
                <a:solidFill>
                  <a:schemeClr val="tx1"/>
                </a:solidFill>
              </a:rPr>
              <a:t>Dataset Collection</a:t>
            </a:r>
          </a:p>
          <a:p>
            <a:endParaRPr lang="en-US" sz="1100" dirty="0">
              <a:solidFill>
                <a:schemeClr val="tx1"/>
              </a:solidFill>
            </a:endParaRPr>
          </a:p>
          <a:p>
            <a:r>
              <a:rPr lang="en-US" sz="1100" dirty="0">
                <a:solidFill>
                  <a:schemeClr val="tx1"/>
                </a:solidFill>
              </a:rPr>
              <a:t>Given our desired approaches and considerations for dataset selection, I am choosing to use dataset A (Canada) for </a:t>
            </a:r>
            <a:r>
              <a:rPr lang="en-US" sz="1100" b="1" dirty="0">
                <a:solidFill>
                  <a:schemeClr val="tx1"/>
                </a:solidFill>
              </a:rPr>
              <a:t>Approach #1 </a:t>
            </a:r>
            <a:r>
              <a:rPr lang="en-US" sz="1100" dirty="0">
                <a:solidFill>
                  <a:schemeClr val="tx1"/>
                </a:solidFill>
              </a:rPr>
              <a:t>and dataset E (USA) for </a:t>
            </a:r>
            <a:r>
              <a:rPr lang="en-US" sz="1100" b="1" dirty="0">
                <a:solidFill>
                  <a:schemeClr val="tx1"/>
                </a:solidFill>
              </a:rPr>
              <a:t>Approach #2</a:t>
            </a:r>
            <a:r>
              <a:rPr lang="en-US" sz="1100" dirty="0">
                <a:solidFill>
                  <a:schemeClr val="tx1"/>
                </a:solidFill>
              </a:rPr>
              <a:t>. </a:t>
            </a:r>
          </a:p>
          <a:p>
            <a:endParaRPr lang="en-US" sz="1100" dirty="0">
              <a:solidFill>
                <a:schemeClr val="tx1"/>
              </a:solidFill>
            </a:endParaRPr>
          </a:p>
          <a:p>
            <a:r>
              <a:rPr lang="en-US" sz="1100" dirty="0">
                <a:solidFill>
                  <a:schemeClr val="tx1"/>
                </a:solidFill>
              </a:rPr>
              <a:t>Dataset E had to be used for </a:t>
            </a:r>
            <a:r>
              <a:rPr lang="en-US" sz="1100" b="1" dirty="0">
                <a:solidFill>
                  <a:schemeClr val="tx1"/>
                </a:solidFill>
              </a:rPr>
              <a:t>Approach #2 </a:t>
            </a:r>
            <a:r>
              <a:rPr lang="en-US" sz="1100" dirty="0">
                <a:solidFill>
                  <a:schemeClr val="tx1"/>
                </a:solidFill>
              </a:rPr>
              <a:t>given that it is the only dataset that contains property-specific information about the crude oil being transported</a:t>
            </a:r>
            <a:r>
              <a:rPr lang="en-US" sz="1100" dirty="0">
                <a:solidFill>
                  <a:srgbClr val="FF0000"/>
                </a:solidFill>
              </a:rPr>
              <a:t>*</a:t>
            </a:r>
            <a:r>
              <a:rPr lang="en-US" sz="1100" dirty="0">
                <a:solidFill>
                  <a:schemeClr val="tx1"/>
                </a:solidFill>
              </a:rPr>
              <a:t>. That left the two Canadian datasets for </a:t>
            </a:r>
            <a:r>
              <a:rPr lang="en-US" sz="1100" b="1" dirty="0">
                <a:solidFill>
                  <a:schemeClr val="tx1"/>
                </a:solidFill>
              </a:rPr>
              <a:t>Approach #1</a:t>
            </a:r>
            <a:r>
              <a:rPr lang="en-US" sz="1100" dirty="0">
                <a:solidFill>
                  <a:schemeClr val="tx1"/>
                </a:solidFill>
              </a:rPr>
              <a:t>; I selected dataset A as dataset B contained information about incidents at pipeline facilities / processing plants which is outside of the scope of this analysis.</a:t>
            </a:r>
          </a:p>
          <a:p>
            <a:endParaRPr lang="en-US" sz="1100" dirty="0">
              <a:solidFill>
                <a:schemeClr val="tx1"/>
              </a:solidFill>
            </a:endParaRPr>
          </a:p>
          <a:p>
            <a:endParaRPr lang="en-US" sz="1100" b="1" u="sng" dirty="0">
              <a:solidFill>
                <a:schemeClr val="tx1"/>
              </a:solidFill>
            </a:endParaRPr>
          </a:p>
        </p:txBody>
      </p:sp>
      <p:sp>
        <p:nvSpPr>
          <p:cNvPr id="23" name="Rectangle 22">
            <a:extLst>
              <a:ext uri="{FF2B5EF4-FFF2-40B4-BE49-F238E27FC236}">
                <a16:creationId xmlns:a16="http://schemas.microsoft.com/office/drawing/2014/main" id="{2F92E6FA-8479-FE93-FB48-08FDAF4C7FDC}"/>
              </a:ext>
            </a:extLst>
          </p:cNvPr>
          <p:cNvSpPr/>
          <p:nvPr/>
        </p:nvSpPr>
        <p:spPr>
          <a:xfrm>
            <a:off x="6479176" y="5836369"/>
            <a:ext cx="5277391" cy="2484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rgbClr val="FF0000"/>
                </a:solidFill>
              </a:rPr>
              <a:t>*</a:t>
            </a:r>
            <a:r>
              <a:rPr lang="en-US" sz="800" dirty="0">
                <a:solidFill>
                  <a:schemeClr val="tx1"/>
                </a:solidFill>
              </a:rPr>
              <a:t>Dataset B contains crude oil vs. crude oil-sour, however, only two of the hundreds of crude oil records are crude oil-sour. </a:t>
            </a:r>
          </a:p>
        </p:txBody>
      </p:sp>
    </p:spTree>
    <p:extLst>
      <p:ext uri="{BB962C8B-B14F-4D97-AF65-F5344CB8AC3E}">
        <p14:creationId xmlns:p14="http://schemas.microsoft.com/office/powerpoint/2010/main" val="15221184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Analysis – Approach #1</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862E31D-0345-BEBE-7624-873846F702F6}"/>
              </a:ext>
            </a:extLst>
          </p:cNvPr>
          <p:cNvSpPr txBox="1"/>
          <p:nvPr/>
        </p:nvSpPr>
        <p:spPr>
          <a:xfrm>
            <a:off x="348342" y="1047347"/>
            <a:ext cx="11408227" cy="523220"/>
          </a:xfrm>
          <a:prstGeom prst="rect">
            <a:avLst/>
          </a:prstGeom>
          <a:noFill/>
        </p:spPr>
        <p:txBody>
          <a:bodyPr wrap="square" rtlCol="0">
            <a:spAutoFit/>
          </a:bodyPr>
          <a:lstStyle/>
          <a:p>
            <a:r>
              <a:rPr lang="en-US" sz="1400" dirty="0"/>
              <a:t>The key steps taken in the analysis of </a:t>
            </a:r>
            <a:r>
              <a:rPr lang="en-US" sz="1400" b="1" dirty="0"/>
              <a:t>Approach #1 </a:t>
            </a:r>
            <a:r>
              <a:rPr lang="en-US" sz="1400" dirty="0"/>
              <a:t>are summarized below. The corresponding script for this analysis is in the “</a:t>
            </a:r>
            <a:r>
              <a:rPr lang="en-US" sz="1400" dirty="0" err="1"/>
              <a:t>dataset_A.ipynb</a:t>
            </a:r>
            <a:r>
              <a:rPr lang="en-US" sz="1400" dirty="0"/>
              <a:t>” file, which falls under the “</a:t>
            </a:r>
            <a:r>
              <a:rPr lang="en-US" sz="1400" dirty="0" err="1"/>
              <a:t>src</a:t>
            </a:r>
            <a:r>
              <a:rPr lang="en-US" sz="1400" dirty="0"/>
              <a:t>” folder. The script itself includes further explanation of the decision-making process. </a:t>
            </a:r>
          </a:p>
        </p:txBody>
      </p:sp>
      <p:graphicFrame>
        <p:nvGraphicFramePr>
          <p:cNvPr id="5" name="Table 4">
            <a:extLst>
              <a:ext uri="{FF2B5EF4-FFF2-40B4-BE49-F238E27FC236}">
                <a16:creationId xmlns:a16="http://schemas.microsoft.com/office/drawing/2014/main" id="{CCA75BF7-BB04-89B2-FA61-7C258FBA389E}"/>
              </a:ext>
            </a:extLst>
          </p:cNvPr>
          <p:cNvGraphicFramePr>
            <a:graphicFrameLocks noGrp="1"/>
          </p:cNvGraphicFramePr>
          <p:nvPr>
            <p:extLst>
              <p:ext uri="{D42A27DB-BD31-4B8C-83A1-F6EECF244321}">
                <p14:modId xmlns:p14="http://schemas.microsoft.com/office/powerpoint/2010/main" val="62637484"/>
              </p:ext>
            </p:extLst>
          </p:nvPr>
        </p:nvGraphicFramePr>
        <p:xfrm>
          <a:off x="348342" y="1694803"/>
          <a:ext cx="11408226" cy="4632960"/>
        </p:xfrm>
        <a:graphic>
          <a:graphicData uri="http://schemas.openxmlformats.org/drawingml/2006/table">
            <a:tbl>
              <a:tblPr firstRow="1" bandRow="1">
                <a:tableStyleId>{5C22544A-7EE6-4342-B048-85BDC9FD1C3A}</a:tableStyleId>
              </a:tblPr>
              <a:tblGrid>
                <a:gridCol w="1200759">
                  <a:extLst>
                    <a:ext uri="{9D8B030D-6E8A-4147-A177-3AD203B41FA5}">
                      <a16:colId xmlns:a16="http://schemas.microsoft.com/office/drawing/2014/main" val="229692544"/>
                    </a:ext>
                  </a:extLst>
                </a:gridCol>
                <a:gridCol w="10207467">
                  <a:extLst>
                    <a:ext uri="{9D8B030D-6E8A-4147-A177-3AD203B41FA5}">
                      <a16:colId xmlns:a16="http://schemas.microsoft.com/office/drawing/2014/main" val="2013799710"/>
                    </a:ext>
                  </a:extLst>
                </a:gridCol>
              </a:tblGrid>
              <a:tr h="203984">
                <a:tc>
                  <a:txBody>
                    <a:bodyPr/>
                    <a:lstStyle/>
                    <a:p>
                      <a:r>
                        <a:rPr lang="en-US" sz="1000" dirty="0">
                          <a:solidFill>
                            <a:schemeClr val="tx1"/>
                          </a:solidFill>
                        </a:rPr>
                        <a:t>Step</a:t>
                      </a:r>
                    </a:p>
                  </a:txBody>
                  <a:tcP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Description</a:t>
                      </a:r>
                    </a:p>
                  </a:txBody>
                  <a:tcP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4148481"/>
                  </a:ext>
                </a:extLst>
              </a:tr>
              <a:tr h="216733">
                <a:tc>
                  <a:txBody>
                    <a:bodyPr/>
                    <a:lstStyle/>
                    <a:p>
                      <a:r>
                        <a:rPr lang="en-US" sz="1100" dirty="0">
                          <a:solidFill>
                            <a:schemeClr val="tx1"/>
                          </a:solidFill>
                        </a:rPr>
                        <a:t>1. Data Ingestion</a:t>
                      </a:r>
                    </a:p>
                  </a:txBody>
                  <a:tcPr>
                    <a:lnT w="12700" cap="flat" cmpd="sng" algn="ctr">
                      <a:solidFill>
                        <a:schemeClr val="tx1"/>
                      </a:solidFill>
                      <a:prstDash val="solid"/>
                      <a:round/>
                      <a:headEnd type="none" w="med" len="med"/>
                      <a:tailEnd type="none" w="med" len="med"/>
                    </a:lnT>
                    <a:noFill/>
                  </a:tcPr>
                </a:tc>
                <a:tc>
                  <a:txBody>
                    <a:bodyPr/>
                    <a:lstStyle/>
                    <a:p>
                      <a:r>
                        <a:rPr lang="en-US" sz="1100" dirty="0">
                          <a:solidFill>
                            <a:schemeClr val="tx1"/>
                          </a:solidFill>
                        </a:rPr>
                        <a:t>1.1 Load in dataset A given its relative location to the root directory.</a:t>
                      </a:r>
                    </a:p>
                  </a:txBody>
                  <a:tcP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306168736"/>
                  </a:ext>
                </a:extLst>
              </a:tr>
              <a:tr h="216733">
                <a:tc>
                  <a:txBody>
                    <a:bodyPr/>
                    <a:lstStyle/>
                    <a:p>
                      <a:r>
                        <a:rPr lang="en-US" sz="1100" dirty="0">
                          <a:solidFill>
                            <a:schemeClr val="tx1"/>
                          </a:solidFill>
                        </a:rPr>
                        <a:t>2. Data Cleaning</a:t>
                      </a:r>
                    </a:p>
                  </a:txBody>
                  <a:tcPr>
                    <a:noFill/>
                  </a:tcPr>
                </a:tc>
                <a:tc>
                  <a:txBody>
                    <a:bodyPr/>
                    <a:lstStyle/>
                    <a:p>
                      <a:r>
                        <a:rPr lang="en-US" sz="1100" dirty="0">
                          <a:solidFill>
                            <a:schemeClr val="tx1"/>
                          </a:solidFill>
                        </a:rPr>
                        <a:t>2.1 Clean the dataframe so that it can be used in analysis. Use information from the dataset’s corresponding data dictionary</a:t>
                      </a:r>
                    </a:p>
                  </a:txBody>
                  <a:tcPr>
                    <a:noFill/>
                  </a:tcPr>
                </a:tc>
                <a:extLst>
                  <a:ext uri="{0D108BD9-81ED-4DB2-BD59-A6C34878D82A}">
                    <a16:rowId xmlns:a16="http://schemas.microsoft.com/office/drawing/2014/main" val="874727889"/>
                  </a:ext>
                </a:extLst>
              </a:tr>
              <a:tr h="356973">
                <a:tc>
                  <a:txBody>
                    <a:bodyPr/>
                    <a:lstStyle/>
                    <a:p>
                      <a:endParaRPr lang="en-US" sz="1100" dirty="0">
                        <a:solidFill>
                          <a:schemeClr val="tx1"/>
                        </a:solidFill>
                      </a:endParaRPr>
                    </a:p>
                  </a:txBody>
                  <a:tcPr>
                    <a:noFill/>
                  </a:tcPr>
                </a:tc>
                <a:tc>
                  <a:txBody>
                    <a:bodyPr/>
                    <a:lstStyle/>
                    <a:p>
                      <a:r>
                        <a:rPr lang="en-US" sz="1100" dirty="0">
                          <a:solidFill>
                            <a:schemeClr val="tx1"/>
                          </a:solidFill>
                        </a:rPr>
                        <a:t>2.1 Identify columns from data dictionary that could be relevant to 1) the inherent properties of the substance being carried, 2) pipeline specifications, or 3) the cause of the incident.</a:t>
                      </a:r>
                    </a:p>
                  </a:txBody>
                  <a:tcPr>
                    <a:noFill/>
                  </a:tcPr>
                </a:tc>
                <a:extLst>
                  <a:ext uri="{0D108BD9-81ED-4DB2-BD59-A6C34878D82A}">
                    <a16:rowId xmlns:a16="http://schemas.microsoft.com/office/drawing/2014/main" val="2774700380"/>
                  </a:ext>
                </a:extLst>
              </a:tr>
              <a:tr h="356973">
                <a:tc>
                  <a:txBody>
                    <a:bodyPr/>
                    <a:lstStyle/>
                    <a:p>
                      <a:endParaRPr lang="en-US" sz="1100" dirty="0">
                        <a:solidFill>
                          <a:schemeClr val="tx1"/>
                        </a:solidFill>
                      </a:endParaRPr>
                    </a:p>
                  </a:txBody>
                  <a:tcPr>
                    <a:noFill/>
                  </a:tcPr>
                </a:tc>
                <a:tc>
                  <a:txBody>
                    <a:bodyPr/>
                    <a:lstStyle/>
                    <a:p>
                      <a:r>
                        <a:rPr lang="en-US" sz="1100" dirty="0">
                          <a:solidFill>
                            <a:schemeClr val="tx1"/>
                          </a:solidFill>
                        </a:rPr>
                        <a:t>2.2 Optimize the substance carried column using the released substance type column. Want to perform this task before dropping attributes that don’t meet a specific threshold. Additionally,     map any substance that does not equal crude oil to 0, and any crude oil substance to 1. </a:t>
                      </a:r>
                    </a:p>
                  </a:txBody>
                  <a:tcPr>
                    <a:noFill/>
                  </a:tcPr>
                </a:tc>
                <a:extLst>
                  <a:ext uri="{0D108BD9-81ED-4DB2-BD59-A6C34878D82A}">
                    <a16:rowId xmlns:a16="http://schemas.microsoft.com/office/drawing/2014/main" val="577049468"/>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2.3 Drop any attributes (columns) that are less than 50% populated. </a:t>
                      </a:r>
                    </a:p>
                  </a:txBody>
                  <a:tcPr>
                    <a:noFill/>
                  </a:tcPr>
                </a:tc>
                <a:extLst>
                  <a:ext uri="{0D108BD9-81ED-4DB2-BD59-A6C34878D82A}">
                    <a16:rowId xmlns:a16="http://schemas.microsoft.com/office/drawing/2014/main" val="229333649"/>
                  </a:ext>
                </a:extLst>
              </a:tr>
              <a:tr h="216733">
                <a:tc>
                  <a:txBody>
                    <a:bodyPr/>
                    <a:lstStyle/>
                    <a:p>
                      <a:endParaRPr lang="en-US" sz="1100">
                        <a:solidFill>
                          <a:schemeClr val="tx1"/>
                        </a:solidFill>
                      </a:endParaRPr>
                    </a:p>
                  </a:txBody>
                  <a:tcPr>
                    <a:noFill/>
                  </a:tcPr>
                </a:tc>
                <a:tc>
                  <a:txBody>
                    <a:bodyPr/>
                    <a:lstStyle/>
                    <a:p>
                      <a:r>
                        <a:rPr lang="en-US" sz="1100" dirty="0">
                          <a:solidFill>
                            <a:schemeClr val="tx1"/>
                          </a:solidFill>
                        </a:rPr>
                        <a:t>2.4 Clean numeric columns</a:t>
                      </a:r>
                    </a:p>
                  </a:txBody>
                  <a:tcPr>
                    <a:noFill/>
                  </a:tcPr>
                </a:tc>
                <a:extLst>
                  <a:ext uri="{0D108BD9-81ED-4DB2-BD59-A6C34878D82A}">
                    <a16:rowId xmlns:a16="http://schemas.microsoft.com/office/drawing/2014/main" val="2747464908"/>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2.5 Map categorical columns to binary/numeric.</a:t>
                      </a:r>
                    </a:p>
                  </a:txBody>
                  <a:tcPr>
                    <a:noFill/>
                  </a:tcPr>
                </a:tc>
                <a:extLst>
                  <a:ext uri="{0D108BD9-81ED-4DB2-BD59-A6C34878D82A}">
                    <a16:rowId xmlns:a16="http://schemas.microsoft.com/office/drawing/2014/main" val="2476907000"/>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2.6 Map descriptive columns (e.g., “what happened category”) to binary columns, i.e., one-hot encode. </a:t>
                      </a:r>
                    </a:p>
                  </a:txBody>
                  <a:tcPr>
                    <a:noFill/>
                  </a:tcPr>
                </a:tc>
                <a:extLst>
                  <a:ext uri="{0D108BD9-81ED-4DB2-BD59-A6C34878D82A}">
                    <a16:rowId xmlns:a16="http://schemas.microsoft.com/office/drawing/2014/main" val="3691941983"/>
                  </a:ext>
                </a:extLst>
              </a:tr>
              <a:tr h="356973">
                <a:tc>
                  <a:txBody>
                    <a:bodyPr/>
                    <a:lstStyle/>
                    <a:p>
                      <a:r>
                        <a:rPr lang="en-US" sz="1100" dirty="0">
                          <a:solidFill>
                            <a:schemeClr val="tx1"/>
                          </a:solidFill>
                        </a:rPr>
                        <a:t>3. Data Exploration</a:t>
                      </a:r>
                    </a:p>
                  </a:txBody>
                  <a:tcPr>
                    <a:noFill/>
                  </a:tcPr>
                </a:tc>
                <a:tc>
                  <a:txBody>
                    <a:bodyPr/>
                    <a:lstStyle/>
                    <a:p>
                      <a:r>
                        <a:rPr lang="en-US" sz="1100" dirty="0">
                          <a:solidFill>
                            <a:schemeClr val="tx1"/>
                          </a:solidFill>
                        </a:rPr>
                        <a:t>3.1 Generate a profiling report of the dataframe to generate a heatmap, identify highly correlated pairs, or display errors / inconsistencies in the dataset (e.g., duplicate rows). </a:t>
                      </a:r>
                    </a:p>
                  </a:txBody>
                  <a:tcPr>
                    <a:noFill/>
                  </a:tcPr>
                </a:tc>
                <a:extLst>
                  <a:ext uri="{0D108BD9-81ED-4DB2-BD59-A6C34878D82A}">
                    <a16:rowId xmlns:a16="http://schemas.microsoft.com/office/drawing/2014/main" val="1023900183"/>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3.2 Output descriptive statistics (count, mean, etc.) of numeric columns to identify additional trends. </a:t>
                      </a:r>
                    </a:p>
                  </a:txBody>
                  <a:tcPr>
                    <a:noFill/>
                  </a:tcPr>
                </a:tc>
                <a:extLst>
                  <a:ext uri="{0D108BD9-81ED-4DB2-BD59-A6C34878D82A}">
                    <a16:rowId xmlns:a16="http://schemas.microsoft.com/office/drawing/2014/main" val="1666048895"/>
                  </a:ext>
                </a:extLst>
              </a:tr>
              <a:tr h="2167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rPr>
                        <a:t>4. ML Models</a:t>
                      </a:r>
                    </a:p>
                  </a:txBody>
                  <a:tcPr>
                    <a:noFill/>
                  </a:tcPr>
                </a:tc>
                <a:tc>
                  <a:txBody>
                    <a:bodyPr/>
                    <a:lstStyle/>
                    <a:p>
                      <a:r>
                        <a:rPr lang="en-US" sz="1100" dirty="0">
                          <a:solidFill>
                            <a:schemeClr val="tx1"/>
                          </a:solidFill>
                        </a:rPr>
                        <a:t>4.1 Preprocess dataframe for ml models by running a correlation matrix and dropping one of the columns found in each high-correlated pair.</a:t>
                      </a:r>
                    </a:p>
                  </a:txBody>
                  <a:tcPr>
                    <a:noFill/>
                  </a:tcPr>
                </a:tc>
                <a:extLst>
                  <a:ext uri="{0D108BD9-81ED-4DB2-BD59-A6C34878D82A}">
                    <a16:rowId xmlns:a16="http://schemas.microsoft.com/office/drawing/2014/main" val="826640950"/>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4.2 Run a logistic regression model on the data to identify if substance type (crude oil vs. not crude oil) can be predicted by the other attributes.</a:t>
                      </a:r>
                    </a:p>
                  </a:txBody>
                  <a:tcPr>
                    <a:noFill/>
                  </a:tcPr>
                </a:tc>
                <a:extLst>
                  <a:ext uri="{0D108BD9-81ED-4DB2-BD59-A6C34878D82A}">
                    <a16:rowId xmlns:a16="http://schemas.microsoft.com/office/drawing/2014/main" val="3261816373"/>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4.3 Random forest. </a:t>
                      </a:r>
                    </a:p>
                  </a:txBody>
                  <a:tcPr>
                    <a:solidFill>
                      <a:srgbClr val="FFFF00"/>
                    </a:solidFill>
                  </a:tcPr>
                </a:tc>
                <a:extLst>
                  <a:ext uri="{0D108BD9-81ED-4DB2-BD59-A6C34878D82A}">
                    <a16:rowId xmlns:a16="http://schemas.microsoft.com/office/drawing/2014/main" val="1463503125"/>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4.4 Decision tree.</a:t>
                      </a:r>
                    </a:p>
                  </a:txBody>
                  <a:tcPr>
                    <a:solidFill>
                      <a:srgbClr val="FFFF00"/>
                    </a:solidFill>
                  </a:tcPr>
                </a:tc>
                <a:extLst>
                  <a:ext uri="{0D108BD9-81ED-4DB2-BD59-A6C34878D82A}">
                    <a16:rowId xmlns:a16="http://schemas.microsoft.com/office/drawing/2014/main" val="3273281738"/>
                  </a:ext>
                </a:extLst>
              </a:tr>
              <a:tr h="216733">
                <a:tc>
                  <a:txBody>
                    <a:bodyPr/>
                    <a:lstStyle/>
                    <a:p>
                      <a:endParaRPr lang="en-US" sz="1100" dirty="0">
                        <a:solidFill>
                          <a:schemeClr val="tx1"/>
                        </a:solidFill>
                      </a:endParaRPr>
                    </a:p>
                  </a:txBody>
                  <a:tcPr>
                    <a:noFill/>
                  </a:tcPr>
                </a:tc>
                <a:tc>
                  <a:txBody>
                    <a:bodyPr/>
                    <a:lstStyle/>
                    <a:p>
                      <a:r>
                        <a:rPr lang="en-US" sz="1100" dirty="0">
                          <a:solidFill>
                            <a:schemeClr val="tx1"/>
                          </a:solidFill>
                        </a:rPr>
                        <a:t>4.5 Support Vector Machine (SVM). </a:t>
                      </a:r>
                    </a:p>
                  </a:txBody>
                  <a:tcPr>
                    <a:solidFill>
                      <a:srgbClr val="FFFF00"/>
                    </a:solidFill>
                  </a:tcPr>
                </a:tc>
                <a:extLst>
                  <a:ext uri="{0D108BD9-81ED-4DB2-BD59-A6C34878D82A}">
                    <a16:rowId xmlns:a16="http://schemas.microsoft.com/office/drawing/2014/main" val="1464377571"/>
                  </a:ext>
                </a:extLst>
              </a:tr>
            </a:tbl>
          </a:graphicData>
        </a:graphic>
      </p:graphicFrame>
    </p:spTree>
    <p:extLst>
      <p:ext uri="{BB962C8B-B14F-4D97-AF65-F5344CB8AC3E}">
        <p14:creationId xmlns:p14="http://schemas.microsoft.com/office/powerpoint/2010/main" val="2724706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Analysis – Approach #2</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862E31D-0345-BEBE-7624-873846F702F6}"/>
              </a:ext>
            </a:extLst>
          </p:cNvPr>
          <p:cNvSpPr txBox="1"/>
          <p:nvPr/>
        </p:nvSpPr>
        <p:spPr>
          <a:xfrm>
            <a:off x="348342" y="1047347"/>
            <a:ext cx="11408227" cy="523220"/>
          </a:xfrm>
          <a:prstGeom prst="rect">
            <a:avLst/>
          </a:prstGeom>
          <a:noFill/>
        </p:spPr>
        <p:txBody>
          <a:bodyPr wrap="square" rtlCol="0">
            <a:spAutoFit/>
          </a:bodyPr>
          <a:lstStyle/>
          <a:p>
            <a:r>
              <a:rPr lang="en-US" sz="1400" dirty="0"/>
              <a:t>Similar to the previous slide, the key steps taken in the analysis of </a:t>
            </a:r>
            <a:r>
              <a:rPr lang="en-US" sz="1400" b="1" dirty="0"/>
              <a:t>Approach #2 </a:t>
            </a:r>
            <a:r>
              <a:rPr lang="en-US" sz="1400" dirty="0"/>
              <a:t>are summarized below. The corresponding script for this analysis is in the “</a:t>
            </a:r>
            <a:r>
              <a:rPr lang="en-US" sz="1400" dirty="0" err="1"/>
              <a:t>dataset_E.ipynb</a:t>
            </a:r>
            <a:r>
              <a:rPr lang="en-US" sz="1400" dirty="0"/>
              <a:t>” file. Once again, the script itself includes further explanation of the decision-making process. </a:t>
            </a:r>
          </a:p>
        </p:txBody>
      </p:sp>
      <p:graphicFrame>
        <p:nvGraphicFramePr>
          <p:cNvPr id="5" name="Table 4">
            <a:extLst>
              <a:ext uri="{FF2B5EF4-FFF2-40B4-BE49-F238E27FC236}">
                <a16:creationId xmlns:a16="http://schemas.microsoft.com/office/drawing/2014/main" id="{CCA75BF7-BB04-89B2-FA61-7C258FBA389E}"/>
              </a:ext>
            </a:extLst>
          </p:cNvPr>
          <p:cNvGraphicFramePr>
            <a:graphicFrameLocks noGrp="1"/>
          </p:cNvGraphicFramePr>
          <p:nvPr>
            <p:extLst>
              <p:ext uri="{D42A27DB-BD31-4B8C-83A1-F6EECF244321}">
                <p14:modId xmlns:p14="http://schemas.microsoft.com/office/powerpoint/2010/main" val="39321444"/>
              </p:ext>
            </p:extLst>
          </p:nvPr>
        </p:nvGraphicFramePr>
        <p:xfrm>
          <a:off x="348342" y="1694803"/>
          <a:ext cx="11408226" cy="3223288"/>
        </p:xfrm>
        <a:graphic>
          <a:graphicData uri="http://schemas.openxmlformats.org/drawingml/2006/table">
            <a:tbl>
              <a:tblPr firstRow="1" bandRow="1">
                <a:tableStyleId>{5C22544A-7EE6-4342-B048-85BDC9FD1C3A}</a:tableStyleId>
              </a:tblPr>
              <a:tblGrid>
                <a:gridCol w="1200759">
                  <a:extLst>
                    <a:ext uri="{9D8B030D-6E8A-4147-A177-3AD203B41FA5}">
                      <a16:colId xmlns:a16="http://schemas.microsoft.com/office/drawing/2014/main" val="229692544"/>
                    </a:ext>
                  </a:extLst>
                </a:gridCol>
                <a:gridCol w="10207467">
                  <a:extLst>
                    <a:ext uri="{9D8B030D-6E8A-4147-A177-3AD203B41FA5}">
                      <a16:colId xmlns:a16="http://schemas.microsoft.com/office/drawing/2014/main" val="2013799710"/>
                    </a:ext>
                  </a:extLst>
                </a:gridCol>
              </a:tblGrid>
              <a:tr h="195199">
                <a:tc>
                  <a:txBody>
                    <a:bodyPr/>
                    <a:lstStyle/>
                    <a:p>
                      <a:r>
                        <a:rPr lang="en-US" sz="1000" dirty="0">
                          <a:solidFill>
                            <a:schemeClr val="tx1"/>
                          </a:solidFill>
                        </a:rPr>
                        <a:t>Step</a:t>
                      </a:r>
                    </a:p>
                  </a:txBody>
                  <a:tcPr>
                    <a:lnB w="12700" cap="flat" cmpd="sng" algn="ctr">
                      <a:solidFill>
                        <a:schemeClr val="tx1"/>
                      </a:solidFill>
                      <a:prstDash val="solid"/>
                      <a:round/>
                      <a:headEnd type="none" w="med" len="med"/>
                      <a:tailEnd type="none" w="med" len="med"/>
                    </a:lnB>
                    <a:noFill/>
                  </a:tcPr>
                </a:tc>
                <a:tc>
                  <a:txBody>
                    <a:bodyPr/>
                    <a:lstStyle/>
                    <a:p>
                      <a:r>
                        <a:rPr lang="en-US" sz="1000" dirty="0">
                          <a:solidFill>
                            <a:schemeClr val="tx1"/>
                          </a:solidFill>
                        </a:rPr>
                        <a:t>Description</a:t>
                      </a:r>
                    </a:p>
                  </a:txBody>
                  <a:tcP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4148481"/>
                  </a:ext>
                </a:extLst>
              </a:tr>
              <a:tr h="207399">
                <a:tc>
                  <a:txBody>
                    <a:bodyPr/>
                    <a:lstStyle/>
                    <a:p>
                      <a:r>
                        <a:rPr lang="en-US" sz="1100" dirty="0">
                          <a:solidFill>
                            <a:schemeClr val="tx1"/>
                          </a:solidFill>
                        </a:rPr>
                        <a:t>1. Data Ingestion</a:t>
                      </a:r>
                    </a:p>
                  </a:txBody>
                  <a:tcPr>
                    <a:lnT w="12700" cap="flat" cmpd="sng" algn="ctr">
                      <a:solidFill>
                        <a:schemeClr val="tx1"/>
                      </a:solidFill>
                      <a:prstDash val="solid"/>
                      <a:round/>
                      <a:headEnd type="none" w="med" len="med"/>
                      <a:tailEnd type="none" w="med" len="med"/>
                    </a:lnT>
                    <a:noFill/>
                  </a:tcPr>
                </a:tc>
                <a:tc>
                  <a:txBody>
                    <a:bodyPr/>
                    <a:lstStyle/>
                    <a:p>
                      <a:r>
                        <a:rPr lang="en-US" sz="1100" dirty="0">
                          <a:solidFill>
                            <a:schemeClr val="tx1"/>
                          </a:solidFill>
                        </a:rPr>
                        <a:t>1.1 Load in dataset E given its relative location to the root directory.</a:t>
                      </a:r>
                    </a:p>
                  </a:txBody>
                  <a:tcP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306168736"/>
                  </a:ext>
                </a:extLst>
              </a:tr>
              <a:tr h="207399">
                <a:tc>
                  <a:txBody>
                    <a:bodyPr/>
                    <a:lstStyle/>
                    <a:p>
                      <a:r>
                        <a:rPr lang="en-US" sz="1100" dirty="0">
                          <a:solidFill>
                            <a:schemeClr val="tx1"/>
                          </a:solidFill>
                        </a:rPr>
                        <a:t>2. Data Cleaning</a:t>
                      </a:r>
                    </a:p>
                  </a:txBody>
                  <a:tcPr>
                    <a:noFill/>
                  </a:tcPr>
                </a:tc>
                <a:tc>
                  <a:txBody>
                    <a:bodyPr/>
                    <a:lstStyle/>
                    <a:p>
                      <a:r>
                        <a:rPr lang="en-US" sz="1100" dirty="0">
                          <a:solidFill>
                            <a:schemeClr val="tx1"/>
                          </a:solidFill>
                        </a:rPr>
                        <a:t>2.1 Prioritize the commodity column as their properties (sweet vs. sour, heavy vs light) are the basis of this analysis. </a:t>
                      </a:r>
                    </a:p>
                  </a:txBody>
                  <a:tcPr>
                    <a:noFill/>
                  </a:tcPr>
                </a:tc>
                <a:extLst>
                  <a:ext uri="{0D108BD9-81ED-4DB2-BD59-A6C34878D82A}">
                    <a16:rowId xmlns:a16="http://schemas.microsoft.com/office/drawing/2014/main" val="874727889"/>
                  </a:ext>
                </a:extLst>
              </a:tr>
              <a:tr h="341598">
                <a:tc>
                  <a:txBody>
                    <a:bodyPr/>
                    <a:lstStyle/>
                    <a:p>
                      <a:endParaRPr lang="en-US" sz="1100" dirty="0">
                        <a:solidFill>
                          <a:schemeClr val="tx1"/>
                        </a:solidFill>
                      </a:endParaRPr>
                    </a:p>
                  </a:txBody>
                  <a:tcPr>
                    <a:noFill/>
                  </a:tcPr>
                </a:tc>
                <a:tc>
                  <a:txBody>
                    <a:bodyPr/>
                    <a:lstStyle/>
                    <a:p>
                      <a:r>
                        <a:rPr lang="en-US" sz="1100" dirty="0">
                          <a:solidFill>
                            <a:schemeClr val="tx1"/>
                          </a:solidFill>
                        </a:rPr>
                        <a:t>2.2 Map these properties to binary columns using string extrapolation. E.g., “Heavy </a:t>
                      </a:r>
                      <a:r>
                        <a:rPr lang="en-US" sz="1100" dirty="0" err="1">
                          <a:solidFill>
                            <a:schemeClr val="tx1"/>
                          </a:solidFill>
                        </a:rPr>
                        <a:t>Louisana</a:t>
                      </a:r>
                      <a:r>
                        <a:rPr lang="en-US" sz="1100" dirty="0">
                          <a:solidFill>
                            <a:schemeClr val="tx1"/>
                          </a:solidFill>
                        </a:rPr>
                        <a:t> Sweet” would mark a 1 in the “heavy” and “sweet” columns. These properties were only given for a tiny portion (~45/1355) of the records. </a:t>
                      </a:r>
                    </a:p>
                  </a:txBody>
                  <a:tcPr>
                    <a:noFill/>
                  </a:tcPr>
                </a:tc>
                <a:extLst>
                  <a:ext uri="{0D108BD9-81ED-4DB2-BD59-A6C34878D82A}">
                    <a16:rowId xmlns:a16="http://schemas.microsoft.com/office/drawing/2014/main" val="2774700380"/>
                  </a:ext>
                </a:extLst>
              </a:tr>
              <a:tr h="285764">
                <a:tc>
                  <a:txBody>
                    <a:bodyPr/>
                    <a:lstStyle/>
                    <a:p>
                      <a:endParaRPr lang="en-US" sz="1100" dirty="0">
                        <a:solidFill>
                          <a:schemeClr val="tx1"/>
                        </a:solidFill>
                      </a:endParaRPr>
                    </a:p>
                  </a:txBody>
                  <a:tcPr>
                    <a:noFill/>
                  </a:tcPr>
                </a:tc>
                <a:tc>
                  <a:txBody>
                    <a:bodyPr/>
                    <a:lstStyle/>
                    <a:p>
                      <a:r>
                        <a:rPr lang="en-US" sz="1100" dirty="0">
                          <a:solidFill>
                            <a:schemeClr val="tx1"/>
                          </a:solidFill>
                        </a:rPr>
                        <a:t>2.3 Identify and fill in the general cause of the incident using logic from the corresponding data dictionary. </a:t>
                      </a:r>
                    </a:p>
                  </a:txBody>
                  <a:tcPr>
                    <a:solidFill>
                      <a:schemeClr val="accent4">
                        <a:lumMod val="40000"/>
                        <a:lumOff val="60000"/>
                      </a:schemeClr>
                    </a:solidFill>
                  </a:tcPr>
                </a:tc>
                <a:extLst>
                  <a:ext uri="{0D108BD9-81ED-4DB2-BD59-A6C34878D82A}">
                    <a16:rowId xmlns:a16="http://schemas.microsoft.com/office/drawing/2014/main" val="577049468"/>
                  </a:ext>
                </a:extLst>
              </a:tr>
              <a:tr h="207399">
                <a:tc>
                  <a:txBody>
                    <a:bodyPr/>
                    <a:lstStyle/>
                    <a:p>
                      <a:endParaRPr lang="en-US" sz="1100" dirty="0">
                        <a:solidFill>
                          <a:schemeClr val="tx1"/>
                        </a:solidFill>
                      </a:endParaRPr>
                    </a:p>
                  </a:txBody>
                  <a:tcPr>
                    <a:noFill/>
                  </a:tcPr>
                </a:tc>
                <a:tc>
                  <a:txBody>
                    <a:bodyPr/>
                    <a:lstStyle/>
                    <a:p>
                      <a:r>
                        <a:rPr lang="en-US" sz="1100" dirty="0">
                          <a:solidFill>
                            <a:schemeClr val="tx1"/>
                          </a:solidFill>
                        </a:rPr>
                        <a:t>2.4 Clean the remaining columns using a similar process to that for dataset A / Approach #1. </a:t>
                      </a:r>
                    </a:p>
                  </a:txBody>
                  <a:tcPr>
                    <a:solidFill>
                      <a:schemeClr val="accent4">
                        <a:lumMod val="40000"/>
                        <a:lumOff val="60000"/>
                      </a:schemeClr>
                    </a:solidFill>
                  </a:tcPr>
                </a:tc>
                <a:extLst>
                  <a:ext uri="{0D108BD9-81ED-4DB2-BD59-A6C34878D82A}">
                    <a16:rowId xmlns:a16="http://schemas.microsoft.com/office/drawing/2014/main" val="229333649"/>
                  </a:ext>
                </a:extLst>
              </a:tr>
              <a:tr h="341598">
                <a:tc>
                  <a:txBody>
                    <a:bodyPr/>
                    <a:lstStyle/>
                    <a:p>
                      <a:r>
                        <a:rPr lang="en-US" sz="1100" dirty="0">
                          <a:solidFill>
                            <a:schemeClr val="tx1"/>
                          </a:solidFill>
                        </a:rPr>
                        <a:t>3. Data Exploration</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rPr>
                        <a:t>3.1 Generate a profiling report of the dataframe to generate a heatmap, identify highly correlated pairs, or display errors / inconsistencies in the dataset (e.g., duplicate rows). </a:t>
                      </a:r>
                    </a:p>
                  </a:txBody>
                  <a:tcPr>
                    <a:solidFill>
                      <a:schemeClr val="accent4">
                        <a:lumMod val="40000"/>
                        <a:lumOff val="60000"/>
                      </a:schemeClr>
                    </a:solidFill>
                  </a:tcPr>
                </a:tc>
                <a:extLst>
                  <a:ext uri="{0D108BD9-81ED-4DB2-BD59-A6C34878D82A}">
                    <a16:rowId xmlns:a16="http://schemas.microsoft.com/office/drawing/2014/main" val="2747464908"/>
                  </a:ext>
                </a:extLst>
              </a:tr>
              <a:tr h="207399">
                <a:tc>
                  <a:txBody>
                    <a:bodyPr/>
                    <a:lstStyle/>
                    <a:p>
                      <a:r>
                        <a:rPr lang="en-US" sz="1100" dirty="0">
                          <a:solidFill>
                            <a:schemeClr val="tx1"/>
                          </a:solidFill>
                        </a:rPr>
                        <a:t>4. ML Models</a:t>
                      </a:r>
                    </a:p>
                  </a:txBody>
                  <a:tcPr>
                    <a:noFill/>
                  </a:tcPr>
                </a:tc>
                <a:tc>
                  <a:txBody>
                    <a:bodyPr/>
                    <a:lstStyle/>
                    <a:p>
                      <a:r>
                        <a:rPr lang="en-US" sz="1100" dirty="0">
                          <a:solidFill>
                            <a:schemeClr val="tx1"/>
                          </a:solidFill>
                        </a:rPr>
                        <a:t>4.1 Preprocess dataframe for ml models by running a correlation matrix and dropping one of the columns found in each high-correlated pair.</a:t>
                      </a:r>
                    </a:p>
                  </a:txBody>
                  <a:tcPr>
                    <a:solidFill>
                      <a:schemeClr val="accent4">
                        <a:lumMod val="40000"/>
                        <a:lumOff val="60000"/>
                      </a:schemeClr>
                    </a:solidFill>
                  </a:tcPr>
                </a:tc>
                <a:extLst>
                  <a:ext uri="{0D108BD9-81ED-4DB2-BD59-A6C34878D82A}">
                    <a16:rowId xmlns:a16="http://schemas.microsoft.com/office/drawing/2014/main" val="2476907000"/>
                  </a:ext>
                </a:extLst>
              </a:tr>
              <a:tr h="207399">
                <a:tc>
                  <a:txBody>
                    <a:bodyPr/>
                    <a:lstStyle/>
                    <a:p>
                      <a:endParaRPr lang="en-US" sz="1100" dirty="0">
                        <a:solidFill>
                          <a:schemeClr val="tx1"/>
                        </a:solidFill>
                      </a:endParaRPr>
                    </a:p>
                  </a:txBody>
                  <a:tcPr>
                    <a:noFill/>
                  </a:tcPr>
                </a:tc>
                <a:tc>
                  <a:txBody>
                    <a:bodyPr/>
                    <a:lstStyle/>
                    <a:p>
                      <a:r>
                        <a:rPr lang="en-US" sz="1100" dirty="0">
                          <a:solidFill>
                            <a:schemeClr val="tx1"/>
                          </a:solidFill>
                        </a:rPr>
                        <a:t>4.2 Run a decision tree model on the data to identify if the specific properties of the crude oil had an affect on the incident type. </a:t>
                      </a:r>
                    </a:p>
                  </a:txBody>
                  <a:tcPr>
                    <a:solidFill>
                      <a:schemeClr val="accent4">
                        <a:lumMod val="40000"/>
                        <a:lumOff val="60000"/>
                      </a:schemeClr>
                    </a:solidFill>
                  </a:tcPr>
                </a:tc>
                <a:extLst>
                  <a:ext uri="{0D108BD9-81ED-4DB2-BD59-A6C34878D82A}">
                    <a16:rowId xmlns:a16="http://schemas.microsoft.com/office/drawing/2014/main" val="3691941983"/>
                  </a:ext>
                </a:extLst>
              </a:tr>
              <a:tr h="285764">
                <a:tc>
                  <a:txBody>
                    <a:bodyPr/>
                    <a:lstStyle/>
                    <a:p>
                      <a:endParaRPr lang="en-US" sz="1100" dirty="0">
                        <a:solidFill>
                          <a:schemeClr val="tx1"/>
                        </a:solidFill>
                      </a:endParaRPr>
                    </a:p>
                  </a:txBody>
                  <a:tcPr>
                    <a:noFill/>
                  </a:tcPr>
                </a:tc>
                <a:tc>
                  <a:txBody>
                    <a:bodyPr/>
                    <a:lstStyle/>
                    <a:p>
                      <a:r>
                        <a:rPr lang="en-US" sz="1100" dirty="0">
                          <a:solidFill>
                            <a:schemeClr val="tx1"/>
                          </a:solidFill>
                        </a:rPr>
                        <a:t>4.3 Random forest.</a:t>
                      </a:r>
                    </a:p>
                  </a:txBody>
                  <a:tcPr>
                    <a:solidFill>
                      <a:schemeClr val="accent4">
                        <a:lumMod val="40000"/>
                        <a:lumOff val="60000"/>
                      </a:schemeClr>
                    </a:solidFill>
                  </a:tcPr>
                </a:tc>
                <a:extLst>
                  <a:ext uri="{0D108BD9-81ED-4DB2-BD59-A6C34878D82A}">
                    <a16:rowId xmlns:a16="http://schemas.microsoft.com/office/drawing/2014/main" val="1023900183"/>
                  </a:ext>
                </a:extLst>
              </a:tr>
              <a:tr h="207399">
                <a:tc>
                  <a:txBody>
                    <a:bodyPr/>
                    <a:lstStyle/>
                    <a:p>
                      <a:endParaRPr lang="en-US" sz="1100" dirty="0">
                        <a:solidFill>
                          <a:schemeClr val="tx1"/>
                        </a:solidFill>
                      </a:endParaRPr>
                    </a:p>
                  </a:txBody>
                  <a:tcPr>
                    <a:lnB w="12700" cap="flat" cmpd="sng" algn="ctr">
                      <a:solidFill>
                        <a:schemeClr val="tx1"/>
                      </a:solidFill>
                      <a:prstDash val="solid"/>
                      <a:round/>
                      <a:headEnd type="none" w="med" len="med"/>
                      <a:tailEnd type="none" w="med" len="med"/>
                    </a:lnB>
                    <a:noFill/>
                  </a:tcPr>
                </a:tc>
                <a:tc>
                  <a:txBody>
                    <a:bodyPr/>
                    <a:lstStyle/>
                    <a:p>
                      <a:r>
                        <a:rPr lang="en-US" sz="1100" dirty="0">
                          <a:solidFill>
                            <a:schemeClr val="tx1"/>
                          </a:solidFill>
                        </a:rPr>
                        <a:t>4.4 Logistic regression.</a:t>
                      </a:r>
                    </a:p>
                  </a:txBody>
                  <a:tcPr>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1666048895"/>
                  </a:ext>
                </a:extLst>
              </a:tr>
            </a:tbl>
          </a:graphicData>
        </a:graphic>
      </p:graphicFrame>
      <p:graphicFrame>
        <p:nvGraphicFramePr>
          <p:cNvPr id="2" name="Table 1">
            <a:extLst>
              <a:ext uri="{FF2B5EF4-FFF2-40B4-BE49-F238E27FC236}">
                <a16:creationId xmlns:a16="http://schemas.microsoft.com/office/drawing/2014/main" id="{DBD0D5E7-2C6C-80B4-2B51-485D567C0FD1}"/>
              </a:ext>
            </a:extLst>
          </p:cNvPr>
          <p:cNvGraphicFramePr>
            <a:graphicFrameLocks noGrp="1"/>
          </p:cNvGraphicFramePr>
          <p:nvPr>
            <p:extLst>
              <p:ext uri="{D42A27DB-BD31-4B8C-83A1-F6EECF244321}">
                <p14:modId xmlns:p14="http://schemas.microsoft.com/office/powerpoint/2010/main" val="1965523418"/>
              </p:ext>
            </p:extLst>
          </p:nvPr>
        </p:nvGraphicFramePr>
        <p:xfrm>
          <a:off x="1553198" y="5216293"/>
          <a:ext cx="10203370" cy="426720"/>
        </p:xfrm>
        <a:graphic>
          <a:graphicData uri="http://schemas.openxmlformats.org/drawingml/2006/table">
            <a:tbl>
              <a:tblPr firstRow="1" bandRow="1">
                <a:tableStyleId>{5C22544A-7EE6-4342-B048-85BDC9FD1C3A}</a:tableStyleId>
              </a:tblPr>
              <a:tblGrid>
                <a:gridCol w="974849">
                  <a:extLst>
                    <a:ext uri="{9D8B030D-6E8A-4147-A177-3AD203B41FA5}">
                      <a16:colId xmlns:a16="http://schemas.microsoft.com/office/drawing/2014/main" val="407998216"/>
                    </a:ext>
                  </a:extLst>
                </a:gridCol>
                <a:gridCol w="9228521">
                  <a:extLst>
                    <a:ext uri="{9D8B030D-6E8A-4147-A177-3AD203B41FA5}">
                      <a16:colId xmlns:a16="http://schemas.microsoft.com/office/drawing/2014/main" val="2775065156"/>
                    </a:ext>
                  </a:extLst>
                </a:gridCol>
              </a:tblGrid>
              <a:tr h="370840">
                <a:tc>
                  <a:txBody>
                    <a:bodyPr/>
                    <a:lstStyle/>
                    <a:p>
                      <a:r>
                        <a:rPr lang="en-US" sz="1100" dirty="0">
                          <a:solidFill>
                            <a:schemeClr val="tx1"/>
                          </a:solidFill>
                        </a:rPr>
                        <a:t>Incomplete</a:t>
                      </a:r>
                    </a:p>
                  </a:txBody>
                  <a:tcPr anchor="ctr">
                    <a:solidFill>
                      <a:schemeClr val="accent4">
                        <a:lumMod val="40000"/>
                        <a:lumOff val="60000"/>
                      </a:schemeClr>
                    </a:solidFill>
                  </a:tcPr>
                </a:tc>
                <a:tc>
                  <a:txBody>
                    <a:bodyPr/>
                    <a:lstStyle/>
                    <a:p>
                      <a:r>
                        <a:rPr lang="en-US" sz="1100" b="0" dirty="0">
                          <a:solidFill>
                            <a:schemeClr val="tx1"/>
                          </a:solidFill>
                        </a:rPr>
                        <a:t>The majority of the steps from 2.3 - onwards were performed and iterated upon in an attempt to salvage the approach. Ultimately, the minimal number of records (~45) with property-specific information on crude oil limited the extent of this analysis. </a:t>
                      </a:r>
                    </a:p>
                  </a:txBody>
                  <a:tcPr anchor="ctr">
                    <a:noFill/>
                  </a:tcPr>
                </a:tc>
                <a:extLst>
                  <a:ext uri="{0D108BD9-81ED-4DB2-BD59-A6C34878D82A}">
                    <a16:rowId xmlns:a16="http://schemas.microsoft.com/office/drawing/2014/main" val="3057655160"/>
                  </a:ext>
                </a:extLst>
              </a:tr>
            </a:tbl>
          </a:graphicData>
        </a:graphic>
      </p:graphicFrame>
    </p:spTree>
    <p:extLst>
      <p:ext uri="{BB962C8B-B14F-4D97-AF65-F5344CB8AC3E}">
        <p14:creationId xmlns:p14="http://schemas.microsoft.com/office/powerpoint/2010/main" val="1141531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Conclusions / Key Takeaways – Approach #1</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CB30CD3-8335-30C5-9FAD-B2DA3F7B3B60}"/>
              </a:ext>
            </a:extLst>
          </p:cNvPr>
          <p:cNvSpPr txBox="1"/>
          <p:nvPr/>
        </p:nvSpPr>
        <p:spPr>
          <a:xfrm>
            <a:off x="348342" y="1047347"/>
            <a:ext cx="11408227" cy="307777"/>
          </a:xfrm>
          <a:prstGeom prst="rect">
            <a:avLst/>
          </a:prstGeom>
          <a:noFill/>
        </p:spPr>
        <p:txBody>
          <a:bodyPr wrap="square" rtlCol="0">
            <a:spAutoFit/>
          </a:bodyPr>
          <a:lstStyle/>
          <a:p>
            <a:r>
              <a:rPr lang="en-US" sz="1400" dirty="0"/>
              <a:t>……</a:t>
            </a:r>
          </a:p>
        </p:txBody>
      </p:sp>
      <p:sp>
        <p:nvSpPr>
          <p:cNvPr id="5" name="Rectangle 4">
            <a:extLst>
              <a:ext uri="{FF2B5EF4-FFF2-40B4-BE49-F238E27FC236}">
                <a16:creationId xmlns:a16="http://schemas.microsoft.com/office/drawing/2014/main" id="{691D5CA9-32D1-38D1-B393-C42D202C3AF8}"/>
              </a:ext>
            </a:extLst>
          </p:cNvPr>
          <p:cNvSpPr/>
          <p:nvPr/>
        </p:nvSpPr>
        <p:spPr>
          <a:xfrm>
            <a:off x="431074" y="1578454"/>
            <a:ext cx="4343400"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rPr>
              <a:t>Approach #1 – Crude Oil vs. NOT Crude Oil</a:t>
            </a:r>
          </a:p>
        </p:txBody>
      </p:sp>
      <p:sp>
        <p:nvSpPr>
          <p:cNvPr id="9" name="Rectangle 8">
            <a:extLst>
              <a:ext uri="{FF2B5EF4-FFF2-40B4-BE49-F238E27FC236}">
                <a16:creationId xmlns:a16="http://schemas.microsoft.com/office/drawing/2014/main" id="{4E98AB9A-73DB-552B-AEA2-F1183214CACB}"/>
              </a:ext>
            </a:extLst>
          </p:cNvPr>
          <p:cNvSpPr/>
          <p:nvPr/>
        </p:nvSpPr>
        <p:spPr>
          <a:xfrm>
            <a:off x="431075" y="1852933"/>
            <a:ext cx="11325494" cy="26007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 able to predict crude oil vs. not crude oil using latitude and longitude, and pipeline diameter and length</a:t>
            </a:r>
          </a:p>
          <a:p>
            <a:r>
              <a:rPr lang="en-US" sz="1100" dirty="0">
                <a:solidFill>
                  <a:schemeClr val="tx1"/>
                </a:solidFill>
              </a:rPr>
              <a:t>- the success of the above implies that crude oil pipelines are in different locations than their counterparts and even have slightly different pipeline specifications – specifically the diameter and length of their pipelines</a:t>
            </a:r>
          </a:p>
          <a:p>
            <a:r>
              <a:rPr lang="en-US" sz="1100" dirty="0">
                <a:solidFill>
                  <a:schemeClr val="tx1"/>
                </a:solidFill>
              </a:rPr>
              <a:t>- But when I remove these attributes, I am left with mediocre results</a:t>
            </a:r>
          </a:p>
          <a:p>
            <a:endParaRPr lang="en-US" sz="1100" dirty="0">
              <a:solidFill>
                <a:schemeClr val="tx1"/>
              </a:solidFill>
            </a:endParaRPr>
          </a:p>
          <a:p>
            <a:r>
              <a:rPr lang="en-US" sz="1100" dirty="0">
                <a:solidFill>
                  <a:schemeClr val="tx1"/>
                </a:solidFill>
              </a:rPr>
              <a:t>Sample of these results from Random Forest after the four above attributes have been removed:</a:t>
            </a:r>
          </a:p>
          <a:p>
            <a:r>
              <a:rPr lang="en-US" sz="1100" dirty="0">
                <a:solidFill>
                  <a:schemeClr val="tx1"/>
                </a:solidFill>
              </a:rPr>
              <a:t>Precision / recall / accuracy</a:t>
            </a:r>
          </a:p>
          <a:p>
            <a:endParaRPr lang="en-US" sz="1100" dirty="0">
              <a:solidFill>
                <a:schemeClr val="tx1"/>
              </a:solidFill>
            </a:endParaRPr>
          </a:p>
          <a:p>
            <a:r>
              <a:rPr lang="en-US" sz="1100" dirty="0">
                <a:solidFill>
                  <a:schemeClr val="tx1"/>
                </a:solidFill>
              </a:rPr>
              <a:t>Interpretation:</a:t>
            </a:r>
          </a:p>
          <a:p>
            <a:endParaRPr lang="en-US" sz="1100" dirty="0">
              <a:solidFill>
                <a:schemeClr val="tx1"/>
              </a:solidFill>
            </a:endParaRPr>
          </a:p>
          <a:p>
            <a:r>
              <a:rPr lang="en-US" sz="1100" dirty="0">
                <a:solidFill>
                  <a:schemeClr val="tx1"/>
                </a:solidFill>
              </a:rPr>
              <a:t># good at predicting not crude oil, not good at predicting crude oil</a:t>
            </a:r>
          </a:p>
          <a:p>
            <a:r>
              <a:rPr lang="en-US" sz="1100" dirty="0">
                <a:solidFill>
                  <a:schemeClr val="tx1"/>
                </a:solidFill>
              </a:rPr>
              <a:t># we could conclude that there are potentially inherent differences in not crude oil vs. crude oil accidents</a:t>
            </a:r>
          </a:p>
          <a:p>
            <a:r>
              <a:rPr lang="en-US" sz="1100" dirty="0">
                <a:solidFill>
                  <a:schemeClr val="tx1"/>
                </a:solidFill>
              </a:rPr>
              <a:t>## and therefore further investigation into their differences is warranted</a:t>
            </a:r>
          </a:p>
          <a:p>
            <a:endParaRPr lang="en-US" sz="1100" dirty="0">
              <a:solidFill>
                <a:schemeClr val="tx1"/>
              </a:solidFill>
            </a:endParaRPr>
          </a:p>
        </p:txBody>
      </p:sp>
      <p:sp>
        <p:nvSpPr>
          <p:cNvPr id="14" name="Rectangle 13">
            <a:extLst>
              <a:ext uri="{FF2B5EF4-FFF2-40B4-BE49-F238E27FC236}">
                <a16:creationId xmlns:a16="http://schemas.microsoft.com/office/drawing/2014/main" id="{902C8C4F-C243-8793-93FC-62B41AEA2921}"/>
              </a:ext>
            </a:extLst>
          </p:cNvPr>
          <p:cNvSpPr/>
          <p:nvPr/>
        </p:nvSpPr>
        <p:spPr>
          <a:xfrm>
            <a:off x="415518" y="4733556"/>
            <a:ext cx="11325494" cy="119058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Future investigation/analysis</a:t>
            </a:r>
          </a:p>
          <a:p>
            <a:r>
              <a:rPr lang="en-US" sz="1100" dirty="0">
                <a:solidFill>
                  <a:schemeClr val="tx1"/>
                </a:solidFill>
              </a:rPr>
              <a:t>## look into specific attributes contributing to NOT crude oil incidents to determine why these attributes are more pronounced than those of crude oil</a:t>
            </a:r>
          </a:p>
          <a:p>
            <a:r>
              <a:rPr lang="en-US" sz="1100" dirty="0">
                <a:solidFill>
                  <a:schemeClr val="tx1"/>
                </a:solidFill>
              </a:rPr>
              <a:t>## look into crude oil/not crude oil vs. NON-incidents to determine what properties of the substances are causing the accidents in the first place</a:t>
            </a:r>
          </a:p>
          <a:p>
            <a:r>
              <a:rPr lang="en-US" sz="1100" dirty="0">
                <a:solidFill>
                  <a:schemeClr val="tx1"/>
                </a:solidFill>
              </a:rPr>
              <a:t>## feature engineering - removing less important attributes based on domain knowledge; aggregating attributes if possible</a:t>
            </a:r>
          </a:p>
          <a:p>
            <a:r>
              <a:rPr lang="en-US" sz="1100" dirty="0">
                <a:solidFill>
                  <a:schemeClr val="tx1"/>
                </a:solidFill>
              </a:rPr>
              <a:t>## expanding dataset by </a:t>
            </a:r>
            <a:r>
              <a:rPr lang="en-US" sz="1100" dirty="0" err="1">
                <a:solidFill>
                  <a:schemeClr val="tx1"/>
                </a:solidFill>
              </a:rPr>
              <a:t>concating</a:t>
            </a:r>
            <a:r>
              <a:rPr lang="en-US" sz="1100" dirty="0">
                <a:solidFill>
                  <a:schemeClr val="tx1"/>
                </a:solidFill>
              </a:rPr>
              <a:t> other relevant data files</a:t>
            </a:r>
          </a:p>
          <a:p>
            <a:endParaRPr lang="en-US" sz="1100" dirty="0">
              <a:solidFill>
                <a:schemeClr val="tx1"/>
              </a:solidFill>
            </a:endParaRPr>
          </a:p>
          <a:p>
            <a:endParaRPr lang="en-US" sz="1100" dirty="0">
              <a:solidFill>
                <a:schemeClr val="tx1"/>
              </a:solidFill>
            </a:endParaRPr>
          </a:p>
        </p:txBody>
      </p:sp>
    </p:spTree>
    <p:extLst>
      <p:ext uri="{BB962C8B-B14F-4D97-AF65-F5344CB8AC3E}">
        <p14:creationId xmlns:p14="http://schemas.microsoft.com/office/powerpoint/2010/main" val="30355425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Conclusions / Key Takeaways – Approach #2</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CB30CD3-8335-30C5-9FAD-B2DA3F7B3B60}"/>
              </a:ext>
            </a:extLst>
          </p:cNvPr>
          <p:cNvSpPr txBox="1"/>
          <p:nvPr/>
        </p:nvSpPr>
        <p:spPr>
          <a:xfrm>
            <a:off x="348342" y="1047347"/>
            <a:ext cx="11408227" cy="307777"/>
          </a:xfrm>
          <a:prstGeom prst="rect">
            <a:avLst/>
          </a:prstGeom>
          <a:noFill/>
        </p:spPr>
        <p:txBody>
          <a:bodyPr wrap="square" rtlCol="0">
            <a:spAutoFit/>
          </a:bodyPr>
          <a:lstStyle/>
          <a:p>
            <a:r>
              <a:rPr lang="en-US" sz="1400" dirty="0"/>
              <a:t>……</a:t>
            </a:r>
          </a:p>
        </p:txBody>
      </p:sp>
      <p:sp>
        <p:nvSpPr>
          <p:cNvPr id="5" name="Rectangle 4">
            <a:extLst>
              <a:ext uri="{FF2B5EF4-FFF2-40B4-BE49-F238E27FC236}">
                <a16:creationId xmlns:a16="http://schemas.microsoft.com/office/drawing/2014/main" id="{691D5CA9-32D1-38D1-B393-C42D202C3AF8}"/>
              </a:ext>
            </a:extLst>
          </p:cNvPr>
          <p:cNvSpPr/>
          <p:nvPr/>
        </p:nvSpPr>
        <p:spPr>
          <a:xfrm>
            <a:off x="431074" y="1578454"/>
            <a:ext cx="4343400"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rPr>
              <a:t>Approach #1 – Crude Oil vs. NOT Crude Oil</a:t>
            </a:r>
          </a:p>
        </p:txBody>
      </p:sp>
      <p:sp>
        <p:nvSpPr>
          <p:cNvPr id="9" name="Rectangle 8">
            <a:extLst>
              <a:ext uri="{FF2B5EF4-FFF2-40B4-BE49-F238E27FC236}">
                <a16:creationId xmlns:a16="http://schemas.microsoft.com/office/drawing/2014/main" id="{4E98AB9A-73DB-552B-AEA2-F1183214CACB}"/>
              </a:ext>
            </a:extLst>
          </p:cNvPr>
          <p:cNvSpPr/>
          <p:nvPr/>
        </p:nvSpPr>
        <p:spPr>
          <a:xfrm>
            <a:off x="431075" y="1852934"/>
            <a:ext cx="11325494" cy="6042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a:t>
            </a:r>
          </a:p>
        </p:txBody>
      </p:sp>
    </p:spTree>
    <p:extLst>
      <p:ext uri="{BB962C8B-B14F-4D97-AF65-F5344CB8AC3E}">
        <p14:creationId xmlns:p14="http://schemas.microsoft.com/office/powerpoint/2010/main" val="3229023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Analysis - Canada</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910250"/>
            <a:ext cx="10162903" cy="3785652"/>
          </a:xfrm>
          <a:prstGeom prst="rect">
            <a:avLst/>
          </a:prstGeom>
          <a:noFill/>
        </p:spPr>
        <p:txBody>
          <a:bodyPr wrap="square" rtlCol="0">
            <a:spAutoFit/>
          </a:bodyPr>
          <a:lstStyle/>
          <a:p>
            <a:r>
              <a:rPr lang="en-US" sz="1200" b="1" dirty="0"/>
              <a:t>Step 1  - crude oil vs. non-crude oil</a:t>
            </a:r>
          </a:p>
          <a:p>
            <a:r>
              <a:rPr lang="en-US" sz="1200" dirty="0"/>
              <a:t>- explored/performed initial investigation of data</a:t>
            </a:r>
          </a:p>
          <a:p>
            <a:r>
              <a:rPr lang="en-US" sz="1200" dirty="0"/>
              <a:t>	- observation: operating </a:t>
            </a:r>
            <a:r>
              <a:rPr lang="en-US" sz="1200" dirty="0" err="1"/>
              <a:t>kpa</a:t>
            </a:r>
            <a:r>
              <a:rPr lang="en-US" sz="1200" dirty="0"/>
              <a:t> difference</a:t>
            </a:r>
          </a:p>
          <a:p>
            <a:r>
              <a:rPr lang="en-US" sz="1200" dirty="0"/>
              <a:t>- performed logistic regression to see if you could determine crude vs. non-crude based on qualitative columns (that had the best data)</a:t>
            </a:r>
          </a:p>
          <a:p>
            <a:r>
              <a:rPr lang="en-US" sz="1200" dirty="0"/>
              <a:t>    - specifically, used "what happened" and "details of what happened" columns</a:t>
            </a:r>
          </a:p>
          <a:p>
            <a:r>
              <a:rPr lang="en-US" sz="1200" dirty="0"/>
              <a:t>    - unable to consistently predict; could be a result of more non-crude than crude or incomplete data</a:t>
            </a:r>
          </a:p>
          <a:p>
            <a:r>
              <a:rPr lang="en-US" sz="1200" dirty="0"/>
              <a:t>	- or simply because it’s hard to predict</a:t>
            </a:r>
          </a:p>
          <a:p>
            <a:r>
              <a:rPr lang="en-US" sz="1200" dirty="0"/>
              <a:t>- tried to rerun model by filtering for “what happened” that could be related to chemistry/substance – fire, frost, deterioration, cracking, … </a:t>
            </a:r>
          </a:p>
          <a:p>
            <a:r>
              <a:rPr lang="en-US" sz="1200" dirty="0"/>
              <a:t>- also tried playing around with dropping cols that are missing &gt;50% (or x threshold) of values</a:t>
            </a:r>
          </a:p>
          <a:p>
            <a:endParaRPr lang="en-US" sz="1200" dirty="0"/>
          </a:p>
          <a:p>
            <a:r>
              <a:rPr lang="en-US" sz="1200" dirty="0"/>
              <a:t>Process</a:t>
            </a:r>
          </a:p>
          <a:p>
            <a:r>
              <a:rPr lang="en-US" sz="1200" dirty="0"/>
              <a:t>- loaded and cleaned data</a:t>
            </a:r>
          </a:p>
          <a:p>
            <a:r>
              <a:rPr lang="en-US" sz="1200" dirty="0"/>
              <a:t>- filtered for relevant attributes – substance carried (crude vs. non crude), what happened, detailed what happened, and incident types</a:t>
            </a:r>
          </a:p>
          <a:p>
            <a:r>
              <a:rPr lang="en-US" sz="1200" dirty="0"/>
              <a:t>- expanded what happened columns into multiple binary columns (e.g., mapped “corrosion; damage to pipe” to corrosion = 1 and damage to pipe = 1)</a:t>
            </a:r>
          </a:p>
          <a:p>
            <a:r>
              <a:rPr lang="en-US" sz="1200" dirty="0"/>
              <a:t>- made correlation matrix and removed pairs &gt;0.8; dropped 1 of 2 cols in these pairs based on which occurred less</a:t>
            </a:r>
          </a:p>
          <a:p>
            <a:r>
              <a:rPr lang="en-US" sz="1200" dirty="0"/>
              <a:t>- ran regression model using </a:t>
            </a:r>
            <a:r>
              <a:rPr lang="en-US" sz="1200" dirty="0" err="1"/>
              <a:t>sklearn</a:t>
            </a:r>
            <a:endParaRPr lang="en-US" sz="1200" dirty="0"/>
          </a:p>
          <a:p>
            <a:r>
              <a:rPr lang="en-US" sz="1200" dirty="0"/>
              <a:t>- Results: able to predict non-crude well but this is probably because this category has a larger sample</a:t>
            </a:r>
          </a:p>
          <a:p>
            <a:endParaRPr lang="en-US" sz="1200" dirty="0"/>
          </a:p>
          <a:p>
            <a:r>
              <a:rPr lang="en-US" sz="1200" b="1" dirty="0"/>
              <a:t>Step 2 – Crude Only</a:t>
            </a:r>
          </a:p>
          <a:p>
            <a:r>
              <a:rPr lang="en-US" sz="1200" dirty="0"/>
              <a:t> - ….</a:t>
            </a: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Looking at Canada data in 2 steps</a:t>
            </a:r>
          </a:p>
        </p:txBody>
      </p:sp>
    </p:spTree>
    <p:extLst>
      <p:ext uri="{BB962C8B-B14F-4D97-AF65-F5344CB8AC3E}">
        <p14:creationId xmlns:p14="http://schemas.microsoft.com/office/powerpoint/2010/main" val="605200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Regulations &amp; Implications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Looking at … data in 2 steps</a:t>
            </a:r>
          </a:p>
        </p:txBody>
      </p:sp>
    </p:spTree>
    <p:extLst>
      <p:ext uri="{BB962C8B-B14F-4D97-AF65-F5344CB8AC3E}">
        <p14:creationId xmlns:p14="http://schemas.microsoft.com/office/powerpoint/2010/main" val="3947416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Approach</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910250"/>
            <a:ext cx="10162903" cy="2677656"/>
          </a:xfrm>
          <a:prstGeom prst="rect">
            <a:avLst/>
          </a:prstGeom>
          <a:noFill/>
        </p:spPr>
        <p:txBody>
          <a:bodyPr wrap="square" rtlCol="0">
            <a:spAutoFit/>
          </a:bodyPr>
          <a:lstStyle/>
          <a:p>
            <a:r>
              <a:rPr lang="en-US" sz="1200" b="1" dirty="0"/>
              <a:t>About crude oil</a:t>
            </a:r>
          </a:p>
          <a:p>
            <a:r>
              <a:rPr lang="en-US" sz="1200" dirty="0"/>
              <a:t>- made up of hydrocarbons (by weight carbon, some hydrogen)</a:t>
            </a:r>
          </a:p>
          <a:p>
            <a:r>
              <a:rPr lang="en-US" sz="1200" dirty="0"/>
              <a:t>- Physical properties: can be light, medium, or heavy – API gravity</a:t>
            </a:r>
          </a:p>
          <a:p>
            <a:r>
              <a:rPr lang="en-US" sz="1200" dirty="0"/>
              <a:t>- Chemical properties: can be sour or sweet depending on sulfur content</a:t>
            </a:r>
          </a:p>
          <a:p>
            <a:endParaRPr lang="en-US" sz="1200" dirty="0"/>
          </a:p>
          <a:p>
            <a:r>
              <a:rPr lang="en-US" sz="1200" b="1" dirty="0"/>
              <a:t>Hypothesis</a:t>
            </a:r>
          </a:p>
          <a:p>
            <a:r>
              <a:rPr lang="en-US" sz="1200" dirty="0"/>
              <a:t> - sour is more corrosive than sweet</a:t>
            </a:r>
          </a:p>
          <a:p>
            <a:r>
              <a:rPr lang="en-US" sz="1200" dirty="0"/>
              <a:t>- heavier affects how it flows – more pressure and energy required to pump the oil</a:t>
            </a:r>
          </a:p>
          <a:p>
            <a:r>
              <a:rPr lang="en-US" sz="1200" dirty="0"/>
              <a:t>	but light are more flammable</a:t>
            </a:r>
          </a:p>
          <a:p>
            <a:r>
              <a:rPr lang="en-US" sz="1200" dirty="0"/>
              <a:t>Make sure to use this:</a:t>
            </a:r>
          </a:p>
          <a:p>
            <a:r>
              <a:rPr lang="en-US" sz="1200" dirty="0"/>
              <a:t>	</a:t>
            </a:r>
            <a:r>
              <a:rPr lang="en-US" sz="1200" dirty="0">
                <a:hlinkClick r:id="rId3"/>
              </a:rPr>
              <a:t>https://www.epa.gov/emergency-response/types-crude-oil</a:t>
            </a:r>
            <a:endParaRPr lang="en-US" sz="1200" dirty="0"/>
          </a:p>
          <a:p>
            <a:endParaRPr lang="en-US" sz="1200" dirty="0"/>
          </a:p>
          <a:p>
            <a:endParaRPr lang="en-US" sz="1200" dirty="0"/>
          </a:p>
          <a:p>
            <a:r>
              <a:rPr lang="en-US" sz="1200" dirty="0"/>
              <a:t>FUTURE INVESTIGATION: material of pipe</a:t>
            </a: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Investigating properties of crude oil so that a logical approach can be taken to solve the problem. </a:t>
            </a:r>
          </a:p>
        </p:txBody>
      </p:sp>
      <p:sp>
        <p:nvSpPr>
          <p:cNvPr id="3" name="Rectangle 2">
            <a:extLst>
              <a:ext uri="{FF2B5EF4-FFF2-40B4-BE49-F238E27FC236}">
                <a16:creationId xmlns:a16="http://schemas.microsoft.com/office/drawing/2014/main" id="{CDAB2620-6329-77FE-F22C-EE6FD7271ACC}"/>
              </a:ext>
            </a:extLst>
          </p:cNvPr>
          <p:cNvSpPr/>
          <p:nvPr/>
        </p:nvSpPr>
        <p:spPr>
          <a:xfrm>
            <a:off x="7768046" y="2316480"/>
            <a:ext cx="2673531" cy="188976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Mention that is </a:t>
            </a:r>
            <a:r>
              <a:rPr lang="en-US" dirty="0" err="1"/>
              <a:t>tartd</a:t>
            </a:r>
            <a:r>
              <a:rPr lang="en-US" dirty="0"/>
              <a:t> with dataset A because it focused on pipeline incidents (and not facilities)</a:t>
            </a:r>
          </a:p>
        </p:txBody>
      </p:sp>
    </p:spTree>
    <p:extLst>
      <p:ext uri="{BB962C8B-B14F-4D97-AF65-F5344CB8AC3E}">
        <p14:creationId xmlns:p14="http://schemas.microsoft.com/office/powerpoint/2010/main" val="31910560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references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2862322"/>
          </a:xfrm>
          <a:prstGeom prst="rect">
            <a:avLst/>
          </a:prstGeom>
          <a:noFill/>
        </p:spPr>
        <p:txBody>
          <a:bodyPr wrap="square" rtlCol="0">
            <a:spAutoFit/>
          </a:bodyPr>
          <a:lstStyle/>
          <a:p>
            <a:pPr marL="342900" indent="-342900">
              <a:buAutoNum type="arabicPeriod"/>
            </a:pPr>
            <a:r>
              <a:rPr lang="en-US" dirty="0"/>
              <a:t>TABLE - AFPM - Survey of Crude Oil Characteristics</a:t>
            </a:r>
          </a:p>
          <a:p>
            <a:pPr marL="342900" indent="-342900">
              <a:buAutoNum type="arabicPeriod"/>
            </a:pPr>
            <a:r>
              <a:rPr lang="en-US" dirty="0"/>
              <a:t>Types of crude oil – EPA</a:t>
            </a:r>
          </a:p>
          <a:p>
            <a:pPr marL="342900" indent="-342900">
              <a:buAutoNum type="arabicPeriod"/>
            </a:pPr>
            <a:r>
              <a:rPr lang="en-US" dirty="0"/>
              <a:t>Measurement of weight (API) for crude oil - </a:t>
            </a:r>
            <a:r>
              <a:rPr lang="en-US" dirty="0">
                <a:hlinkClick r:id="rId3"/>
              </a:rPr>
              <a:t>https://www.eia.gov/dnav/pet/TblDefs/pet_pnp_crq_tbldef2.asp</a:t>
            </a:r>
            <a:endParaRPr lang="en-US" dirty="0"/>
          </a:p>
          <a:p>
            <a:pPr marL="342900" indent="-342900">
              <a:buAutoNum type="arabicPeriod"/>
            </a:pPr>
            <a:r>
              <a:rPr lang="en-US" dirty="0"/>
              <a:t>Sweet vs. sour - </a:t>
            </a:r>
            <a:r>
              <a:rPr lang="en-US" dirty="0">
                <a:hlinkClick r:id="rId4"/>
              </a:rPr>
              <a:t>https://www.pipesearch.com/blog/sweet-and-sour-crude-oil/136</a:t>
            </a:r>
            <a:endParaRPr lang="en-US" dirty="0"/>
          </a:p>
          <a:p>
            <a:pPr marL="342900" indent="-342900">
              <a:buAutoNum type="arabicPeriod"/>
            </a:pPr>
            <a:r>
              <a:rPr lang="en-US" dirty="0"/>
              <a:t>Pipeline failure causes (PHMSA) - </a:t>
            </a:r>
            <a:r>
              <a:rPr lang="en-US" dirty="0">
                <a:hlinkClick r:id="rId5"/>
              </a:rPr>
              <a:t>https://www.phmsa.dot.gov/incident-reporting/accident-investigation-division/pipeline-failure-causes</a:t>
            </a:r>
            <a:endParaRPr lang="en-US" dirty="0"/>
          </a:p>
          <a:p>
            <a:pPr marL="342900" indent="-342900">
              <a:buAutoNum type="arabicPeriod"/>
            </a:pPr>
            <a:r>
              <a:rPr lang="en-US" dirty="0"/>
              <a:t>CER regulation of pipelines - </a:t>
            </a:r>
            <a:r>
              <a:rPr lang="en-US" dirty="0">
                <a:hlinkClick r:id="rId6"/>
              </a:rPr>
              <a:t>https://natural-resources.canada.ca/our-natural-resources/energy-sources-distribution/fossil-fuels/pipelines/faqs-federally-regulated-petroleum-pipelines-canada/5893#h-4-1</a:t>
            </a:r>
            <a:endParaRPr lang="en-US" dirty="0"/>
          </a:p>
          <a:p>
            <a:pPr marL="342900" indent="-342900">
              <a:buAutoNum type="arabicPeriod"/>
            </a:pPr>
            <a:r>
              <a:rPr lang="en-US" dirty="0"/>
              <a:t>PHMSA - </a:t>
            </a:r>
            <a:r>
              <a:rPr lang="en-US" dirty="0">
                <a:hlinkClick r:id="rId7"/>
              </a:rPr>
              <a:t>https://www.phmsa.dot.gov/regulations</a:t>
            </a:r>
            <a:endParaRPr lang="en-US" dirty="0"/>
          </a:p>
          <a:p>
            <a:pPr marL="342900" indent="-342900">
              <a:buAutoNum type="arabicPeriod"/>
            </a:pPr>
            <a:r>
              <a:rPr lang="en-US" dirty="0"/>
              <a:t>Jan 1979 TSB datasets - https://</a:t>
            </a:r>
            <a:r>
              <a:rPr lang="en-US" dirty="0" err="1"/>
              <a:t>www.tsb.gc.ca</a:t>
            </a:r>
            <a:r>
              <a:rPr lang="en-US" dirty="0"/>
              <a:t>/</a:t>
            </a:r>
            <a:r>
              <a:rPr lang="en-US" dirty="0" err="1"/>
              <a:t>eng</a:t>
            </a:r>
            <a:r>
              <a:rPr lang="en-US" dirty="0"/>
              <a:t>/stats/pipeline/data-2.html</a:t>
            </a:r>
          </a:p>
        </p:txBody>
      </p:sp>
    </p:spTree>
    <p:extLst>
      <p:ext uri="{BB962C8B-B14F-4D97-AF65-F5344CB8AC3E}">
        <p14:creationId xmlns:p14="http://schemas.microsoft.com/office/powerpoint/2010/main" val="20219745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0" y="7622"/>
            <a:ext cx="12192000"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1D2C33"/>
                </a:solidFill>
              </a:rPr>
              <a:t>APPENDIX</a:t>
            </a:r>
          </a:p>
        </p:txBody>
      </p:sp>
      <p:pic>
        <p:nvPicPr>
          <p:cNvPr id="7" name="Picture 4" descr="Validere expands market fundamentals team with key new hires - Validere">
            <a:extLst>
              <a:ext uri="{FF2B5EF4-FFF2-40B4-BE49-F238E27FC236}">
                <a16:creationId xmlns:a16="http://schemas.microsoft.com/office/drawing/2014/main" id="{8C793E36-BE88-9323-69E1-1A63865EF6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227909"/>
            <a:ext cx="12192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60899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Appendix</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graphicFrame>
        <p:nvGraphicFramePr>
          <p:cNvPr id="3" name="Table 2">
            <a:extLst>
              <a:ext uri="{FF2B5EF4-FFF2-40B4-BE49-F238E27FC236}">
                <a16:creationId xmlns:a16="http://schemas.microsoft.com/office/drawing/2014/main" id="{A0CCA5E9-1717-D49E-4416-88763975C56C}"/>
              </a:ext>
            </a:extLst>
          </p:cNvPr>
          <p:cNvGraphicFramePr>
            <a:graphicFrameLocks noGrp="1"/>
          </p:cNvGraphicFramePr>
          <p:nvPr>
            <p:extLst>
              <p:ext uri="{D42A27DB-BD31-4B8C-83A1-F6EECF244321}">
                <p14:modId xmlns:p14="http://schemas.microsoft.com/office/powerpoint/2010/main" val="1975833207"/>
              </p:ext>
            </p:extLst>
          </p:nvPr>
        </p:nvGraphicFramePr>
        <p:xfrm>
          <a:off x="7539446" y="1900524"/>
          <a:ext cx="4064001" cy="362712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4049625348"/>
                    </a:ext>
                  </a:extLst>
                </a:gridCol>
                <a:gridCol w="1354667">
                  <a:extLst>
                    <a:ext uri="{9D8B030D-6E8A-4147-A177-3AD203B41FA5}">
                      <a16:colId xmlns:a16="http://schemas.microsoft.com/office/drawing/2014/main" val="3951251874"/>
                    </a:ext>
                  </a:extLst>
                </a:gridCol>
                <a:gridCol w="1354667">
                  <a:extLst>
                    <a:ext uri="{9D8B030D-6E8A-4147-A177-3AD203B41FA5}">
                      <a16:colId xmlns:a16="http://schemas.microsoft.com/office/drawing/2014/main" val="1527429592"/>
                    </a:ext>
                  </a:extLst>
                </a:gridCol>
              </a:tblGrid>
              <a:tr h="148014">
                <a:tc>
                  <a:txBody>
                    <a:bodyPr/>
                    <a:lstStyle/>
                    <a:p>
                      <a:r>
                        <a:rPr lang="en-US" sz="1000" dirty="0">
                          <a:solidFill>
                            <a:schemeClr val="bg1"/>
                          </a:solidFill>
                        </a:rPr>
                        <a:t>Hydrocarbon gas</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257E88"/>
                    </a:solidFill>
                  </a:tcPr>
                </a:tc>
                <a:tc>
                  <a:txBody>
                    <a:bodyPr/>
                    <a:lstStyle/>
                    <a:p>
                      <a:r>
                        <a:rPr lang="en-US" sz="1000" dirty="0">
                          <a:solidFill>
                            <a:schemeClr val="bg1"/>
                          </a:solidFill>
                        </a:rPr>
                        <a:t>Concentration in Liquid Volume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257E88"/>
                    </a:solidFill>
                  </a:tcPr>
                </a:tc>
                <a:tc>
                  <a:txBody>
                    <a:bodyPr/>
                    <a:lstStyle/>
                    <a:p>
                      <a:r>
                        <a:rPr lang="en-US" sz="1000" dirty="0">
                          <a:solidFill>
                            <a:schemeClr val="bg1"/>
                          </a:solidFill>
                        </a:rPr>
                        <a:t>DOT Classification</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257E88"/>
                    </a:solidFill>
                  </a:tcPr>
                </a:tc>
                <a:extLst>
                  <a:ext uri="{0D108BD9-81ED-4DB2-BD59-A6C34878D82A}">
                    <a16:rowId xmlns:a16="http://schemas.microsoft.com/office/drawing/2014/main" val="2553333783"/>
                  </a:ext>
                </a:extLst>
              </a:tr>
              <a:tr h="148014">
                <a:tc>
                  <a:txBody>
                    <a:bodyPr/>
                    <a:lstStyle/>
                    <a:p>
                      <a:r>
                        <a:rPr lang="en-US" sz="1000" dirty="0"/>
                        <a:t>Methane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4565260"/>
                  </a:ext>
                </a:extLst>
              </a:tr>
              <a:tr h="148014">
                <a:tc>
                  <a:txBody>
                    <a:bodyPr/>
                    <a:lstStyle/>
                    <a:p>
                      <a:r>
                        <a:rPr lang="en-US" sz="1000" dirty="0"/>
                        <a:t>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0.05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0996065"/>
                  </a:ext>
                </a:extLst>
              </a:tr>
              <a:tr h="148014">
                <a:tc>
                  <a:txBody>
                    <a:bodyPr/>
                    <a:lstStyle/>
                    <a:p>
                      <a:r>
                        <a:rPr lang="en-US" sz="1000" dirty="0"/>
                        <a:t>Propane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0.80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4387885"/>
                  </a:ext>
                </a:extLst>
              </a:tr>
              <a:tr h="148014">
                <a:tc>
                  <a:txBody>
                    <a:bodyPr/>
                    <a:lstStyle/>
                    <a:p>
                      <a:r>
                        <a:rPr lang="en-US" sz="1000" dirty="0"/>
                        <a:t>Iso-Butane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0.46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8878070"/>
                  </a:ext>
                </a:extLst>
              </a:tr>
              <a:tr h="148014">
                <a:tc>
                  <a:txBody>
                    <a:bodyPr/>
                    <a:lstStyle/>
                    <a:p>
                      <a:r>
                        <a:rPr lang="en-US" sz="1000" dirty="0"/>
                        <a:t>N- 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7104529"/>
                  </a:ext>
                </a:extLst>
              </a:tr>
              <a:tr h="148014">
                <a:tc>
                  <a:txBody>
                    <a:bodyPr/>
                    <a:lstStyle/>
                    <a:p>
                      <a:r>
                        <a:rPr lang="en-US" sz="1000" dirty="0"/>
                        <a:t>Total Gas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3.67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000" dirty="0"/>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2430970"/>
                  </a:ext>
                </a:extLst>
              </a:tr>
              <a:tr h="148014">
                <a:tc>
                  <a:txBody>
                    <a:bodyPr/>
                    <a:lstStyle/>
                    <a:p>
                      <a:r>
                        <a:rPr lang="en-US" sz="1000" dirty="0"/>
                        <a:t>Neopentane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583352"/>
                  </a:ext>
                </a:extLst>
              </a:tr>
              <a:tr h="148014">
                <a:tc>
                  <a:txBody>
                    <a:bodyPr/>
                    <a:lstStyle/>
                    <a:p>
                      <a:r>
                        <a:rPr lang="en-US" sz="1000" dirty="0"/>
                        <a:t>Iso-Pentane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1.33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70501438"/>
                  </a:ext>
                </a:extLst>
              </a:tr>
              <a:tr h="148014">
                <a:tc>
                  <a:txBody>
                    <a:bodyPr/>
                    <a:lstStyle/>
                    <a:p>
                      <a:r>
                        <a:rPr lang="en-US" sz="1000" dirty="0"/>
                        <a:t>N-Pentane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8391748"/>
                  </a:ext>
                </a:extLst>
              </a:tr>
              <a:tr h="148014">
                <a:tc>
                  <a:txBody>
                    <a:bodyPr/>
                    <a:lstStyle/>
                    <a:p>
                      <a:r>
                        <a:rPr lang="en-US" sz="1000" dirty="0"/>
                        <a:t>Hexanes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4.10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4346941"/>
                  </a:ext>
                </a:extLst>
              </a:tr>
              <a:tr h="158152">
                <a:tc>
                  <a:txBody>
                    <a:bodyPr/>
                    <a:lstStyle/>
                    <a:p>
                      <a:r>
                        <a:rPr lang="en-US" sz="1000" dirty="0" err="1"/>
                        <a:t>Heptanes</a:t>
                      </a:r>
                      <a:r>
                        <a:rPr lang="en-US" sz="1000" dirty="0"/>
                        <a:t> Plus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88.56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Varies Class 3; PG II to combustible liquid to non-regulated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399556"/>
                  </a:ext>
                </a:extLst>
              </a:tr>
              <a:tr h="148014">
                <a:tc>
                  <a:txBody>
                    <a:bodyPr/>
                    <a:lstStyle/>
                    <a:p>
                      <a:r>
                        <a:rPr lang="en-US" sz="1000" dirty="0"/>
                        <a:t>Benzenes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t>0.08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t>Class 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902920469"/>
                  </a:ext>
                </a:extLst>
              </a:tr>
            </a:tbl>
          </a:graphicData>
        </a:graphic>
      </p:graphicFrame>
    </p:spTree>
    <p:extLst>
      <p:ext uri="{BB962C8B-B14F-4D97-AF65-F5344CB8AC3E}">
        <p14:creationId xmlns:p14="http://schemas.microsoft.com/office/powerpoint/2010/main" val="13286001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Validere Acquires Regulatory Reporting Platform Clairifi - Validere">
            <a:extLst>
              <a:ext uri="{FF2B5EF4-FFF2-40B4-BE49-F238E27FC236}">
                <a16:creationId xmlns:a16="http://schemas.microsoft.com/office/drawing/2014/main" id="{0FDE1F5C-16C5-8498-9DE0-2E46B12DF7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622"/>
            <a:ext cx="12192000" cy="684275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729573" y="1784737"/>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1D2C33"/>
                </a:solidFill>
              </a:rPr>
              <a:t>Properties of Crude Oil Responsible for Pipeline Accidents</a:t>
            </a:r>
          </a:p>
        </p:txBody>
      </p:sp>
      <p:sp>
        <p:nvSpPr>
          <p:cNvPr id="3" name="Rectangle 2">
            <a:extLst>
              <a:ext uri="{FF2B5EF4-FFF2-40B4-BE49-F238E27FC236}">
                <a16:creationId xmlns:a16="http://schemas.microsoft.com/office/drawing/2014/main" id="{14363152-BE08-674D-0A2B-51E112F6E136}"/>
              </a:ext>
            </a:extLst>
          </p:cNvPr>
          <p:cNvSpPr/>
          <p:nvPr/>
        </p:nvSpPr>
        <p:spPr>
          <a:xfrm>
            <a:off x="729573" y="3491387"/>
            <a:ext cx="5969541" cy="3615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1D2C33"/>
                </a:solidFill>
              </a:rPr>
              <a:t>Date: January 29, 2023</a:t>
            </a:r>
          </a:p>
        </p:txBody>
      </p:sp>
      <p:sp>
        <p:nvSpPr>
          <p:cNvPr id="5" name="Rectangle 4">
            <a:extLst>
              <a:ext uri="{FF2B5EF4-FFF2-40B4-BE49-F238E27FC236}">
                <a16:creationId xmlns:a16="http://schemas.microsoft.com/office/drawing/2014/main" id="{98D019AC-5746-90F8-AAB6-A88FF770F305}"/>
              </a:ext>
            </a:extLst>
          </p:cNvPr>
          <p:cNvSpPr/>
          <p:nvPr/>
        </p:nvSpPr>
        <p:spPr>
          <a:xfrm>
            <a:off x="729573" y="3142478"/>
            <a:ext cx="5969541" cy="3489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1D2C33"/>
                </a:solidFill>
              </a:rPr>
              <a:t>Created By: Cameron MacKinnon</a:t>
            </a:r>
          </a:p>
        </p:txBody>
      </p:sp>
      <p:cxnSp>
        <p:nvCxnSpPr>
          <p:cNvPr id="9" name="Straight Connector 8">
            <a:extLst>
              <a:ext uri="{FF2B5EF4-FFF2-40B4-BE49-F238E27FC236}">
                <a16:creationId xmlns:a16="http://schemas.microsoft.com/office/drawing/2014/main" id="{8BA039D3-CD15-E1D4-2890-6F8AE3E7E0C4}"/>
              </a:ext>
            </a:extLst>
          </p:cNvPr>
          <p:cNvCxnSpPr/>
          <p:nvPr/>
        </p:nvCxnSpPr>
        <p:spPr>
          <a:xfrm>
            <a:off x="836023" y="3005024"/>
            <a:ext cx="10171611"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083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68AD3-1A3E-3983-DB7C-39908780DADF}"/>
              </a:ext>
            </a:extLst>
          </p:cNvPr>
          <p:cNvSpPr>
            <a:spLocks noGrp="1"/>
          </p:cNvSpPr>
          <p:nvPr>
            <p:ph type="ctrTitle"/>
          </p:nvPr>
        </p:nvSpPr>
        <p:spPr/>
        <p:txBody>
          <a:bodyPr/>
          <a:lstStyle/>
          <a:p>
            <a:endParaRPr lang="en-US" dirty="0"/>
          </a:p>
        </p:txBody>
      </p:sp>
      <p:sp>
        <p:nvSpPr>
          <p:cNvPr id="3" name="Subtitle 2">
            <a:extLst>
              <a:ext uri="{FF2B5EF4-FFF2-40B4-BE49-F238E27FC236}">
                <a16:creationId xmlns:a16="http://schemas.microsoft.com/office/drawing/2014/main" id="{0E967C20-4815-8F96-756F-5E7B1F0C7657}"/>
              </a:ext>
            </a:extLst>
          </p:cNvPr>
          <p:cNvSpPr>
            <a:spLocks noGrp="1"/>
          </p:cNvSpPr>
          <p:nvPr>
            <p:ph type="subTitle" idx="1"/>
          </p:nvPr>
        </p:nvSpPr>
        <p:spPr/>
        <p:txBody>
          <a:bodyPr/>
          <a:lstStyle/>
          <a:p>
            <a:endParaRPr lang="en-US"/>
          </a:p>
        </p:txBody>
      </p:sp>
      <p:pic>
        <p:nvPicPr>
          <p:cNvPr id="3076" name="Picture 4" descr="Validere expands market fundamentals team with key new hires - Validere">
            <a:extLst>
              <a:ext uri="{FF2B5EF4-FFF2-40B4-BE49-F238E27FC236}">
                <a16:creationId xmlns:a16="http://schemas.microsoft.com/office/drawing/2014/main" id="{06A31D39-E681-EF0C-26B9-87D55E335D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20788"/>
            <a:ext cx="12192000" cy="47625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Validere Acquires Regulatory Reporting Platform Clairifi - Validere">
            <a:extLst>
              <a:ext uri="{FF2B5EF4-FFF2-40B4-BE49-F238E27FC236}">
                <a16:creationId xmlns:a16="http://schemas.microsoft.com/office/drawing/2014/main" id="{0146D473-672E-CB38-5452-62B26CE7CE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629" y="6169404"/>
            <a:ext cx="4406537" cy="5399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29445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32ABF-1F14-9577-C4AB-228146EECC2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75D4244-2B4C-8733-FC75-6C7DD616B888}"/>
              </a:ext>
            </a:extLst>
          </p:cNvPr>
          <p:cNvSpPr>
            <a:spLocks noGrp="1"/>
          </p:cNvSpPr>
          <p:nvPr>
            <p:ph idx="1"/>
          </p:nvPr>
        </p:nvSpPr>
        <p:spPr/>
        <p:txBody>
          <a:bodyPr/>
          <a:lstStyle/>
          <a:p>
            <a:endParaRPr lang="en-US"/>
          </a:p>
        </p:txBody>
      </p:sp>
      <p:pic>
        <p:nvPicPr>
          <p:cNvPr id="4098" name="Picture 2" descr="ESG Is Not a Black Box - Validere">
            <a:extLst>
              <a:ext uri="{FF2B5EF4-FFF2-40B4-BE49-F238E27FC236}">
                <a16:creationId xmlns:a16="http://schemas.microsoft.com/office/drawing/2014/main" id="{83618BB5-8201-104C-3A20-0DB715B8D3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47750"/>
            <a:ext cx="12192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90152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56B82-0F79-D426-A7C1-F67CF9A8E1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46B585E-E41D-CC5E-BB42-CE86A6EC71B1}"/>
              </a:ext>
            </a:extLst>
          </p:cNvPr>
          <p:cNvSpPr>
            <a:spLocks noGrp="1"/>
          </p:cNvSpPr>
          <p:nvPr>
            <p:ph idx="1"/>
          </p:nvPr>
        </p:nvSpPr>
        <p:spPr/>
        <p:txBody>
          <a:bodyPr/>
          <a:lstStyle/>
          <a:p>
            <a:endParaRPr lang="en-US"/>
          </a:p>
        </p:txBody>
      </p:sp>
      <p:pic>
        <p:nvPicPr>
          <p:cNvPr id="5122" name="Picture 2" descr="Validere Acquires Regulatory Reporting Platform Clairifi - Validere">
            <a:extLst>
              <a:ext uri="{FF2B5EF4-FFF2-40B4-BE49-F238E27FC236}">
                <a16:creationId xmlns:a16="http://schemas.microsoft.com/office/drawing/2014/main" id="{7386BC02-A5BE-3C85-36B7-4EFF3FA207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47750"/>
            <a:ext cx="12192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584441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C09BF-E58A-F9AB-F9BC-DD9F48FF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0CA3B42-232A-301C-A8F2-15984BF0650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16246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4755</TotalTime>
  <Words>3427</Words>
  <Application>Microsoft Macintosh PowerPoint</Application>
  <PresentationFormat>Widescreen</PresentationFormat>
  <Paragraphs>381</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Kiera Mcwatt</dc:creator>
  <cp:lastModifiedBy>Kiera Mcwatt</cp:lastModifiedBy>
  <cp:revision>22</cp:revision>
  <dcterms:created xsi:type="dcterms:W3CDTF">2024-01-23T17:24:49Z</dcterms:created>
  <dcterms:modified xsi:type="dcterms:W3CDTF">2024-01-28T22:55:03Z</dcterms:modified>
</cp:coreProperties>
</file>