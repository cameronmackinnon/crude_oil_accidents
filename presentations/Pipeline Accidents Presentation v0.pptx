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6" r:id="rId3"/>
    <p:sldId id="265" r:id="rId4"/>
    <p:sldId id="266" r:id="rId5"/>
    <p:sldId id="267" r:id="rId6"/>
    <p:sldId id="269" r:id="rId7"/>
    <p:sldId id="270" r:id="rId8"/>
    <p:sldId id="271" r:id="rId9"/>
    <p:sldId id="262" r:id="rId10"/>
    <p:sldId id="263" r:id="rId11"/>
    <p:sldId id="264" r:id="rId12"/>
    <p:sldId id="257" r:id="rId13"/>
    <p:sldId id="258" r:id="rId14"/>
    <p:sldId id="259" r:id="rId15"/>
    <p:sldId id="26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3442"/>
    <a:srgbClr val="1D2C33"/>
    <a:srgbClr val="D6DB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40"/>
    <p:restoredTop sz="94659"/>
  </p:normalViewPr>
  <p:slideViewPr>
    <p:cSldViewPr snapToGrid="0">
      <p:cViewPr varScale="1">
        <p:scale>
          <a:sx n="106" d="100"/>
          <a:sy n="106" d="100"/>
        </p:scale>
        <p:origin x="8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C4D0A-E1ED-5C57-0D99-B029F91DC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C0ADC-07C5-0123-1C9B-27AEC2EC11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30FE-1D7B-7BB8-B07D-7B1179486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2BF43-605E-560E-FA8D-DAB08F3F6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871D0-8173-D3B6-6E66-9BB502CC1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2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E6529-5BE5-0AD8-CBC7-2ED6A8D09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7B846-0CB8-C82A-05C5-7F9FC1D43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DF5E7-DAEB-33D0-4684-D9719C6DE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CB93A-7F23-4CEE-C8D4-798037191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33780-3C2D-EEC4-59D0-90918FEF9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75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1EC98-330C-CE06-0378-5C02F8B43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7DCBC-D9D3-9263-8DB2-3623EEA5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6E002-8F61-561F-86DB-40AB9AB57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34117-CEC8-40CA-0A61-8BBC67A79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EF6604-EACD-042C-4A34-1527D979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4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6DAB-6F3C-D3B6-F9C5-993AA5190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90C6E-9CEA-B52A-E10C-D8D9B8FB6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3D157F-A9B5-9703-AC0C-FB6D8E4602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B00BB-4211-C4B9-C9F7-80BB246F6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EB9D0-4D83-7ABA-F369-7C7189AAD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AF73CD-26B1-E97D-773B-6C7243EF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1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18774-24C1-6B70-E733-A582313BA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8002E-7618-100E-EA3B-6CBF5CFCD9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591FFC-B8EC-FA38-4CF7-F2F1130C0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FF3533-EE77-981D-2105-259256E7C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A876E7-62C5-18D1-BEED-B851930BC9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81756A-D127-74BD-A17A-B90B5EACA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55A8B8-86AF-1434-1CFE-7EF2D53B8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EFC9DB-C534-742D-6CD3-8420E29DD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12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42785-F6CF-8AAF-64C1-5004BC1B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87C524-2E0E-CF5D-FD4B-D1AC31948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E261A-4E0F-06A8-1E4C-A798E42FB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1D0BF-7E8D-D99E-BEF6-91D6645B8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96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A2D605-B790-F0D4-8378-2CEDFF2A7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238132-0A4F-03DF-58B1-94BF9128D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177E9-763D-2D5D-9D8C-97B20F8E4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57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F000-DE8A-CE9E-41F4-F694C6CBC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82CB7-DF53-D0A9-F02E-92927C209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94C14-7299-956F-C961-BED0731CD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B009C1-E38C-C2A1-7912-337666758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7D2FF-00E2-5DCA-C61F-695D85128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2D0CA8-769C-1161-F822-37861152E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42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42AE2-56A6-1953-1EC6-1C380A044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07935E-DE29-E13C-2EFF-A731AE506F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73276-6F92-B28B-DFF6-B85B15CA0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E0E02C-8F0E-0766-10B8-3D13F31EB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82496-98D3-8388-AD22-0F4E4D699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996A0-FC2B-88E3-5E35-229393262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59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66E25-C21D-D50B-12F1-31691B113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38063E-5F85-1778-60EC-43CE288313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4A609A-6CF0-65DD-7EB1-6AACF166A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8029D-4661-8072-483E-2EDA5A220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9EDA1-A260-41E2-9E3A-54A9E1629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663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117EE9-2527-9EAC-DEDA-46B849C1D0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E14748-244C-0064-4007-8F59163AEA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2F76A-A9E6-D00E-72F6-74D78A1A8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FDC10-B7C5-1653-745E-520E93224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00E2E-4D15-2875-D036-3FB9C012B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2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0EE122-A685-2B1F-28CC-3E492A86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F6834F-F1AC-C207-8881-5AA24912A8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FF414-9283-03A5-C327-17E5CB0EFD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6BF67-2978-CE4D-8D5C-6E816D1CE5DA}" type="datetimeFigureOut">
              <a:rPr lang="en-US" smtClean="0"/>
              <a:t>1/25/24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8DD94-17DC-117C-0836-3192D08ACE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6908EB-6321-127E-2E17-10E2F54E60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330F7D-D613-E24A-9838-C4B5C3515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51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141E8-7A77-B683-CBCA-B721AC37D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D54F5-96FD-BFB9-21CC-0BD88CE6E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Why Is Validere a Great Place to Work? - Validere">
            <a:extLst>
              <a:ext uri="{FF2B5EF4-FFF2-40B4-BE49-F238E27FC236}">
                <a16:creationId xmlns:a16="http://schemas.microsoft.com/office/drawing/2014/main" id="{D4130606-64FB-7738-40AD-DD2BE50BA0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56"/>
          <a:stretch/>
        </p:blipFill>
        <p:spPr bwMode="auto">
          <a:xfrm flipH="1" flipV="1"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DB5877E-665B-64F8-9EF0-1F08DC10C61F}"/>
              </a:ext>
            </a:extLst>
          </p:cNvPr>
          <p:cNvSpPr/>
          <p:nvPr/>
        </p:nvSpPr>
        <p:spPr>
          <a:xfrm>
            <a:off x="729573" y="1784737"/>
            <a:ext cx="6698838" cy="12202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chemeClr val="bg1"/>
                </a:solidFill>
              </a:rPr>
              <a:t>Properties of Crude Oil Responsible for Pipeline Accidents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A1459F-5616-25FF-A46F-2D925E859077}"/>
              </a:ext>
            </a:extLst>
          </p:cNvPr>
          <p:cNvSpPr/>
          <p:nvPr/>
        </p:nvSpPr>
        <p:spPr>
          <a:xfrm>
            <a:off x="729573" y="3491387"/>
            <a:ext cx="5969541" cy="36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bg1"/>
                </a:solidFill>
              </a:rPr>
              <a:t>Date: January 29, 2023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9A94D8-104F-A669-9211-52C5BED1D9DE}"/>
              </a:ext>
            </a:extLst>
          </p:cNvPr>
          <p:cNvSpPr/>
          <p:nvPr/>
        </p:nvSpPr>
        <p:spPr>
          <a:xfrm>
            <a:off x="729573" y="3142478"/>
            <a:ext cx="5969541" cy="34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bg1"/>
                </a:solidFill>
              </a:rPr>
              <a:t>Created By: Cameron MacKinnon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E3C0BFB-6277-8E26-2255-59D04F6A73B4}"/>
              </a:ext>
            </a:extLst>
          </p:cNvPr>
          <p:cNvCxnSpPr>
            <a:cxnSpLocks/>
          </p:cNvCxnSpPr>
          <p:nvPr/>
        </p:nvCxnSpPr>
        <p:spPr>
          <a:xfrm>
            <a:off x="836023" y="3005024"/>
            <a:ext cx="6731726" cy="0"/>
          </a:xfrm>
          <a:prstGeom prst="line">
            <a:avLst/>
          </a:prstGeom>
          <a:ln w="38100">
            <a:solidFill>
              <a:srgbClr val="D6DB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3BF0D8B9-1BB4-7CC2-EDF9-838BE3BCC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6" y="6313712"/>
            <a:ext cx="2385518" cy="24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4224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5E69D8-2133-86C5-C478-359118968E16}"/>
              </a:ext>
            </a:extLst>
          </p:cNvPr>
          <p:cNvSpPr/>
          <p:nvPr/>
        </p:nvSpPr>
        <p:spPr>
          <a:xfrm>
            <a:off x="233183" y="304280"/>
            <a:ext cx="11523387" cy="618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rgbClr val="213442"/>
                </a:solidFill>
              </a:rPr>
              <a:t>Table of Contents</a:t>
            </a:r>
          </a:p>
        </p:txBody>
      </p:sp>
      <p:pic>
        <p:nvPicPr>
          <p:cNvPr id="6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5AE29AB1-08CB-3040-BAF6-3C2842084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6" y="6313712"/>
            <a:ext cx="2385518" cy="24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A76F35-D9B8-C9A4-D281-3E7D21973AFB}"/>
              </a:ext>
            </a:extLst>
          </p:cNvPr>
          <p:cNvSpPr txBox="1"/>
          <p:nvPr/>
        </p:nvSpPr>
        <p:spPr>
          <a:xfrm>
            <a:off x="348343" y="1489166"/>
            <a:ext cx="1016290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Problem Statement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Scope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Pipeline Accidents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Pipeline Materials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Approach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Physical and Chemical Properties of Crude Oil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Hypothesis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Datasets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Analysis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Results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Conclusion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Future Investigation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References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Appendix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7ED728-390F-3F8A-5857-EA1F707AD76B}"/>
              </a:ext>
            </a:extLst>
          </p:cNvPr>
          <p:cNvCxnSpPr>
            <a:cxnSpLocks/>
          </p:cNvCxnSpPr>
          <p:nvPr/>
        </p:nvCxnSpPr>
        <p:spPr>
          <a:xfrm>
            <a:off x="348343" y="923109"/>
            <a:ext cx="11625311" cy="0"/>
          </a:xfrm>
          <a:prstGeom prst="line">
            <a:avLst/>
          </a:prstGeom>
          <a:ln w="38100">
            <a:solidFill>
              <a:srgbClr val="2134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48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5E69D8-2133-86C5-C478-359118968E16}"/>
              </a:ext>
            </a:extLst>
          </p:cNvPr>
          <p:cNvSpPr/>
          <p:nvPr/>
        </p:nvSpPr>
        <p:spPr>
          <a:xfrm>
            <a:off x="233183" y="304280"/>
            <a:ext cx="11523387" cy="618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rgbClr val="213442"/>
                </a:solidFill>
              </a:rPr>
              <a:t>Problem Statement</a:t>
            </a:r>
          </a:p>
        </p:txBody>
      </p:sp>
      <p:pic>
        <p:nvPicPr>
          <p:cNvPr id="6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5AE29AB1-08CB-3040-BAF6-3C2842084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6" y="6313712"/>
            <a:ext cx="2385518" cy="24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A76F35-D9B8-C9A4-D281-3E7D21973AFB}"/>
              </a:ext>
            </a:extLst>
          </p:cNvPr>
          <p:cNvSpPr txBox="1"/>
          <p:nvPr/>
        </p:nvSpPr>
        <p:spPr>
          <a:xfrm>
            <a:off x="348343" y="1910250"/>
            <a:ext cx="1016290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Part A</a:t>
            </a:r>
          </a:p>
          <a:p>
            <a:r>
              <a:rPr lang="en-US" sz="1200" dirty="0"/>
              <a:t>What physical or chemical properties of crude oil could be responsible for pipeline accidents?</a:t>
            </a:r>
          </a:p>
          <a:p>
            <a:endParaRPr lang="en-US" sz="1200" dirty="0"/>
          </a:p>
          <a:p>
            <a:r>
              <a:rPr lang="en-US" sz="1200" b="1" dirty="0"/>
              <a:t>Part B - Regulations &amp; Implications</a:t>
            </a:r>
          </a:p>
          <a:p>
            <a:r>
              <a:rPr lang="en-US" sz="1200" dirty="0"/>
              <a:t>- What regulations on those properties would you recommend?</a:t>
            </a:r>
          </a:p>
          <a:p>
            <a:r>
              <a:rPr lang="en-US" sz="1200" dirty="0"/>
              <a:t>- Have we gotten better at regulating those properties over time?</a:t>
            </a:r>
          </a:p>
          <a:p>
            <a:r>
              <a:rPr lang="en-US" sz="1200" dirty="0"/>
              <a:t>- What implications on the oil market would these regulations have? </a:t>
            </a:r>
          </a:p>
          <a:p>
            <a:r>
              <a:rPr lang="en-US" sz="1200" dirty="0"/>
              <a:t>- How can success of these regulations be quantified in the short term and long term?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7ED728-390F-3F8A-5857-EA1F707AD76B}"/>
              </a:ext>
            </a:extLst>
          </p:cNvPr>
          <p:cNvCxnSpPr>
            <a:cxnSpLocks/>
          </p:cNvCxnSpPr>
          <p:nvPr/>
        </p:nvCxnSpPr>
        <p:spPr>
          <a:xfrm>
            <a:off x="348343" y="923109"/>
            <a:ext cx="11625311" cy="0"/>
          </a:xfrm>
          <a:prstGeom prst="line">
            <a:avLst/>
          </a:prstGeom>
          <a:ln w="38100">
            <a:solidFill>
              <a:srgbClr val="2134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446A0DB-5D02-B35C-44C5-F05E5426C5DF}"/>
              </a:ext>
            </a:extLst>
          </p:cNvPr>
          <p:cNvSpPr txBox="1"/>
          <p:nvPr/>
        </p:nvSpPr>
        <p:spPr>
          <a:xfrm>
            <a:off x="290763" y="1047347"/>
            <a:ext cx="11682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qualities of crude oil lead to pipeline accidents? </a:t>
            </a:r>
          </a:p>
        </p:txBody>
      </p:sp>
    </p:spTree>
    <p:extLst>
      <p:ext uri="{BB962C8B-B14F-4D97-AF65-F5344CB8AC3E}">
        <p14:creationId xmlns:p14="http://schemas.microsoft.com/office/powerpoint/2010/main" val="387674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5E69D8-2133-86C5-C478-359118968E16}"/>
              </a:ext>
            </a:extLst>
          </p:cNvPr>
          <p:cNvSpPr/>
          <p:nvPr/>
        </p:nvSpPr>
        <p:spPr>
          <a:xfrm>
            <a:off x="233183" y="304280"/>
            <a:ext cx="11523387" cy="618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rgbClr val="213442"/>
                </a:solidFill>
              </a:rPr>
              <a:t>Scope</a:t>
            </a:r>
          </a:p>
        </p:txBody>
      </p:sp>
      <p:pic>
        <p:nvPicPr>
          <p:cNvPr id="6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5AE29AB1-08CB-3040-BAF6-3C2842084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6" y="6313712"/>
            <a:ext cx="2385518" cy="24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A76F35-D9B8-C9A4-D281-3E7D21973AFB}"/>
              </a:ext>
            </a:extLst>
          </p:cNvPr>
          <p:cNvSpPr txBox="1"/>
          <p:nvPr/>
        </p:nvSpPr>
        <p:spPr>
          <a:xfrm>
            <a:off x="348343" y="1910250"/>
            <a:ext cx="1016290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Pipeline Accidents</a:t>
            </a:r>
          </a:p>
          <a:p>
            <a:r>
              <a:rPr lang="en-US" sz="1200" dirty="0"/>
              <a:t>- Multiple materials (liquids, gases) moved by pipelines, including crude oil, natural gas, etc.</a:t>
            </a:r>
          </a:p>
          <a:p>
            <a:r>
              <a:rPr lang="en-US" sz="1200" dirty="0"/>
              <a:t>- Lots of reasons for pipeline accidents – human error, equipment malfunction, etc.</a:t>
            </a:r>
          </a:p>
          <a:p>
            <a:endParaRPr lang="en-US" sz="1200" dirty="0"/>
          </a:p>
          <a:p>
            <a:r>
              <a:rPr lang="en-US" sz="1200" b="1" dirty="0"/>
              <a:t>Focus of Investigation</a:t>
            </a:r>
          </a:p>
          <a:p>
            <a:r>
              <a:rPr lang="en-US" sz="1200" dirty="0"/>
              <a:t>- Materials</a:t>
            </a:r>
          </a:p>
          <a:p>
            <a:r>
              <a:rPr lang="en-US" sz="1200" dirty="0"/>
              <a:t>	- first look at crude oil vs. everything else to see if there is anything inherent in crude oil</a:t>
            </a:r>
          </a:p>
          <a:p>
            <a:r>
              <a:rPr lang="en-US" sz="1200" dirty="0"/>
              <a:t>	- second look at different properties of crude oil to see if they are having an influence on accidents</a:t>
            </a:r>
          </a:p>
          <a:p>
            <a:r>
              <a:rPr lang="en-US" sz="1200" dirty="0"/>
              <a:t>- Cause of accident - try to focus on accidents that may have been related to the material that they were transporting. This includes flammability, corrosivity, and more…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7ED728-390F-3F8A-5857-EA1F707AD76B}"/>
              </a:ext>
            </a:extLst>
          </p:cNvPr>
          <p:cNvCxnSpPr>
            <a:cxnSpLocks/>
          </p:cNvCxnSpPr>
          <p:nvPr/>
        </p:nvCxnSpPr>
        <p:spPr>
          <a:xfrm>
            <a:off x="348343" y="923109"/>
            <a:ext cx="11625311" cy="0"/>
          </a:xfrm>
          <a:prstGeom prst="line">
            <a:avLst/>
          </a:prstGeom>
          <a:ln w="38100">
            <a:solidFill>
              <a:srgbClr val="2134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446A0DB-5D02-B35C-44C5-F05E5426C5DF}"/>
              </a:ext>
            </a:extLst>
          </p:cNvPr>
          <p:cNvSpPr txBox="1"/>
          <p:nvPr/>
        </p:nvSpPr>
        <p:spPr>
          <a:xfrm>
            <a:off x="290763" y="1047347"/>
            <a:ext cx="11682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Narrowing in on the problem statement so that we can take a data-driven approach to come to a solution</a:t>
            </a:r>
          </a:p>
        </p:txBody>
      </p:sp>
    </p:spTree>
    <p:extLst>
      <p:ext uri="{BB962C8B-B14F-4D97-AF65-F5344CB8AC3E}">
        <p14:creationId xmlns:p14="http://schemas.microsoft.com/office/powerpoint/2010/main" val="3328951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5E69D8-2133-86C5-C478-359118968E16}"/>
              </a:ext>
            </a:extLst>
          </p:cNvPr>
          <p:cNvSpPr/>
          <p:nvPr/>
        </p:nvSpPr>
        <p:spPr>
          <a:xfrm>
            <a:off x="233183" y="304280"/>
            <a:ext cx="11523387" cy="618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rgbClr val="213442"/>
                </a:solidFill>
              </a:rPr>
              <a:t>Approach</a:t>
            </a:r>
          </a:p>
        </p:txBody>
      </p:sp>
      <p:pic>
        <p:nvPicPr>
          <p:cNvPr id="6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5AE29AB1-08CB-3040-BAF6-3C2842084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6" y="6313712"/>
            <a:ext cx="2385518" cy="24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A76F35-D9B8-C9A4-D281-3E7D21973AFB}"/>
              </a:ext>
            </a:extLst>
          </p:cNvPr>
          <p:cNvSpPr txBox="1"/>
          <p:nvPr/>
        </p:nvSpPr>
        <p:spPr>
          <a:xfrm>
            <a:off x="348343" y="1910250"/>
            <a:ext cx="1016290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About crude oil</a:t>
            </a:r>
          </a:p>
          <a:p>
            <a:r>
              <a:rPr lang="en-US" sz="1200" dirty="0"/>
              <a:t>- made up of hydrocarbons (by weight carbon, some hydrogen)</a:t>
            </a:r>
          </a:p>
          <a:p>
            <a:r>
              <a:rPr lang="en-US" sz="1200" dirty="0"/>
              <a:t>- Physical properties: can be light, medium, or heavy – API gravity</a:t>
            </a:r>
          </a:p>
          <a:p>
            <a:r>
              <a:rPr lang="en-US" sz="1200" dirty="0"/>
              <a:t>- Chemical properties: can be sour or sweet depending on sulfur content</a:t>
            </a:r>
          </a:p>
          <a:p>
            <a:endParaRPr lang="en-US" sz="1200" dirty="0"/>
          </a:p>
          <a:p>
            <a:r>
              <a:rPr lang="en-US" sz="1200" b="1" dirty="0"/>
              <a:t>Hypothesis</a:t>
            </a:r>
          </a:p>
          <a:p>
            <a:r>
              <a:rPr lang="en-US" sz="1200" dirty="0"/>
              <a:t> - sour is more corrosive than sweet</a:t>
            </a:r>
          </a:p>
          <a:p>
            <a:r>
              <a:rPr lang="en-US" sz="1200" dirty="0"/>
              <a:t>- heavier affects how it flows – more pressure and energy required to pump the oil</a:t>
            </a:r>
          </a:p>
          <a:p>
            <a:r>
              <a:rPr lang="en-US" sz="1200" dirty="0"/>
              <a:t>	but light are more flammable</a:t>
            </a:r>
          </a:p>
          <a:p>
            <a:r>
              <a:rPr lang="en-US" sz="1200" dirty="0"/>
              <a:t>Make sure to use this:</a:t>
            </a:r>
          </a:p>
          <a:p>
            <a:r>
              <a:rPr lang="en-US" sz="1200" dirty="0"/>
              <a:t>	https://</a:t>
            </a:r>
            <a:r>
              <a:rPr lang="en-US" sz="1200" dirty="0" err="1"/>
              <a:t>www.epa.gov</a:t>
            </a:r>
            <a:r>
              <a:rPr lang="en-US" sz="1200" dirty="0"/>
              <a:t>/emergency-response/types-crude-oil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7ED728-390F-3F8A-5857-EA1F707AD76B}"/>
              </a:ext>
            </a:extLst>
          </p:cNvPr>
          <p:cNvCxnSpPr>
            <a:cxnSpLocks/>
          </p:cNvCxnSpPr>
          <p:nvPr/>
        </p:nvCxnSpPr>
        <p:spPr>
          <a:xfrm>
            <a:off x="348343" y="923109"/>
            <a:ext cx="11625311" cy="0"/>
          </a:xfrm>
          <a:prstGeom prst="line">
            <a:avLst/>
          </a:prstGeom>
          <a:ln w="38100">
            <a:solidFill>
              <a:srgbClr val="2134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446A0DB-5D02-B35C-44C5-F05E5426C5DF}"/>
              </a:ext>
            </a:extLst>
          </p:cNvPr>
          <p:cNvSpPr txBox="1"/>
          <p:nvPr/>
        </p:nvSpPr>
        <p:spPr>
          <a:xfrm>
            <a:off x="290763" y="1047347"/>
            <a:ext cx="11682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Investigating properties of crude oil so that a logical approach can be taken to solve the problem. </a:t>
            </a:r>
          </a:p>
        </p:txBody>
      </p:sp>
    </p:spTree>
    <p:extLst>
      <p:ext uri="{BB962C8B-B14F-4D97-AF65-F5344CB8AC3E}">
        <p14:creationId xmlns:p14="http://schemas.microsoft.com/office/powerpoint/2010/main" val="3191056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5E69D8-2133-86C5-C478-359118968E16}"/>
              </a:ext>
            </a:extLst>
          </p:cNvPr>
          <p:cNvSpPr/>
          <p:nvPr/>
        </p:nvSpPr>
        <p:spPr>
          <a:xfrm>
            <a:off x="233183" y="304280"/>
            <a:ext cx="11523387" cy="618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rgbClr val="213442"/>
                </a:solidFill>
              </a:rPr>
              <a:t>Datasets</a:t>
            </a:r>
          </a:p>
        </p:txBody>
      </p:sp>
      <p:pic>
        <p:nvPicPr>
          <p:cNvPr id="6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5AE29AB1-08CB-3040-BAF6-3C2842084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6" y="6313712"/>
            <a:ext cx="2385518" cy="24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7ED728-390F-3F8A-5857-EA1F707AD76B}"/>
              </a:ext>
            </a:extLst>
          </p:cNvPr>
          <p:cNvCxnSpPr>
            <a:cxnSpLocks/>
          </p:cNvCxnSpPr>
          <p:nvPr/>
        </p:nvCxnSpPr>
        <p:spPr>
          <a:xfrm>
            <a:off x="348343" y="923109"/>
            <a:ext cx="11625311" cy="0"/>
          </a:xfrm>
          <a:prstGeom prst="line">
            <a:avLst/>
          </a:prstGeom>
          <a:ln w="38100">
            <a:solidFill>
              <a:srgbClr val="2134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E0EA448-18DA-9F51-CD94-1693B19929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940289"/>
              </p:ext>
            </p:extLst>
          </p:nvPr>
        </p:nvGraphicFramePr>
        <p:xfrm>
          <a:off x="283343" y="2579344"/>
          <a:ext cx="11625313" cy="3627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0759">
                  <a:extLst>
                    <a:ext uri="{9D8B030D-6E8A-4147-A177-3AD203B41FA5}">
                      <a16:colId xmlns:a16="http://schemas.microsoft.com/office/drawing/2014/main" val="2211251634"/>
                    </a:ext>
                  </a:extLst>
                </a:gridCol>
                <a:gridCol w="1660759">
                  <a:extLst>
                    <a:ext uri="{9D8B030D-6E8A-4147-A177-3AD203B41FA5}">
                      <a16:colId xmlns:a16="http://schemas.microsoft.com/office/drawing/2014/main" val="3887264379"/>
                    </a:ext>
                  </a:extLst>
                </a:gridCol>
                <a:gridCol w="1660759">
                  <a:extLst>
                    <a:ext uri="{9D8B030D-6E8A-4147-A177-3AD203B41FA5}">
                      <a16:colId xmlns:a16="http://schemas.microsoft.com/office/drawing/2014/main" val="2310699712"/>
                    </a:ext>
                  </a:extLst>
                </a:gridCol>
                <a:gridCol w="1660759">
                  <a:extLst>
                    <a:ext uri="{9D8B030D-6E8A-4147-A177-3AD203B41FA5}">
                      <a16:colId xmlns:a16="http://schemas.microsoft.com/office/drawing/2014/main" val="16386430"/>
                    </a:ext>
                  </a:extLst>
                </a:gridCol>
                <a:gridCol w="1660759">
                  <a:extLst>
                    <a:ext uri="{9D8B030D-6E8A-4147-A177-3AD203B41FA5}">
                      <a16:colId xmlns:a16="http://schemas.microsoft.com/office/drawing/2014/main" val="4140645014"/>
                    </a:ext>
                  </a:extLst>
                </a:gridCol>
                <a:gridCol w="1660759">
                  <a:extLst>
                    <a:ext uri="{9D8B030D-6E8A-4147-A177-3AD203B41FA5}">
                      <a16:colId xmlns:a16="http://schemas.microsoft.com/office/drawing/2014/main" val="1847296050"/>
                    </a:ext>
                  </a:extLst>
                </a:gridCol>
                <a:gridCol w="1660759">
                  <a:extLst>
                    <a:ext uri="{9D8B030D-6E8A-4147-A177-3AD203B41FA5}">
                      <a16:colId xmlns:a16="http://schemas.microsoft.com/office/drawing/2014/main" val="12753192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Label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Dataset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Governing Body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Date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# Records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6057717"/>
                  </a:ext>
                </a:extLst>
              </a:tr>
              <a:tr h="201070">
                <a:tc>
                  <a:txBody>
                    <a:bodyPr/>
                    <a:lstStyle/>
                    <a:p>
                      <a:r>
                        <a:rPr lang="en-US" sz="10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Pipeline-incidents-comprehensive-</a:t>
                      </a:r>
                      <a:r>
                        <a:rPr lang="en-US" sz="1000" dirty="0" err="1"/>
                        <a:t>data.csv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Pipeline incidents as defined by OPR and Processing Plant regulations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CER/ NEB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2008 to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1167467"/>
                  </a:ext>
                </a:extLst>
              </a:tr>
              <a:tr h="201070">
                <a:tc>
                  <a:txBody>
                    <a:bodyPr/>
                    <a:lstStyle/>
                    <a:p>
                      <a:r>
                        <a:rPr lang="en-US" sz="10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PODSdb_MDOTW_VW_OCCURRENCE_PUBLIC.csv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Incidents at CER-regulated pipelines and facilities as defined by OPR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CER / NEB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2008 to 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3265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701981"/>
                  </a:ext>
                </a:extLst>
              </a:tr>
              <a:tr h="145217">
                <a:tc>
                  <a:txBody>
                    <a:bodyPr/>
                    <a:lstStyle/>
                    <a:p>
                      <a:r>
                        <a:rPr lang="en-US" sz="10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Accident_hazardous_liquid_pre1986.txt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Incidents within Hazardous Liquid and Carbon Dioxide Pipelines from 1968 to 1985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PHMSA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1968 to 1985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4734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1954188"/>
                  </a:ext>
                </a:extLst>
              </a:tr>
              <a:tr h="145217">
                <a:tc>
                  <a:txBody>
                    <a:bodyPr/>
                    <a:lstStyle/>
                    <a:p>
                      <a:r>
                        <a:rPr lang="en-US" sz="10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Accident_hazardous_liquid_1986_jan2002.txt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PHMSA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1986 to 2002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3095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6426142"/>
                  </a:ext>
                </a:extLst>
              </a:tr>
              <a:tr h="145217">
                <a:tc>
                  <a:txBody>
                    <a:bodyPr/>
                    <a:lstStyle/>
                    <a:p>
                      <a:r>
                        <a:rPr lang="en-US" sz="10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Accident_hazardous_liquid_jan2002_dec2009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PHMSA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2002 to 2009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3031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517201"/>
                  </a:ext>
                </a:extLst>
              </a:tr>
              <a:tr h="145217">
                <a:tc>
                  <a:txBody>
                    <a:bodyPr/>
                    <a:lstStyle/>
                    <a:p>
                      <a:r>
                        <a:rPr lang="en-US" sz="10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Accident_hazardous_liquid_jan2010_present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PHMSA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2010 to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5248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2624838"/>
                  </a:ext>
                </a:extLst>
              </a:tr>
              <a:tr h="145217">
                <a:tc>
                  <a:txBody>
                    <a:bodyPr/>
                    <a:lstStyle/>
                    <a:p>
                      <a:r>
                        <a:rPr lang="en-US" sz="1000" dirty="0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Accident_gravity_reporting_regulated_jul2020_present.txt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PHMSA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2021 to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89920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A4CAC90-F79F-0BA2-D247-C3D2F561EB5F}"/>
              </a:ext>
            </a:extLst>
          </p:cNvPr>
          <p:cNvSpPr txBox="1"/>
          <p:nvPr/>
        </p:nvSpPr>
        <p:spPr>
          <a:xfrm>
            <a:off x="290763" y="1047347"/>
            <a:ext cx="11682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Exploring potential datasets to see which will be most beneficial for our exploration and analysis. +data dictionaries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947413-E90C-20F9-0EA3-F1A1296BA622}"/>
              </a:ext>
            </a:extLst>
          </p:cNvPr>
          <p:cNvSpPr txBox="1"/>
          <p:nvPr/>
        </p:nvSpPr>
        <p:spPr>
          <a:xfrm>
            <a:off x="290762" y="1560686"/>
            <a:ext cx="116828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Onshore Pipeline Regulations: OPR</a:t>
            </a:r>
          </a:p>
          <a:p>
            <a:r>
              <a:rPr lang="en-US" sz="1000" dirty="0"/>
              <a:t>Canada Energy Regulator: CER</a:t>
            </a:r>
          </a:p>
          <a:p>
            <a:r>
              <a:rPr lang="en-US" sz="1000" dirty="0"/>
              <a:t>National Energy Board: NEB</a:t>
            </a:r>
          </a:p>
          <a:p>
            <a:r>
              <a:rPr lang="en-US" sz="1000" dirty="0"/>
              <a:t>Pipeline and Hazardous Materials Safety Administration: PHMSA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A47C6D-7433-1D20-BA00-C3D30C0A9390}"/>
              </a:ext>
            </a:extLst>
          </p:cNvPr>
          <p:cNvSpPr txBox="1"/>
          <p:nvPr/>
        </p:nvSpPr>
        <p:spPr>
          <a:xfrm>
            <a:off x="2942521" y="1469571"/>
            <a:ext cx="8178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*Omitting pipeline transportation occurrence data from Jan 1979 as the TSB does not warrant the quality, accuracy, reliability or completeness of its data</a:t>
            </a:r>
          </a:p>
        </p:txBody>
      </p:sp>
    </p:spTree>
    <p:extLst>
      <p:ext uri="{BB962C8B-B14F-4D97-AF65-F5344CB8AC3E}">
        <p14:creationId xmlns:p14="http://schemas.microsoft.com/office/powerpoint/2010/main" val="195134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5E69D8-2133-86C5-C478-359118968E16}"/>
              </a:ext>
            </a:extLst>
          </p:cNvPr>
          <p:cNvSpPr/>
          <p:nvPr/>
        </p:nvSpPr>
        <p:spPr>
          <a:xfrm>
            <a:off x="233183" y="304280"/>
            <a:ext cx="11523387" cy="618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rgbClr val="213442"/>
                </a:solidFill>
              </a:rPr>
              <a:t>Datasets</a:t>
            </a:r>
          </a:p>
        </p:txBody>
      </p:sp>
      <p:pic>
        <p:nvPicPr>
          <p:cNvPr id="6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5AE29AB1-08CB-3040-BAF6-3C2842084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6" y="6313712"/>
            <a:ext cx="2385518" cy="24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7ED728-390F-3F8A-5857-EA1F707AD76B}"/>
              </a:ext>
            </a:extLst>
          </p:cNvPr>
          <p:cNvCxnSpPr>
            <a:cxnSpLocks/>
          </p:cNvCxnSpPr>
          <p:nvPr/>
        </p:nvCxnSpPr>
        <p:spPr>
          <a:xfrm>
            <a:off x="348343" y="923109"/>
            <a:ext cx="11625311" cy="0"/>
          </a:xfrm>
          <a:prstGeom prst="line">
            <a:avLst/>
          </a:prstGeom>
          <a:ln w="38100">
            <a:solidFill>
              <a:srgbClr val="2134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EA89493-B280-E2EC-EADD-BC7216EF5F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9127882"/>
              </p:ext>
            </p:extLst>
          </p:nvPr>
        </p:nvGraphicFramePr>
        <p:xfrm>
          <a:off x="348343" y="1854926"/>
          <a:ext cx="1049383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8766">
                  <a:extLst>
                    <a:ext uri="{9D8B030D-6E8A-4147-A177-3AD203B41FA5}">
                      <a16:colId xmlns:a16="http://schemas.microsoft.com/office/drawing/2014/main" val="1202839457"/>
                    </a:ext>
                  </a:extLst>
                </a:gridCol>
                <a:gridCol w="2098766">
                  <a:extLst>
                    <a:ext uri="{9D8B030D-6E8A-4147-A177-3AD203B41FA5}">
                      <a16:colId xmlns:a16="http://schemas.microsoft.com/office/drawing/2014/main" val="4222257465"/>
                    </a:ext>
                  </a:extLst>
                </a:gridCol>
                <a:gridCol w="2098766">
                  <a:extLst>
                    <a:ext uri="{9D8B030D-6E8A-4147-A177-3AD203B41FA5}">
                      <a16:colId xmlns:a16="http://schemas.microsoft.com/office/drawing/2014/main" val="3530916901"/>
                    </a:ext>
                  </a:extLst>
                </a:gridCol>
                <a:gridCol w="2098766">
                  <a:extLst>
                    <a:ext uri="{9D8B030D-6E8A-4147-A177-3AD203B41FA5}">
                      <a16:colId xmlns:a16="http://schemas.microsoft.com/office/drawing/2014/main" val="3655148647"/>
                    </a:ext>
                  </a:extLst>
                </a:gridCol>
                <a:gridCol w="2098766">
                  <a:extLst>
                    <a:ext uri="{9D8B030D-6E8A-4147-A177-3AD203B41FA5}">
                      <a16:colId xmlns:a16="http://schemas.microsoft.com/office/drawing/2014/main" val="3534968921"/>
                    </a:ext>
                  </a:extLst>
                </a:gridCol>
              </a:tblGrid>
              <a:tr h="122933">
                <a:tc>
                  <a:txBody>
                    <a:bodyPr/>
                    <a:lstStyle/>
                    <a:p>
                      <a:r>
                        <a:rPr lang="en-US" sz="1000" dirty="0"/>
                        <a:t>Label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Crude Oil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Weight-specific info?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Sulfur-specific info?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Accident-specific info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7179623"/>
                  </a:ext>
                </a:extLst>
              </a:tr>
              <a:tr h="139945">
                <a:tc>
                  <a:txBody>
                    <a:bodyPr/>
                    <a:lstStyle/>
                    <a:p>
                      <a:r>
                        <a:rPr lang="en-US" sz="10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Crude Oil – Sour, Crude Oil – Sweet, Crude Oil - 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Sour vs. sweet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What happened: damage, deterioration, construction, etc.; incident type: fire, release of substance, etc.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267587"/>
                  </a:ext>
                </a:extLst>
              </a:tr>
              <a:tr h="156444">
                <a:tc>
                  <a:txBody>
                    <a:bodyPr/>
                    <a:lstStyle/>
                    <a:p>
                      <a:r>
                        <a:rPr lang="en-US" sz="10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Crude Oil, Crude Oil-Sour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Sour vs. not sour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Classification of Occurrence (encoded); occurrence summary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6049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Crude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PRIMARY_CAUSE: corrosion, equipment, defective pipe, etc.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5673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Crude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CAUS: corrosion, failed pipe, malfunction, etc. ; CAUSO: breakdown of CAUS; NARRATIVE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0644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Crude Oil, Crude Oil Heavy, Crude Oil Sour, Crude Oil / Location, and more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Not explicitly; can be roughly extrapolated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Not explicitly; can be roughly extrapolated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Small spills: GEN_CAUSE (equipment, corrosion, etc.)</a:t>
                      </a:r>
                    </a:p>
                    <a:p>
                      <a:r>
                        <a:rPr lang="en-US" sz="1000" dirty="0"/>
                        <a:t>Big spills: CAUSE (more detailed than small spills); NARRATIVE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204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Crude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CAUSE: corrosion, equipment, manual error, etc.</a:t>
                      </a:r>
                    </a:p>
                    <a:p>
                      <a:r>
                        <a:rPr lang="en-US" sz="1000" dirty="0"/>
                        <a:t>CAUSE_DETAILS: more detailed than above; NARRATIVE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58764"/>
                  </a:ext>
                </a:extLst>
              </a:tr>
              <a:tr h="128508">
                <a:tc>
                  <a:txBody>
                    <a:bodyPr/>
                    <a:lstStyle/>
                    <a:p>
                      <a:r>
                        <a:rPr lang="en-US" sz="1000" dirty="0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Crude Oil (Nothing else)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CAUSE: corrosion, equipment, manual error, etc.</a:t>
                      </a:r>
                    </a:p>
                    <a:p>
                      <a:r>
                        <a:rPr lang="en-US" sz="1000" dirty="0"/>
                        <a:t>CAUSE_DETAILS: more detailed than above; NARRATIVE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39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2534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5E69D8-2133-86C5-C478-359118968E16}"/>
              </a:ext>
            </a:extLst>
          </p:cNvPr>
          <p:cNvSpPr/>
          <p:nvPr/>
        </p:nvSpPr>
        <p:spPr>
          <a:xfrm>
            <a:off x="233183" y="304280"/>
            <a:ext cx="11523387" cy="618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rgbClr val="213442"/>
                </a:solidFill>
              </a:rPr>
              <a:t>Analysis - Canada</a:t>
            </a:r>
          </a:p>
        </p:txBody>
      </p:sp>
      <p:pic>
        <p:nvPicPr>
          <p:cNvPr id="6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5AE29AB1-08CB-3040-BAF6-3C2842084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6" y="6313712"/>
            <a:ext cx="2385518" cy="24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A76F35-D9B8-C9A4-D281-3E7D21973AFB}"/>
              </a:ext>
            </a:extLst>
          </p:cNvPr>
          <p:cNvSpPr txBox="1"/>
          <p:nvPr/>
        </p:nvSpPr>
        <p:spPr>
          <a:xfrm>
            <a:off x="348343" y="1910250"/>
            <a:ext cx="1016290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Step 1  - crude oil vs. non-crude oil</a:t>
            </a:r>
          </a:p>
          <a:p>
            <a:r>
              <a:rPr lang="en-US" sz="1200" dirty="0"/>
              <a:t>- explored/performed initial investigation of data</a:t>
            </a:r>
          </a:p>
          <a:p>
            <a:r>
              <a:rPr lang="en-US" sz="1200" dirty="0"/>
              <a:t>	- observation: operating </a:t>
            </a:r>
            <a:r>
              <a:rPr lang="en-US" sz="1200" dirty="0" err="1"/>
              <a:t>kpa</a:t>
            </a:r>
            <a:r>
              <a:rPr lang="en-US" sz="1200" dirty="0"/>
              <a:t> difference</a:t>
            </a:r>
          </a:p>
          <a:p>
            <a:r>
              <a:rPr lang="en-US" sz="1200" dirty="0"/>
              <a:t>- performed logistic regression to see if you could determine crude vs. non-crude based on qualitative columns</a:t>
            </a:r>
          </a:p>
          <a:p>
            <a:r>
              <a:rPr lang="en-US" sz="1200" dirty="0"/>
              <a:t>    - specifically, used "what happened" and "details of what happened" columns</a:t>
            </a:r>
          </a:p>
          <a:p>
            <a:r>
              <a:rPr lang="en-US" sz="1200" dirty="0"/>
              <a:t>    - unable to consistently predict; could be a result of more non-crude than crude or incomplete data</a:t>
            </a:r>
          </a:p>
          <a:p>
            <a:r>
              <a:rPr lang="en-US" sz="1200" dirty="0"/>
              <a:t>	- or simply because it’s hard to predict</a:t>
            </a:r>
          </a:p>
          <a:p>
            <a:r>
              <a:rPr lang="en-US" sz="1200" dirty="0"/>
              <a:t>- tried to rerun model by filtering for “what happened” that could be related to chemistry/substance – fire, frost, deterioration, cracking, … </a:t>
            </a:r>
          </a:p>
          <a:p>
            <a:r>
              <a:rPr lang="en-US" sz="1200" dirty="0"/>
              <a:t>- also tried playing around with dropping cols that are missing &gt;50% (or x threshold) </a:t>
            </a:r>
            <a:r>
              <a:rPr lang="en-US" sz="1200"/>
              <a:t>of values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Process</a:t>
            </a:r>
          </a:p>
          <a:p>
            <a:r>
              <a:rPr lang="en-US" sz="1200" dirty="0"/>
              <a:t>- loaded and cleaned data</a:t>
            </a:r>
          </a:p>
          <a:p>
            <a:r>
              <a:rPr lang="en-US" sz="1200" dirty="0"/>
              <a:t>- filtered for relevant attributes – substance carried (crude vs. non crude), what happened, detailed what happened, and incident types</a:t>
            </a:r>
          </a:p>
          <a:p>
            <a:r>
              <a:rPr lang="en-US" sz="1200" dirty="0"/>
              <a:t>- expanded what happened columns into multiple binary columns (e.g., mapped “corrosion; damage to pipe” to corrosion = 1 and damage to pipe = 1)</a:t>
            </a:r>
          </a:p>
          <a:p>
            <a:r>
              <a:rPr lang="en-US" sz="1200" dirty="0"/>
              <a:t>- made correlation matrix and removed pairs &gt;0.8; dropped 1 of 2 cols in these pairs based on which occurred less</a:t>
            </a:r>
          </a:p>
          <a:p>
            <a:r>
              <a:rPr lang="en-US" sz="1200" dirty="0"/>
              <a:t>- ran regression model using </a:t>
            </a:r>
            <a:r>
              <a:rPr lang="en-US" sz="1200" dirty="0" err="1"/>
              <a:t>sklearn</a:t>
            </a:r>
            <a:endParaRPr lang="en-US" sz="1200" dirty="0"/>
          </a:p>
          <a:p>
            <a:r>
              <a:rPr lang="en-US" sz="1200" dirty="0"/>
              <a:t>- Results: able to predict non-crude well but this is probably because this category has a larger sample</a:t>
            </a:r>
          </a:p>
          <a:p>
            <a:endParaRPr lang="en-US" sz="1200" dirty="0"/>
          </a:p>
          <a:p>
            <a:r>
              <a:rPr lang="en-US" sz="1200" b="1" dirty="0"/>
              <a:t>Step 2 – Crude Only</a:t>
            </a:r>
          </a:p>
          <a:p>
            <a:r>
              <a:rPr lang="en-US" sz="1200" dirty="0"/>
              <a:t> - ….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7ED728-390F-3F8A-5857-EA1F707AD76B}"/>
              </a:ext>
            </a:extLst>
          </p:cNvPr>
          <p:cNvCxnSpPr>
            <a:cxnSpLocks/>
          </p:cNvCxnSpPr>
          <p:nvPr/>
        </p:nvCxnSpPr>
        <p:spPr>
          <a:xfrm>
            <a:off x="348343" y="923109"/>
            <a:ext cx="11625311" cy="0"/>
          </a:xfrm>
          <a:prstGeom prst="line">
            <a:avLst/>
          </a:prstGeom>
          <a:ln w="38100">
            <a:solidFill>
              <a:srgbClr val="2134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446A0DB-5D02-B35C-44C5-F05E5426C5DF}"/>
              </a:ext>
            </a:extLst>
          </p:cNvPr>
          <p:cNvSpPr txBox="1"/>
          <p:nvPr/>
        </p:nvSpPr>
        <p:spPr>
          <a:xfrm>
            <a:off x="290763" y="1047347"/>
            <a:ext cx="11682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Looking at Canada data in 2 steps</a:t>
            </a:r>
          </a:p>
        </p:txBody>
      </p:sp>
    </p:spTree>
    <p:extLst>
      <p:ext uri="{BB962C8B-B14F-4D97-AF65-F5344CB8AC3E}">
        <p14:creationId xmlns:p14="http://schemas.microsoft.com/office/powerpoint/2010/main" val="2724706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FB7EE65E-8925-81A8-2BFC-A52991598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7" y="6313713"/>
            <a:ext cx="2377441" cy="24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F40E04-0FF0-4058-E5B2-051685ADDEDB}"/>
              </a:ext>
            </a:extLst>
          </p:cNvPr>
          <p:cNvSpPr/>
          <p:nvPr/>
        </p:nvSpPr>
        <p:spPr>
          <a:xfrm>
            <a:off x="0" y="7622"/>
            <a:ext cx="12192000" cy="12202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rgbClr val="1D2C33"/>
                </a:solidFill>
              </a:rPr>
              <a:t>Properties of Crude Oil Responsible for Pipeline Accidents</a:t>
            </a:r>
          </a:p>
        </p:txBody>
      </p:sp>
      <p:pic>
        <p:nvPicPr>
          <p:cNvPr id="7" name="Picture 4" descr="Validere expands market fundamentals team with key new hires - Validere">
            <a:extLst>
              <a:ext uri="{FF2B5EF4-FFF2-40B4-BE49-F238E27FC236}">
                <a16:creationId xmlns:a16="http://schemas.microsoft.com/office/drawing/2014/main" id="{8C793E36-BE88-9323-69E1-1A63865EF6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27909"/>
            <a:ext cx="121920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6089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0FDE1F5C-16C5-8498-9DE0-2E46B12DF7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22"/>
            <a:ext cx="12192000" cy="684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FB7EE65E-8925-81A8-2BFC-A52991598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7" y="6313713"/>
            <a:ext cx="2377441" cy="24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F40E04-0FF0-4058-E5B2-051685ADDEDB}"/>
              </a:ext>
            </a:extLst>
          </p:cNvPr>
          <p:cNvSpPr/>
          <p:nvPr/>
        </p:nvSpPr>
        <p:spPr>
          <a:xfrm>
            <a:off x="729573" y="1784737"/>
            <a:ext cx="6698838" cy="12202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rgbClr val="1D2C33"/>
                </a:solidFill>
              </a:rPr>
              <a:t>Properties of Crude Oil Responsible for Pipeline Accidents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363152-BE08-674D-0A2B-51E112F6E136}"/>
              </a:ext>
            </a:extLst>
          </p:cNvPr>
          <p:cNvSpPr/>
          <p:nvPr/>
        </p:nvSpPr>
        <p:spPr>
          <a:xfrm>
            <a:off x="729573" y="3491387"/>
            <a:ext cx="5969541" cy="36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1D2C33"/>
                </a:solidFill>
              </a:rPr>
              <a:t>Date: January 29, 2023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D019AC-5746-90F8-AAB6-A88FF770F305}"/>
              </a:ext>
            </a:extLst>
          </p:cNvPr>
          <p:cNvSpPr/>
          <p:nvPr/>
        </p:nvSpPr>
        <p:spPr>
          <a:xfrm>
            <a:off x="729573" y="3142478"/>
            <a:ext cx="5969541" cy="34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1D2C33"/>
                </a:solidFill>
              </a:rPr>
              <a:t>Created By: Cameron MacKinnon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A039D3-CD15-E1D4-2890-6F8AE3E7E0C4}"/>
              </a:ext>
            </a:extLst>
          </p:cNvPr>
          <p:cNvCxnSpPr/>
          <p:nvPr/>
        </p:nvCxnSpPr>
        <p:spPr>
          <a:xfrm>
            <a:off x="836023" y="3005024"/>
            <a:ext cx="1017161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083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ESG Is Not a Black Box - Validere">
            <a:extLst>
              <a:ext uri="{FF2B5EF4-FFF2-40B4-BE49-F238E27FC236}">
                <a16:creationId xmlns:a16="http://schemas.microsoft.com/office/drawing/2014/main" id="{EA3C2ED1-6235-120F-BB67-8B382C3EA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F40E04-0FF0-4058-E5B2-051685ADDEDB}"/>
              </a:ext>
            </a:extLst>
          </p:cNvPr>
          <p:cNvSpPr/>
          <p:nvPr/>
        </p:nvSpPr>
        <p:spPr>
          <a:xfrm>
            <a:off x="729573" y="1784737"/>
            <a:ext cx="6698838" cy="12202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chemeClr val="bg1"/>
                </a:solidFill>
              </a:rPr>
              <a:t>Properties of Crude Oil Responsible for Pipeline Accidents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363152-BE08-674D-0A2B-51E112F6E136}"/>
              </a:ext>
            </a:extLst>
          </p:cNvPr>
          <p:cNvSpPr/>
          <p:nvPr/>
        </p:nvSpPr>
        <p:spPr>
          <a:xfrm>
            <a:off x="729573" y="3491387"/>
            <a:ext cx="5969541" cy="36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bg1"/>
                </a:solidFill>
              </a:rPr>
              <a:t>Date: January 29, 2023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D019AC-5746-90F8-AAB6-A88FF770F305}"/>
              </a:ext>
            </a:extLst>
          </p:cNvPr>
          <p:cNvSpPr/>
          <p:nvPr/>
        </p:nvSpPr>
        <p:spPr>
          <a:xfrm>
            <a:off x="729573" y="3142478"/>
            <a:ext cx="5969541" cy="3489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bg1"/>
                </a:solidFill>
              </a:rPr>
              <a:t>Created By: Cameron MacKinnon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A039D3-CD15-E1D4-2890-6F8AE3E7E0C4}"/>
              </a:ext>
            </a:extLst>
          </p:cNvPr>
          <p:cNvCxnSpPr/>
          <p:nvPr/>
        </p:nvCxnSpPr>
        <p:spPr>
          <a:xfrm>
            <a:off x="836023" y="3005024"/>
            <a:ext cx="10171611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FB7EE65E-8925-81A8-2BFC-A52991598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137" y="6313713"/>
            <a:ext cx="2377441" cy="24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639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68AD3-1A3E-3983-DB7C-39908780DA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967C20-4815-8F96-756F-5E7B1F0C76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6" name="Picture 4" descr="Validere expands market fundamentals team with key new hires - Validere">
            <a:extLst>
              <a:ext uri="{FF2B5EF4-FFF2-40B4-BE49-F238E27FC236}">
                <a16:creationId xmlns:a16="http://schemas.microsoft.com/office/drawing/2014/main" id="{06A31D39-E681-EF0C-26B9-87D55E335D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20788"/>
            <a:ext cx="121920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0146D473-672E-CB38-5452-62B26CE7C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629" y="6169404"/>
            <a:ext cx="4406537" cy="539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2944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2ABF-1F14-9577-C4AB-228146EE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D4244-2B4C-8733-FC75-6C7DD616B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ESG Is Not a Black Box - Validere">
            <a:extLst>
              <a:ext uri="{FF2B5EF4-FFF2-40B4-BE49-F238E27FC236}">
                <a16:creationId xmlns:a16="http://schemas.microsoft.com/office/drawing/2014/main" id="{83618BB5-8201-104C-3A20-0DB715B8D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47750"/>
            <a:ext cx="121920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9015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56B82-0F79-D426-A7C1-F67CF9A8E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B585E-E41D-CC5E-BB42-CE86A6EC71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 descr="Validere Acquires Regulatory Reporting Platform Clairifi - Validere">
            <a:extLst>
              <a:ext uri="{FF2B5EF4-FFF2-40B4-BE49-F238E27FC236}">
                <a16:creationId xmlns:a16="http://schemas.microsoft.com/office/drawing/2014/main" id="{7386BC02-A5BE-3C85-36B7-4EFF3FA207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47750"/>
            <a:ext cx="121920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844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C09BF-E58A-F9AB-F9BC-DD9F48FF5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A3B42-232A-301C-A8F2-15984BF06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246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1156</Words>
  <Application>Microsoft Macintosh PowerPoint</Application>
  <PresentationFormat>Widescreen</PresentationFormat>
  <Paragraphs>184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Kiera Mcwatt</dc:creator>
  <cp:lastModifiedBy>Kiera Mcwatt</cp:lastModifiedBy>
  <cp:revision>5</cp:revision>
  <dcterms:created xsi:type="dcterms:W3CDTF">2024-01-23T17:24:49Z</dcterms:created>
  <dcterms:modified xsi:type="dcterms:W3CDTF">2024-01-25T22:16:23Z</dcterms:modified>
</cp:coreProperties>
</file>