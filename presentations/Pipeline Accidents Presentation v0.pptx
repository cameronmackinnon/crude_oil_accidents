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0" r:id="rId2"/>
    <p:sldId id="256" r:id="rId3"/>
    <p:sldId id="265" r:id="rId4"/>
    <p:sldId id="264" r:id="rId5"/>
    <p:sldId id="266" r:id="rId6"/>
    <p:sldId id="278" r:id="rId7"/>
    <p:sldId id="276" r:id="rId8"/>
    <p:sldId id="275" r:id="rId9"/>
    <p:sldId id="267" r:id="rId10"/>
    <p:sldId id="269" r:id="rId11"/>
    <p:sldId id="270" r:id="rId12"/>
    <p:sldId id="271" r:id="rId13"/>
    <p:sldId id="272" r:id="rId14"/>
    <p:sldId id="273" r:id="rId15"/>
    <p:sldId id="274" r:id="rId16"/>
    <p:sldId id="277" r:id="rId17"/>
    <p:sldId id="262" r:id="rId18"/>
    <p:sldId id="263" r:id="rId19"/>
    <p:sldId id="257" r:id="rId20"/>
    <p:sldId id="258" r:id="rId21"/>
    <p:sldId id="259" r:id="rId22"/>
    <p:sldId id="261"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D2C33"/>
    <a:srgbClr val="6EAED0"/>
    <a:srgbClr val="6EAEC9"/>
    <a:srgbClr val="213442"/>
    <a:srgbClr val="D6DBDD"/>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1546"/>
    <p:restoredTop sz="94609"/>
  </p:normalViewPr>
  <p:slideViewPr>
    <p:cSldViewPr snapToGrid="0">
      <p:cViewPr varScale="1">
        <p:scale>
          <a:sx n="147" d="100"/>
          <a:sy n="147" d="100"/>
        </p:scale>
        <p:origin x="1080" y="1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6C4D0A-E1ED-5C57-0D99-B029F91DC5E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16C0ADC-07C5-0123-1C9B-27AEC2EC11A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0A630FE-1D7B-7BB8-B07D-7B1179486125}"/>
              </a:ext>
            </a:extLst>
          </p:cNvPr>
          <p:cNvSpPr>
            <a:spLocks noGrp="1"/>
          </p:cNvSpPr>
          <p:nvPr>
            <p:ph type="dt" sz="half" idx="10"/>
          </p:nvPr>
        </p:nvSpPr>
        <p:spPr/>
        <p:txBody>
          <a:bodyPr/>
          <a:lstStyle/>
          <a:p>
            <a:fld id="{F2B6BF67-2978-CE4D-8D5C-6E816D1CE5DA}" type="datetimeFigureOut">
              <a:rPr lang="en-US" smtClean="0"/>
              <a:t>1/25/24</a:t>
            </a:fld>
            <a:endParaRPr lang="en-US"/>
          </a:p>
        </p:txBody>
      </p:sp>
      <p:sp>
        <p:nvSpPr>
          <p:cNvPr id="5" name="Footer Placeholder 4">
            <a:extLst>
              <a:ext uri="{FF2B5EF4-FFF2-40B4-BE49-F238E27FC236}">
                <a16:creationId xmlns:a16="http://schemas.microsoft.com/office/drawing/2014/main" id="{4552BF43-605E-560E-FA8D-DAB08F3F63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B871D0-8173-D3B6-6E66-9BB502CC18B1}"/>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3201728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CE6529-5BE5-0AD8-CBC7-2ED6A8D099F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6D7B846-0CB8-C82A-05C5-7F9FC1D43817}"/>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5BDF5E7-DAEB-33D0-4684-D9719C6DEC7C}"/>
              </a:ext>
            </a:extLst>
          </p:cNvPr>
          <p:cNvSpPr>
            <a:spLocks noGrp="1"/>
          </p:cNvSpPr>
          <p:nvPr>
            <p:ph type="dt" sz="half" idx="10"/>
          </p:nvPr>
        </p:nvSpPr>
        <p:spPr/>
        <p:txBody>
          <a:bodyPr/>
          <a:lstStyle/>
          <a:p>
            <a:fld id="{F2B6BF67-2978-CE4D-8D5C-6E816D1CE5DA}" type="datetimeFigureOut">
              <a:rPr lang="en-US" smtClean="0"/>
              <a:t>1/25/24</a:t>
            </a:fld>
            <a:endParaRPr lang="en-US"/>
          </a:p>
        </p:txBody>
      </p:sp>
      <p:sp>
        <p:nvSpPr>
          <p:cNvPr id="5" name="Footer Placeholder 4">
            <a:extLst>
              <a:ext uri="{FF2B5EF4-FFF2-40B4-BE49-F238E27FC236}">
                <a16:creationId xmlns:a16="http://schemas.microsoft.com/office/drawing/2014/main" id="{ADDCB93A-7F23-4CEE-C8D4-79803719164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133780-3C2D-EEC4-59D0-90918FEF9383}"/>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1681751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21EC98-330C-CE06-0378-5C02F8B43E0E}"/>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6B7DCBC-D9D3-9263-8DB2-3623EEA554C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856E002-8F61-561F-86DB-40AB9AB570DB}"/>
              </a:ext>
            </a:extLst>
          </p:cNvPr>
          <p:cNvSpPr>
            <a:spLocks noGrp="1"/>
          </p:cNvSpPr>
          <p:nvPr>
            <p:ph type="dt" sz="half" idx="10"/>
          </p:nvPr>
        </p:nvSpPr>
        <p:spPr/>
        <p:txBody>
          <a:bodyPr/>
          <a:lstStyle/>
          <a:p>
            <a:fld id="{F2B6BF67-2978-CE4D-8D5C-6E816D1CE5DA}" type="datetimeFigureOut">
              <a:rPr lang="en-US" smtClean="0"/>
              <a:t>1/25/24</a:t>
            </a:fld>
            <a:endParaRPr lang="en-US"/>
          </a:p>
        </p:txBody>
      </p:sp>
      <p:sp>
        <p:nvSpPr>
          <p:cNvPr id="5" name="Footer Placeholder 4">
            <a:extLst>
              <a:ext uri="{FF2B5EF4-FFF2-40B4-BE49-F238E27FC236}">
                <a16:creationId xmlns:a16="http://schemas.microsoft.com/office/drawing/2014/main" id="{1DE34117-CEC8-40CA-0A61-8BBC67A79DB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DEF6604-EACD-042C-4A34-1527D979109B}"/>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30624501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B06DAB-6F3C-D3B6-F9C5-993AA5190E2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590C6E-9CEA-B52A-E10C-D8D9B8FB6EA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3D157F-A9B5-9703-AC0C-FB6D8E4602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B9B00BB-4211-C4B9-C9F7-80BB246F6353}"/>
              </a:ext>
            </a:extLst>
          </p:cNvPr>
          <p:cNvSpPr>
            <a:spLocks noGrp="1"/>
          </p:cNvSpPr>
          <p:nvPr>
            <p:ph type="dt" sz="half" idx="10"/>
          </p:nvPr>
        </p:nvSpPr>
        <p:spPr/>
        <p:txBody>
          <a:bodyPr/>
          <a:lstStyle/>
          <a:p>
            <a:fld id="{F2B6BF67-2978-CE4D-8D5C-6E816D1CE5DA}" type="datetimeFigureOut">
              <a:rPr lang="en-US" smtClean="0"/>
              <a:t>1/25/24</a:t>
            </a:fld>
            <a:endParaRPr lang="en-US"/>
          </a:p>
        </p:txBody>
      </p:sp>
      <p:sp>
        <p:nvSpPr>
          <p:cNvPr id="6" name="Footer Placeholder 5">
            <a:extLst>
              <a:ext uri="{FF2B5EF4-FFF2-40B4-BE49-F238E27FC236}">
                <a16:creationId xmlns:a16="http://schemas.microsoft.com/office/drawing/2014/main" id="{470EB9D0-4D83-7ABA-F369-7C7189AADD8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0AF73CD-26B1-E97D-773B-6C7243EF6255}"/>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2479154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18774-24C1-6B70-E733-A582313BA92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1B8002E-7618-100E-EA3B-6CBF5CFCD94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D591FFC-B8EC-FA38-4CF7-F2F1130C091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4FF3533-EE77-981D-2105-259256E7C4D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5A876E7-62C5-18D1-BEED-B851930BC9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881756A-D127-74BD-A17A-B90B5EACA62C}"/>
              </a:ext>
            </a:extLst>
          </p:cNvPr>
          <p:cNvSpPr>
            <a:spLocks noGrp="1"/>
          </p:cNvSpPr>
          <p:nvPr>
            <p:ph type="dt" sz="half" idx="10"/>
          </p:nvPr>
        </p:nvSpPr>
        <p:spPr/>
        <p:txBody>
          <a:bodyPr/>
          <a:lstStyle/>
          <a:p>
            <a:fld id="{F2B6BF67-2978-CE4D-8D5C-6E816D1CE5DA}" type="datetimeFigureOut">
              <a:rPr lang="en-US" smtClean="0"/>
              <a:t>1/25/24</a:t>
            </a:fld>
            <a:endParaRPr lang="en-US"/>
          </a:p>
        </p:txBody>
      </p:sp>
      <p:sp>
        <p:nvSpPr>
          <p:cNvPr id="8" name="Footer Placeholder 7">
            <a:extLst>
              <a:ext uri="{FF2B5EF4-FFF2-40B4-BE49-F238E27FC236}">
                <a16:creationId xmlns:a16="http://schemas.microsoft.com/office/drawing/2014/main" id="{1055A8B8-86AF-1434-1CFE-7EF2D53B848A}"/>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1EFC9DB-C534-742D-6CD3-8420E29DD316}"/>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1740128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742785-F6CF-8AAF-64C1-5004BC1B0A6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787C524-2E0E-CF5D-FD4B-D1AC319488CB}"/>
              </a:ext>
            </a:extLst>
          </p:cNvPr>
          <p:cNvSpPr>
            <a:spLocks noGrp="1"/>
          </p:cNvSpPr>
          <p:nvPr>
            <p:ph type="dt" sz="half" idx="10"/>
          </p:nvPr>
        </p:nvSpPr>
        <p:spPr/>
        <p:txBody>
          <a:bodyPr/>
          <a:lstStyle/>
          <a:p>
            <a:fld id="{F2B6BF67-2978-CE4D-8D5C-6E816D1CE5DA}" type="datetimeFigureOut">
              <a:rPr lang="en-US" smtClean="0"/>
              <a:t>1/25/24</a:t>
            </a:fld>
            <a:endParaRPr lang="en-US"/>
          </a:p>
        </p:txBody>
      </p:sp>
      <p:sp>
        <p:nvSpPr>
          <p:cNvPr id="4" name="Footer Placeholder 3">
            <a:extLst>
              <a:ext uri="{FF2B5EF4-FFF2-40B4-BE49-F238E27FC236}">
                <a16:creationId xmlns:a16="http://schemas.microsoft.com/office/drawing/2014/main" id="{2DEE261A-4E0F-06A8-1E4C-A798E42FB6C1}"/>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601D0BF-7E8D-D99E-BEF6-91D6645B8845}"/>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794967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A2D605-B790-F0D4-8378-2CEDFF2A74FE}"/>
              </a:ext>
            </a:extLst>
          </p:cNvPr>
          <p:cNvSpPr>
            <a:spLocks noGrp="1"/>
          </p:cNvSpPr>
          <p:nvPr>
            <p:ph type="dt" sz="half" idx="10"/>
          </p:nvPr>
        </p:nvSpPr>
        <p:spPr/>
        <p:txBody>
          <a:bodyPr/>
          <a:lstStyle/>
          <a:p>
            <a:fld id="{F2B6BF67-2978-CE4D-8D5C-6E816D1CE5DA}" type="datetimeFigureOut">
              <a:rPr lang="en-US" smtClean="0"/>
              <a:t>1/25/24</a:t>
            </a:fld>
            <a:endParaRPr lang="en-US"/>
          </a:p>
        </p:txBody>
      </p:sp>
      <p:sp>
        <p:nvSpPr>
          <p:cNvPr id="3" name="Footer Placeholder 2">
            <a:extLst>
              <a:ext uri="{FF2B5EF4-FFF2-40B4-BE49-F238E27FC236}">
                <a16:creationId xmlns:a16="http://schemas.microsoft.com/office/drawing/2014/main" id="{53238132-0A4F-03DF-58B1-94BF9128DF3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D6177E9-763D-2D5D-9D8C-97B20F8E4A7F}"/>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41095756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EF000-DE8A-CE9E-41F4-F694C6CBC15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8E82CB7-DF53-D0A9-F02E-92927C209C2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8594C14-7299-956F-C961-BED0731CD3A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B009C1-E38C-C2A1-7912-337666758055}"/>
              </a:ext>
            </a:extLst>
          </p:cNvPr>
          <p:cNvSpPr>
            <a:spLocks noGrp="1"/>
          </p:cNvSpPr>
          <p:nvPr>
            <p:ph type="dt" sz="half" idx="10"/>
          </p:nvPr>
        </p:nvSpPr>
        <p:spPr/>
        <p:txBody>
          <a:bodyPr/>
          <a:lstStyle/>
          <a:p>
            <a:fld id="{F2B6BF67-2978-CE4D-8D5C-6E816D1CE5DA}" type="datetimeFigureOut">
              <a:rPr lang="en-US" smtClean="0"/>
              <a:t>1/25/24</a:t>
            </a:fld>
            <a:endParaRPr lang="en-US"/>
          </a:p>
        </p:txBody>
      </p:sp>
      <p:sp>
        <p:nvSpPr>
          <p:cNvPr id="6" name="Footer Placeholder 5">
            <a:extLst>
              <a:ext uri="{FF2B5EF4-FFF2-40B4-BE49-F238E27FC236}">
                <a16:creationId xmlns:a16="http://schemas.microsoft.com/office/drawing/2014/main" id="{E817D2FF-00E2-5DCA-C61F-695D851285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02D0CA8-769C-1161-F822-37861152E99E}"/>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32682424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542AE2-56A6-1953-1EC6-1C380A044A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7107935E-DE29-E13C-2EFF-A731AE506F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C0573276-6F92-B28B-DFF6-B85B15CA0B8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3E0E02C-8F0E-0766-10B8-3D13F31EBC6D}"/>
              </a:ext>
            </a:extLst>
          </p:cNvPr>
          <p:cNvSpPr>
            <a:spLocks noGrp="1"/>
          </p:cNvSpPr>
          <p:nvPr>
            <p:ph type="dt" sz="half" idx="10"/>
          </p:nvPr>
        </p:nvSpPr>
        <p:spPr/>
        <p:txBody>
          <a:bodyPr/>
          <a:lstStyle/>
          <a:p>
            <a:fld id="{F2B6BF67-2978-CE4D-8D5C-6E816D1CE5DA}" type="datetimeFigureOut">
              <a:rPr lang="en-US" smtClean="0"/>
              <a:t>1/25/24</a:t>
            </a:fld>
            <a:endParaRPr lang="en-US"/>
          </a:p>
        </p:txBody>
      </p:sp>
      <p:sp>
        <p:nvSpPr>
          <p:cNvPr id="6" name="Footer Placeholder 5">
            <a:extLst>
              <a:ext uri="{FF2B5EF4-FFF2-40B4-BE49-F238E27FC236}">
                <a16:creationId xmlns:a16="http://schemas.microsoft.com/office/drawing/2014/main" id="{39382496-98D3-8388-AD22-0F4E4D699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8F996A0-FC2B-88E3-5E35-2293932622B5}"/>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15845964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66E25-C21D-D50B-12F1-31691B11343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038063E-5F85-1778-60EC-43CE2883133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4A609A-6CF0-65DD-7EB1-6AACF166AC98}"/>
              </a:ext>
            </a:extLst>
          </p:cNvPr>
          <p:cNvSpPr>
            <a:spLocks noGrp="1"/>
          </p:cNvSpPr>
          <p:nvPr>
            <p:ph type="dt" sz="half" idx="10"/>
          </p:nvPr>
        </p:nvSpPr>
        <p:spPr/>
        <p:txBody>
          <a:bodyPr/>
          <a:lstStyle/>
          <a:p>
            <a:fld id="{F2B6BF67-2978-CE4D-8D5C-6E816D1CE5DA}" type="datetimeFigureOut">
              <a:rPr lang="en-US" smtClean="0"/>
              <a:t>1/25/24</a:t>
            </a:fld>
            <a:endParaRPr lang="en-US"/>
          </a:p>
        </p:txBody>
      </p:sp>
      <p:sp>
        <p:nvSpPr>
          <p:cNvPr id="5" name="Footer Placeholder 4">
            <a:extLst>
              <a:ext uri="{FF2B5EF4-FFF2-40B4-BE49-F238E27FC236}">
                <a16:creationId xmlns:a16="http://schemas.microsoft.com/office/drawing/2014/main" id="{0C48029D-4661-8072-483E-2EDA5A220B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D99EDA1-A260-41E2-9E3A-54A9E1629DAA}"/>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208166340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5117EE9-2527-9EAC-DEDA-46B849C1D0AE}"/>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4AE14748-244C-0064-4007-8F59163AEA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082F76A-A9E6-D00E-72F6-74D78A1A8B43}"/>
              </a:ext>
            </a:extLst>
          </p:cNvPr>
          <p:cNvSpPr>
            <a:spLocks noGrp="1"/>
          </p:cNvSpPr>
          <p:nvPr>
            <p:ph type="dt" sz="half" idx="10"/>
          </p:nvPr>
        </p:nvSpPr>
        <p:spPr/>
        <p:txBody>
          <a:bodyPr/>
          <a:lstStyle/>
          <a:p>
            <a:fld id="{F2B6BF67-2978-CE4D-8D5C-6E816D1CE5DA}" type="datetimeFigureOut">
              <a:rPr lang="en-US" smtClean="0"/>
              <a:t>1/25/24</a:t>
            </a:fld>
            <a:endParaRPr lang="en-US"/>
          </a:p>
        </p:txBody>
      </p:sp>
      <p:sp>
        <p:nvSpPr>
          <p:cNvPr id="5" name="Footer Placeholder 4">
            <a:extLst>
              <a:ext uri="{FF2B5EF4-FFF2-40B4-BE49-F238E27FC236}">
                <a16:creationId xmlns:a16="http://schemas.microsoft.com/office/drawing/2014/main" id="{288FDC10-B7C5-1653-745E-520E9322483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1A00E2E-4D15-2875-D036-3FB9C012BBAC}"/>
              </a:ext>
            </a:extLst>
          </p:cNvPr>
          <p:cNvSpPr>
            <a:spLocks noGrp="1"/>
          </p:cNvSpPr>
          <p:nvPr>
            <p:ph type="sldNum" sz="quarter" idx="12"/>
          </p:nvPr>
        </p:nvSpPr>
        <p:spPr/>
        <p:txBody>
          <a:bodyPr/>
          <a:lstStyle/>
          <a:p>
            <a:fld id="{A7330F7D-D613-E24A-9838-C4B5C3515E0D}" type="slidenum">
              <a:rPr lang="en-US" smtClean="0"/>
              <a:t>‹#›</a:t>
            </a:fld>
            <a:endParaRPr lang="en-US"/>
          </a:p>
        </p:txBody>
      </p:sp>
    </p:spTree>
    <p:extLst>
      <p:ext uri="{BB962C8B-B14F-4D97-AF65-F5344CB8AC3E}">
        <p14:creationId xmlns:p14="http://schemas.microsoft.com/office/powerpoint/2010/main" val="1402243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00EE122-A685-2B1F-28CC-3E492A86559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2FF6834F-F1AC-C207-8881-5AA24912A88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0FF414-9283-03A5-C327-17E5CB0EFDF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2B6BF67-2978-CE4D-8D5C-6E816D1CE5DA}" type="datetimeFigureOut">
              <a:rPr lang="en-US" smtClean="0"/>
              <a:t>1/25/24</a:t>
            </a:fld>
            <a:endParaRPr lang="en-US"/>
          </a:p>
        </p:txBody>
      </p:sp>
      <p:sp>
        <p:nvSpPr>
          <p:cNvPr id="5" name="Footer Placeholder 4">
            <a:extLst>
              <a:ext uri="{FF2B5EF4-FFF2-40B4-BE49-F238E27FC236}">
                <a16:creationId xmlns:a16="http://schemas.microsoft.com/office/drawing/2014/main" id="{0258DD94-17DC-117C-0836-3192D08ACE2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4F6908EB-6321-127E-2E17-10E2F54E609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7330F7D-D613-E24A-9838-C4B5C3515E0D}" type="slidenum">
              <a:rPr lang="en-US" smtClean="0"/>
              <a:t>‹#›</a:t>
            </a:fld>
            <a:endParaRPr lang="en-US"/>
          </a:p>
        </p:txBody>
      </p:sp>
    </p:spTree>
    <p:extLst>
      <p:ext uri="{BB962C8B-B14F-4D97-AF65-F5344CB8AC3E}">
        <p14:creationId xmlns:p14="http://schemas.microsoft.com/office/powerpoint/2010/main" val="145035189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hyperlink" Target="https://www.epa.gov/emergency-response/types-crude-oil" TargetMode="External"/><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hyperlink" Target="https://www.eia.gov/dnav/pet/TblDefs/pet_pnp_crq_tbldef2.asp" TargetMode="External"/><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4.jpeg"/><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141E8-7A77-B683-CBCA-B721AC37DBC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42D54F5-96FD-BFB9-21CC-0BD88CE6E898}"/>
              </a:ext>
            </a:extLst>
          </p:cNvPr>
          <p:cNvSpPr>
            <a:spLocks noGrp="1"/>
          </p:cNvSpPr>
          <p:nvPr>
            <p:ph idx="1"/>
          </p:nvPr>
        </p:nvSpPr>
        <p:spPr/>
        <p:txBody>
          <a:bodyPr/>
          <a:lstStyle/>
          <a:p>
            <a:endParaRPr lang="en-US"/>
          </a:p>
        </p:txBody>
      </p:sp>
      <p:pic>
        <p:nvPicPr>
          <p:cNvPr id="6146" name="Picture 2" descr="Why Is Validere a Great Place to Work? - Validere">
            <a:extLst>
              <a:ext uri="{FF2B5EF4-FFF2-40B4-BE49-F238E27FC236}">
                <a16:creationId xmlns:a16="http://schemas.microsoft.com/office/drawing/2014/main" id="{D4130606-64FB-7738-40AD-DD2BE50BA0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0556"/>
          <a:stretch/>
        </p:blipFill>
        <p:spPr bwMode="auto">
          <a:xfrm flipH="1" flipV="1">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4" name="Rectangle 3">
            <a:extLst>
              <a:ext uri="{FF2B5EF4-FFF2-40B4-BE49-F238E27FC236}">
                <a16:creationId xmlns:a16="http://schemas.microsoft.com/office/drawing/2014/main" id="{3DB5877E-665B-64F8-9EF0-1F08DC10C61F}"/>
              </a:ext>
            </a:extLst>
          </p:cNvPr>
          <p:cNvSpPr/>
          <p:nvPr/>
        </p:nvSpPr>
        <p:spPr>
          <a:xfrm>
            <a:off x="729573" y="1784737"/>
            <a:ext cx="6698838" cy="12202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chemeClr val="bg1"/>
                </a:solidFill>
              </a:rPr>
              <a:t>Properties of Crude Oil Responsible for Pipeline Accidents</a:t>
            </a:r>
          </a:p>
        </p:txBody>
      </p:sp>
      <p:sp>
        <p:nvSpPr>
          <p:cNvPr id="5" name="Rectangle 4">
            <a:extLst>
              <a:ext uri="{FF2B5EF4-FFF2-40B4-BE49-F238E27FC236}">
                <a16:creationId xmlns:a16="http://schemas.microsoft.com/office/drawing/2014/main" id="{88A1459F-5616-25FF-A46F-2D925E859077}"/>
              </a:ext>
            </a:extLst>
          </p:cNvPr>
          <p:cNvSpPr/>
          <p:nvPr/>
        </p:nvSpPr>
        <p:spPr>
          <a:xfrm>
            <a:off x="729573" y="3491387"/>
            <a:ext cx="5969541" cy="36159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bg1"/>
                </a:solidFill>
              </a:rPr>
              <a:t>Date: January 29, 2023</a:t>
            </a:r>
          </a:p>
        </p:txBody>
      </p:sp>
      <p:sp>
        <p:nvSpPr>
          <p:cNvPr id="6" name="Rectangle 5">
            <a:extLst>
              <a:ext uri="{FF2B5EF4-FFF2-40B4-BE49-F238E27FC236}">
                <a16:creationId xmlns:a16="http://schemas.microsoft.com/office/drawing/2014/main" id="{479A94D8-104F-A669-9211-52C5BED1D9DE}"/>
              </a:ext>
            </a:extLst>
          </p:cNvPr>
          <p:cNvSpPr/>
          <p:nvPr/>
        </p:nvSpPr>
        <p:spPr>
          <a:xfrm>
            <a:off x="729573" y="3142478"/>
            <a:ext cx="5969541" cy="3489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chemeClr val="bg1"/>
                </a:solidFill>
              </a:rPr>
              <a:t>Created By: Cameron MacKinnon</a:t>
            </a:r>
          </a:p>
        </p:txBody>
      </p:sp>
      <p:cxnSp>
        <p:nvCxnSpPr>
          <p:cNvPr id="7" name="Straight Connector 6">
            <a:extLst>
              <a:ext uri="{FF2B5EF4-FFF2-40B4-BE49-F238E27FC236}">
                <a16:creationId xmlns:a16="http://schemas.microsoft.com/office/drawing/2014/main" id="{FE3C0BFB-6277-8E26-2255-59D04F6A73B4}"/>
              </a:ext>
            </a:extLst>
          </p:cNvPr>
          <p:cNvCxnSpPr>
            <a:cxnSpLocks/>
          </p:cNvCxnSpPr>
          <p:nvPr/>
        </p:nvCxnSpPr>
        <p:spPr>
          <a:xfrm>
            <a:off x="836023" y="3005024"/>
            <a:ext cx="6731726" cy="0"/>
          </a:xfrm>
          <a:prstGeom prst="line">
            <a:avLst/>
          </a:prstGeom>
          <a:ln w="38100">
            <a:solidFill>
              <a:srgbClr val="D6DBDD"/>
            </a:solidFill>
          </a:ln>
        </p:spPr>
        <p:style>
          <a:lnRef idx="1">
            <a:schemeClr val="accent1"/>
          </a:lnRef>
          <a:fillRef idx="0">
            <a:schemeClr val="accent1"/>
          </a:fillRef>
          <a:effectRef idx="0">
            <a:schemeClr val="accent1"/>
          </a:effectRef>
          <a:fontRef idx="minor">
            <a:schemeClr val="tx1"/>
          </a:fontRef>
        </p:style>
      </p:cxnSp>
      <p:pic>
        <p:nvPicPr>
          <p:cNvPr id="8" name="Picture 2" descr="Validere Acquires Regulatory Reporting Platform Clairifi - Validere">
            <a:extLst>
              <a:ext uri="{FF2B5EF4-FFF2-40B4-BE49-F238E27FC236}">
                <a16:creationId xmlns:a16="http://schemas.microsoft.com/office/drawing/2014/main" id="{3BF0D8B9-1BB4-7CC2-EDF9-838BE3BCC4B7}"/>
              </a:ext>
            </a:extLst>
          </p:cNvPr>
          <p:cNvPicPr>
            <a:picLocks noChangeAspect="1" noChangeArrowheads="1"/>
          </p:cNvPicPr>
          <p:nvPr/>
        </p:nvPicPr>
        <p:blipFill>
          <a:blip r:embed="rId3">
            <a:lum bright="70000" contrast="-70000"/>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442245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Table of Contents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DA76F35-D9B8-C9A4-D281-3E7D21973AFB}"/>
              </a:ext>
            </a:extLst>
          </p:cNvPr>
          <p:cNvSpPr txBox="1"/>
          <p:nvPr/>
        </p:nvSpPr>
        <p:spPr>
          <a:xfrm>
            <a:off x="348343" y="1489166"/>
            <a:ext cx="10162903" cy="3970318"/>
          </a:xfrm>
          <a:prstGeom prst="rect">
            <a:avLst/>
          </a:prstGeom>
          <a:noFill/>
        </p:spPr>
        <p:txBody>
          <a:bodyPr wrap="square" rtlCol="0">
            <a:spAutoFit/>
          </a:bodyPr>
          <a:lstStyle/>
          <a:p>
            <a:pPr marL="342900" indent="-342900">
              <a:buFont typeface="Arial" panose="020B0604020202020204" pitchFamily="34" charset="0"/>
              <a:buChar char="•"/>
            </a:pPr>
            <a:r>
              <a:rPr lang="en-US" dirty="0"/>
              <a:t>Problem Statement</a:t>
            </a:r>
          </a:p>
          <a:p>
            <a:pPr marL="342900" indent="-342900">
              <a:buFont typeface="Arial" panose="020B0604020202020204" pitchFamily="34" charset="0"/>
              <a:buChar char="•"/>
            </a:pPr>
            <a:r>
              <a:rPr lang="en-US" dirty="0"/>
              <a:t>Scope</a:t>
            </a:r>
          </a:p>
          <a:p>
            <a:pPr marL="800100" lvl="1" indent="-342900">
              <a:buFont typeface="Arial" panose="020B0604020202020204" pitchFamily="34" charset="0"/>
              <a:buChar char="•"/>
            </a:pPr>
            <a:r>
              <a:rPr lang="en-US" dirty="0"/>
              <a:t>Pipeline Accidents</a:t>
            </a:r>
          </a:p>
          <a:p>
            <a:pPr marL="800100" lvl="1" indent="-342900">
              <a:buFont typeface="Arial" panose="020B0604020202020204" pitchFamily="34" charset="0"/>
              <a:buChar char="•"/>
            </a:pPr>
            <a:r>
              <a:rPr lang="en-US" dirty="0"/>
              <a:t>Pipeline Materials</a:t>
            </a:r>
          </a:p>
          <a:p>
            <a:pPr marL="342900" indent="-342900">
              <a:buFont typeface="Arial" panose="020B0604020202020204" pitchFamily="34" charset="0"/>
              <a:buChar char="•"/>
            </a:pPr>
            <a:r>
              <a:rPr lang="en-US" dirty="0"/>
              <a:t>Approach</a:t>
            </a:r>
          </a:p>
          <a:p>
            <a:pPr marL="800100" lvl="1" indent="-342900">
              <a:buFont typeface="Arial" panose="020B0604020202020204" pitchFamily="34" charset="0"/>
              <a:buChar char="•"/>
            </a:pPr>
            <a:r>
              <a:rPr lang="en-US" dirty="0"/>
              <a:t>Physical and Chemical Properties of Crude Oil</a:t>
            </a:r>
          </a:p>
          <a:p>
            <a:pPr marL="800100" lvl="1" indent="-342900">
              <a:buFont typeface="Arial" panose="020B0604020202020204" pitchFamily="34" charset="0"/>
              <a:buChar char="•"/>
            </a:pPr>
            <a:r>
              <a:rPr lang="en-US" dirty="0"/>
              <a:t>Hypothesis</a:t>
            </a:r>
          </a:p>
          <a:p>
            <a:pPr marL="342900" indent="-342900">
              <a:buFont typeface="Arial" panose="020B0604020202020204" pitchFamily="34" charset="0"/>
              <a:buChar char="•"/>
            </a:pPr>
            <a:r>
              <a:rPr lang="en-US" dirty="0"/>
              <a:t>Datasets</a:t>
            </a:r>
          </a:p>
          <a:p>
            <a:pPr marL="342900" indent="-342900">
              <a:buFont typeface="Arial" panose="020B0604020202020204" pitchFamily="34" charset="0"/>
              <a:buChar char="•"/>
            </a:pPr>
            <a:r>
              <a:rPr lang="en-US" dirty="0"/>
              <a:t>Analysis</a:t>
            </a:r>
          </a:p>
          <a:p>
            <a:pPr marL="342900" indent="-342900">
              <a:buFont typeface="Arial" panose="020B0604020202020204" pitchFamily="34" charset="0"/>
              <a:buChar char="•"/>
            </a:pPr>
            <a:r>
              <a:rPr lang="en-US" dirty="0"/>
              <a:t>Results</a:t>
            </a:r>
          </a:p>
          <a:p>
            <a:pPr marL="342900" indent="-342900">
              <a:buFont typeface="Arial" panose="020B0604020202020204" pitchFamily="34" charset="0"/>
              <a:buChar char="•"/>
            </a:pPr>
            <a:r>
              <a:rPr lang="en-US" dirty="0"/>
              <a:t>Conclusion / Future Investigation</a:t>
            </a:r>
          </a:p>
          <a:p>
            <a:pPr marL="342900" indent="-342900">
              <a:buFont typeface="Arial" panose="020B0604020202020204" pitchFamily="34" charset="0"/>
              <a:buChar char="•"/>
            </a:pPr>
            <a:r>
              <a:rPr lang="en-US" dirty="0"/>
              <a:t>Regulations &amp; Implications</a:t>
            </a:r>
          </a:p>
          <a:p>
            <a:pPr marL="342900" indent="-342900">
              <a:buFont typeface="Arial" panose="020B0604020202020204" pitchFamily="34" charset="0"/>
              <a:buChar char="•"/>
            </a:pPr>
            <a:r>
              <a:rPr lang="en-US" dirty="0"/>
              <a:t>References</a:t>
            </a:r>
          </a:p>
          <a:p>
            <a:pPr marL="342900" indent="-342900">
              <a:buFont typeface="Arial" panose="020B0604020202020204" pitchFamily="34" charset="0"/>
              <a:buChar char="•"/>
            </a:pPr>
            <a:r>
              <a:rPr lang="en-US" dirty="0"/>
              <a:t>Appendix</a:t>
            </a:r>
          </a:p>
        </p:txBody>
      </p:sp>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4875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Problem Statement</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348343" y="1047347"/>
            <a:ext cx="11325495" cy="307777"/>
          </a:xfrm>
          <a:prstGeom prst="rect">
            <a:avLst/>
          </a:prstGeom>
          <a:noFill/>
        </p:spPr>
        <p:txBody>
          <a:bodyPr wrap="square" rtlCol="0">
            <a:spAutoFit/>
          </a:bodyPr>
          <a:lstStyle/>
          <a:p>
            <a:r>
              <a:rPr lang="en-US" sz="1400" dirty="0"/>
              <a:t>What qualities of crude oil lead to pipeline accidents and what are the related regulations?  </a:t>
            </a:r>
          </a:p>
        </p:txBody>
      </p:sp>
      <p:sp>
        <p:nvSpPr>
          <p:cNvPr id="3" name="Rectangle 2">
            <a:extLst>
              <a:ext uri="{FF2B5EF4-FFF2-40B4-BE49-F238E27FC236}">
                <a16:creationId xmlns:a16="http://schemas.microsoft.com/office/drawing/2014/main" id="{3AE8F328-242B-CA62-B910-BC5A7CA5CCB1}"/>
              </a:ext>
            </a:extLst>
          </p:cNvPr>
          <p:cNvSpPr/>
          <p:nvPr/>
        </p:nvSpPr>
        <p:spPr>
          <a:xfrm>
            <a:off x="431075" y="1802089"/>
            <a:ext cx="3587931" cy="489857"/>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solidFill>
                  <a:schemeClr val="bg1"/>
                </a:solidFill>
              </a:rPr>
              <a:t>Part A</a:t>
            </a:r>
          </a:p>
        </p:txBody>
      </p:sp>
      <p:sp>
        <p:nvSpPr>
          <p:cNvPr id="5" name="Rectangle 4">
            <a:extLst>
              <a:ext uri="{FF2B5EF4-FFF2-40B4-BE49-F238E27FC236}">
                <a16:creationId xmlns:a16="http://schemas.microsoft.com/office/drawing/2014/main" id="{BE1D5ACF-9C1F-29AA-A958-C9A2470EADB8}"/>
              </a:ext>
            </a:extLst>
          </p:cNvPr>
          <p:cNvSpPr/>
          <p:nvPr/>
        </p:nvSpPr>
        <p:spPr>
          <a:xfrm>
            <a:off x="431075" y="3473696"/>
            <a:ext cx="3587931" cy="489857"/>
          </a:xfrm>
          <a:prstGeom prst="rect">
            <a:avLst/>
          </a:prstGeom>
          <a:solidFill>
            <a:srgbClr val="21344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dirty="0"/>
              <a:t>Part B – Regulations &amp; Implications</a:t>
            </a:r>
          </a:p>
        </p:txBody>
      </p:sp>
      <p:sp>
        <p:nvSpPr>
          <p:cNvPr id="9" name="Rectangle 8">
            <a:extLst>
              <a:ext uri="{FF2B5EF4-FFF2-40B4-BE49-F238E27FC236}">
                <a16:creationId xmlns:a16="http://schemas.microsoft.com/office/drawing/2014/main" id="{C3EE2856-0C0B-F380-15D8-332C8F627E12}"/>
              </a:ext>
            </a:extLst>
          </p:cNvPr>
          <p:cNvSpPr/>
          <p:nvPr/>
        </p:nvSpPr>
        <p:spPr>
          <a:xfrm>
            <a:off x="431075" y="2291946"/>
            <a:ext cx="11325495" cy="489857"/>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What physical or chemical properties of crude oil could be responsible for pipeline accidents?</a:t>
            </a:r>
          </a:p>
        </p:txBody>
      </p:sp>
      <p:sp>
        <p:nvSpPr>
          <p:cNvPr id="10" name="Rectangle 9">
            <a:extLst>
              <a:ext uri="{FF2B5EF4-FFF2-40B4-BE49-F238E27FC236}">
                <a16:creationId xmlns:a16="http://schemas.microsoft.com/office/drawing/2014/main" id="{4BD953D9-371A-5C60-4681-88D91CACE5C3}"/>
              </a:ext>
            </a:extLst>
          </p:cNvPr>
          <p:cNvSpPr/>
          <p:nvPr/>
        </p:nvSpPr>
        <p:spPr>
          <a:xfrm>
            <a:off x="431075" y="3963554"/>
            <a:ext cx="11325495" cy="92348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400" dirty="0">
                <a:solidFill>
                  <a:schemeClr val="tx1"/>
                </a:solidFill>
              </a:rPr>
              <a:t>- What regulations on those properties would you recommend?</a:t>
            </a:r>
          </a:p>
          <a:p>
            <a:r>
              <a:rPr lang="en-US" sz="1400" dirty="0">
                <a:solidFill>
                  <a:schemeClr val="tx1"/>
                </a:solidFill>
              </a:rPr>
              <a:t>- Have we gotten better at regulating those properties over time?</a:t>
            </a:r>
          </a:p>
          <a:p>
            <a:r>
              <a:rPr lang="en-US" sz="1400" dirty="0">
                <a:solidFill>
                  <a:schemeClr val="tx1"/>
                </a:solidFill>
              </a:rPr>
              <a:t>- What implications on the oil market would these regulations have? </a:t>
            </a:r>
          </a:p>
          <a:p>
            <a:r>
              <a:rPr lang="en-US" sz="1400" dirty="0">
                <a:solidFill>
                  <a:schemeClr val="tx1"/>
                </a:solidFill>
              </a:rPr>
              <a:t>- How can success of these regulations be quantified in the short term and long term? </a:t>
            </a:r>
          </a:p>
        </p:txBody>
      </p:sp>
    </p:spTree>
    <p:extLst>
      <p:ext uri="{BB962C8B-B14F-4D97-AF65-F5344CB8AC3E}">
        <p14:creationId xmlns:p14="http://schemas.microsoft.com/office/powerpoint/2010/main" val="3876749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2" descr="ESG Is Not a Black Box - Validere">
            <a:extLst>
              <a:ext uri="{FF2B5EF4-FFF2-40B4-BE49-F238E27FC236}">
                <a16:creationId xmlns:a16="http://schemas.microsoft.com/office/drawing/2014/main" id="{EA3C2ED1-6235-120F-BB67-8B382C3EA5A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0"/>
            <a:ext cx="12192000" cy="6858000"/>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7F40E04-0FF0-4058-E5B2-051685ADDEDB}"/>
              </a:ext>
            </a:extLst>
          </p:cNvPr>
          <p:cNvSpPr/>
          <p:nvPr/>
        </p:nvSpPr>
        <p:spPr>
          <a:xfrm>
            <a:off x="729573" y="2208713"/>
            <a:ext cx="6698838" cy="12202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800" b="1" dirty="0">
                <a:solidFill>
                  <a:schemeClr val="bg1"/>
                </a:solidFill>
              </a:rPr>
              <a:t>Part A – Physical or Chemical Properties of Crude Oil that could be Responsible for Pipeline Accidents </a:t>
            </a:r>
          </a:p>
        </p:txBody>
      </p:sp>
      <p:pic>
        <p:nvPicPr>
          <p:cNvPr id="4" name="Picture 2" descr="Validere Acquires Regulatory Reporting Platform Clairifi - Validere">
            <a:extLst>
              <a:ext uri="{FF2B5EF4-FFF2-40B4-BE49-F238E27FC236}">
                <a16:creationId xmlns:a16="http://schemas.microsoft.com/office/drawing/2014/main" id="{FB7EE65E-8925-81A8-2BFC-A52991598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88137" y="6313713"/>
            <a:ext cx="2377441" cy="247559"/>
          </a:xfrm>
          <a:prstGeom prst="rect">
            <a:avLst/>
          </a:prstGeom>
          <a:noFill/>
          <a:extLst>
            <a:ext uri="{909E8E84-426E-40DD-AFC4-6F175D3DCCD1}">
              <a14:hiddenFill xmlns:a14="http://schemas.microsoft.com/office/drawing/2010/main">
                <a:solidFill>
                  <a:srgbClr val="FFFFFF"/>
                </a:solidFill>
              </a14:hiddenFill>
            </a:ext>
          </a:extLst>
        </p:spPr>
      </p:pic>
      <p:cxnSp>
        <p:nvCxnSpPr>
          <p:cNvPr id="2" name="Straight Connector 1">
            <a:extLst>
              <a:ext uri="{FF2B5EF4-FFF2-40B4-BE49-F238E27FC236}">
                <a16:creationId xmlns:a16="http://schemas.microsoft.com/office/drawing/2014/main" id="{3B597046-2C0C-F03C-1EBC-7E510934E079}"/>
              </a:ext>
            </a:extLst>
          </p:cNvPr>
          <p:cNvCxnSpPr>
            <a:cxnSpLocks/>
          </p:cNvCxnSpPr>
          <p:nvPr/>
        </p:nvCxnSpPr>
        <p:spPr>
          <a:xfrm>
            <a:off x="827314" y="3579789"/>
            <a:ext cx="6731726" cy="0"/>
          </a:xfrm>
          <a:prstGeom prst="line">
            <a:avLst/>
          </a:prstGeom>
          <a:ln w="38100">
            <a:solidFill>
              <a:srgbClr val="D6DBDD"/>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16398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Crude Oil</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260183"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10" name="Rectangle 9">
            <a:extLst>
              <a:ext uri="{FF2B5EF4-FFF2-40B4-BE49-F238E27FC236}">
                <a16:creationId xmlns:a16="http://schemas.microsoft.com/office/drawing/2014/main" id="{636D0E5C-832B-9E12-2DFD-71918E49D73D}"/>
              </a:ext>
            </a:extLst>
          </p:cNvPr>
          <p:cNvSpPr/>
          <p:nvPr/>
        </p:nvSpPr>
        <p:spPr>
          <a:xfrm>
            <a:off x="2139403" y="1801293"/>
            <a:ext cx="5024125" cy="66001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dirty="0">
                <a:solidFill>
                  <a:schemeClr val="tx1"/>
                </a:solidFill>
              </a:rPr>
              <a:t>Crude oils are primarily composed of hydrocarbon gases and liquids. A sample breakdown of Bakken crude oil, considered a light crude oil, is given to the right [1]. The DOT classification is a measurement of flammability (2.1 for gases, 3 for liquids).</a:t>
            </a:r>
          </a:p>
        </p:txBody>
      </p:sp>
      <p:graphicFrame>
        <p:nvGraphicFramePr>
          <p:cNvPr id="21" name="Table 20">
            <a:extLst>
              <a:ext uri="{FF2B5EF4-FFF2-40B4-BE49-F238E27FC236}">
                <a16:creationId xmlns:a16="http://schemas.microsoft.com/office/drawing/2014/main" id="{59445661-1A98-C6A2-6679-AC01872D90A4}"/>
              </a:ext>
            </a:extLst>
          </p:cNvPr>
          <p:cNvGraphicFramePr>
            <a:graphicFrameLocks noGrp="1"/>
          </p:cNvGraphicFramePr>
          <p:nvPr>
            <p:extLst>
              <p:ext uri="{D42A27DB-BD31-4B8C-83A1-F6EECF244321}">
                <p14:modId xmlns:p14="http://schemas.microsoft.com/office/powerpoint/2010/main" val="2892636571"/>
              </p:ext>
            </p:extLst>
          </p:nvPr>
        </p:nvGraphicFramePr>
        <p:xfrm>
          <a:off x="7539446" y="1900524"/>
          <a:ext cx="4064001" cy="3627120"/>
        </p:xfrm>
        <a:graphic>
          <a:graphicData uri="http://schemas.openxmlformats.org/drawingml/2006/table">
            <a:tbl>
              <a:tblPr firstRow="1" bandRow="1">
                <a:tableStyleId>{5C22544A-7EE6-4342-B048-85BDC9FD1C3A}</a:tableStyleId>
              </a:tblPr>
              <a:tblGrid>
                <a:gridCol w="1354667">
                  <a:extLst>
                    <a:ext uri="{9D8B030D-6E8A-4147-A177-3AD203B41FA5}">
                      <a16:colId xmlns:a16="http://schemas.microsoft.com/office/drawing/2014/main" val="4049625348"/>
                    </a:ext>
                  </a:extLst>
                </a:gridCol>
                <a:gridCol w="1354667">
                  <a:extLst>
                    <a:ext uri="{9D8B030D-6E8A-4147-A177-3AD203B41FA5}">
                      <a16:colId xmlns:a16="http://schemas.microsoft.com/office/drawing/2014/main" val="3951251874"/>
                    </a:ext>
                  </a:extLst>
                </a:gridCol>
                <a:gridCol w="1354667">
                  <a:extLst>
                    <a:ext uri="{9D8B030D-6E8A-4147-A177-3AD203B41FA5}">
                      <a16:colId xmlns:a16="http://schemas.microsoft.com/office/drawing/2014/main" val="1527429592"/>
                    </a:ext>
                  </a:extLst>
                </a:gridCol>
              </a:tblGrid>
              <a:tr h="148014">
                <a:tc>
                  <a:txBody>
                    <a:bodyPr/>
                    <a:lstStyle/>
                    <a:p>
                      <a:r>
                        <a:rPr lang="en-US" sz="1000" dirty="0">
                          <a:solidFill>
                            <a:schemeClr val="tx1"/>
                          </a:solidFill>
                        </a:rPr>
                        <a:t>Hydrocarbon gas</a:t>
                      </a:r>
                    </a:p>
                  </a:txBody>
                  <a:tcPr>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6EAED0"/>
                    </a:solidFill>
                  </a:tcPr>
                </a:tc>
                <a:tc>
                  <a:txBody>
                    <a:bodyPr/>
                    <a:lstStyle/>
                    <a:p>
                      <a:r>
                        <a:rPr lang="en-US" sz="1000" dirty="0">
                          <a:solidFill>
                            <a:schemeClr val="tx1"/>
                          </a:solidFill>
                        </a:rPr>
                        <a:t>Concentration in Liquid Volume %</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B w="12700" cap="flat" cmpd="sng" algn="ctr">
                      <a:solidFill>
                        <a:schemeClr val="tx1"/>
                      </a:solidFill>
                      <a:prstDash val="solid"/>
                      <a:round/>
                      <a:headEnd type="none" w="med" len="med"/>
                      <a:tailEnd type="none" w="med" len="med"/>
                    </a:lnB>
                    <a:solidFill>
                      <a:srgbClr val="6EAED0"/>
                    </a:solidFill>
                  </a:tcPr>
                </a:tc>
                <a:tc>
                  <a:txBody>
                    <a:bodyPr/>
                    <a:lstStyle/>
                    <a:p>
                      <a:r>
                        <a:rPr lang="en-US" sz="1000" dirty="0">
                          <a:solidFill>
                            <a:schemeClr val="tx1"/>
                          </a:solidFill>
                        </a:rPr>
                        <a:t>DOT Classification</a:t>
                      </a:r>
                    </a:p>
                  </a:txBody>
                  <a:tcPr>
                    <a:lnL w="12700" cap="flat" cmpd="sng" algn="ctr">
                      <a:solidFill>
                        <a:schemeClr val="tx1"/>
                      </a:solidFill>
                      <a:prstDash val="solid"/>
                      <a:round/>
                      <a:headEnd type="none" w="med" len="med"/>
                      <a:tailEnd type="none" w="med" len="med"/>
                    </a:lnL>
                    <a:lnB w="12700" cap="flat" cmpd="sng" algn="ctr">
                      <a:solidFill>
                        <a:schemeClr val="tx1"/>
                      </a:solidFill>
                      <a:prstDash val="solid"/>
                      <a:round/>
                      <a:headEnd type="none" w="med" len="med"/>
                      <a:tailEnd type="none" w="med" len="med"/>
                    </a:lnB>
                    <a:solidFill>
                      <a:srgbClr val="6EAED0"/>
                    </a:solidFill>
                  </a:tcPr>
                </a:tc>
                <a:extLst>
                  <a:ext uri="{0D108BD9-81ED-4DB2-BD59-A6C34878D82A}">
                    <a16:rowId xmlns:a16="http://schemas.microsoft.com/office/drawing/2014/main" val="2553333783"/>
                  </a:ext>
                </a:extLst>
              </a:tr>
              <a:tr h="148014">
                <a:tc>
                  <a:txBody>
                    <a:bodyPr/>
                    <a:lstStyle/>
                    <a:p>
                      <a:r>
                        <a:rPr lang="en-US" sz="1000" dirty="0"/>
                        <a:t>Methane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&lt;0.01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74565260"/>
                  </a:ext>
                </a:extLst>
              </a:tr>
              <a:tr h="148014">
                <a:tc>
                  <a:txBody>
                    <a:bodyPr/>
                    <a:lstStyle/>
                    <a:p>
                      <a:r>
                        <a:rPr lang="en-US" sz="1000" dirty="0"/>
                        <a:t>Ethane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0.05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10996065"/>
                  </a:ext>
                </a:extLst>
              </a:tr>
              <a:tr h="148014">
                <a:tc>
                  <a:txBody>
                    <a:bodyPr/>
                    <a:lstStyle/>
                    <a:p>
                      <a:r>
                        <a:rPr lang="en-US" sz="1000" dirty="0"/>
                        <a:t>Propane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0.80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234387885"/>
                  </a:ext>
                </a:extLst>
              </a:tr>
              <a:tr h="148014">
                <a:tc>
                  <a:txBody>
                    <a:bodyPr/>
                    <a:lstStyle/>
                    <a:p>
                      <a:r>
                        <a:rPr lang="en-US" sz="1000" dirty="0"/>
                        <a:t>Iso-Butane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0.46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28878070"/>
                  </a:ext>
                </a:extLst>
              </a:tr>
              <a:tr h="148014">
                <a:tc>
                  <a:txBody>
                    <a:bodyPr/>
                    <a:lstStyle/>
                    <a:p>
                      <a:r>
                        <a:rPr lang="en-US" sz="1000" dirty="0"/>
                        <a:t>N- Butane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2.36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Div. 2.1 Gas</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447104529"/>
                  </a:ext>
                </a:extLst>
              </a:tr>
              <a:tr h="148014">
                <a:tc>
                  <a:txBody>
                    <a:bodyPr/>
                    <a:lstStyle/>
                    <a:p>
                      <a:r>
                        <a:rPr lang="en-US" sz="1000" dirty="0"/>
                        <a:t>Total Gas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3.67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sz="1000" dirty="0"/>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82430970"/>
                  </a:ext>
                </a:extLst>
              </a:tr>
              <a:tr h="148014">
                <a:tc>
                  <a:txBody>
                    <a:bodyPr/>
                    <a:lstStyle/>
                    <a:p>
                      <a:r>
                        <a:rPr lang="en-US" sz="1000" dirty="0"/>
                        <a:t>Neopentane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&lt;0.01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Class3; PG 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765583352"/>
                  </a:ext>
                </a:extLst>
              </a:tr>
              <a:tr h="148014">
                <a:tc>
                  <a:txBody>
                    <a:bodyPr/>
                    <a:lstStyle/>
                    <a:p>
                      <a:r>
                        <a:rPr lang="en-US" sz="1000" dirty="0"/>
                        <a:t>Iso-Pentane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1.33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Class3; PG 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970501438"/>
                  </a:ext>
                </a:extLst>
              </a:tr>
              <a:tr h="148014">
                <a:tc>
                  <a:txBody>
                    <a:bodyPr/>
                    <a:lstStyle/>
                    <a:p>
                      <a:r>
                        <a:rPr lang="en-US" sz="1000" dirty="0"/>
                        <a:t>N-Pentane</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2.36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Class3; PG II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4058391748"/>
                  </a:ext>
                </a:extLst>
              </a:tr>
              <a:tr h="148014">
                <a:tc>
                  <a:txBody>
                    <a:bodyPr/>
                    <a:lstStyle/>
                    <a:p>
                      <a:r>
                        <a:rPr lang="en-US" sz="1000" dirty="0"/>
                        <a:t>Hexanes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4.10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Class3; PG II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4346941"/>
                  </a:ext>
                </a:extLst>
              </a:tr>
              <a:tr h="158152">
                <a:tc>
                  <a:txBody>
                    <a:bodyPr/>
                    <a:lstStyle/>
                    <a:p>
                      <a:r>
                        <a:rPr lang="en-US" sz="1000" dirty="0" err="1"/>
                        <a:t>Heptanes</a:t>
                      </a:r>
                      <a:r>
                        <a:rPr lang="en-US" sz="1000" dirty="0"/>
                        <a:t> Plus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88.56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1000" dirty="0"/>
                        <a:t>Varies Class 3; PG II to combustible liquid to non-regulated</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8399556"/>
                  </a:ext>
                </a:extLst>
              </a:tr>
              <a:tr h="148014">
                <a:tc>
                  <a:txBody>
                    <a:bodyPr/>
                    <a:lstStyle/>
                    <a:p>
                      <a:r>
                        <a:rPr lang="en-US" sz="1000" dirty="0"/>
                        <a:t>Benzenes</a:t>
                      </a:r>
                    </a:p>
                  </a:txBody>
                  <a:tcPr>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r>
                        <a:rPr lang="en-US" sz="1000" dirty="0"/>
                        <a:t>0.08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noFill/>
                  </a:tcPr>
                </a:tc>
                <a:tc>
                  <a:txBody>
                    <a:bodyPr/>
                    <a:lstStyle/>
                    <a:p>
                      <a:r>
                        <a:rPr lang="en-US" sz="1000" dirty="0"/>
                        <a:t>Class 3; PG II</a:t>
                      </a:r>
                    </a:p>
                  </a:txBody>
                  <a:tcPr>
                    <a:lnL w="12700" cap="flat" cmpd="sng" algn="ctr">
                      <a:solidFill>
                        <a:schemeClr val="tx1"/>
                      </a:solidFill>
                      <a:prstDash val="solid"/>
                      <a:round/>
                      <a:headEnd type="none" w="med" len="med"/>
                      <a:tailEnd type="none" w="med" len="med"/>
                    </a:lnL>
                    <a:lnT w="12700" cap="flat" cmpd="sng" algn="ctr">
                      <a:solidFill>
                        <a:schemeClr val="tx1"/>
                      </a:solidFill>
                      <a:prstDash val="solid"/>
                      <a:round/>
                      <a:headEnd type="none" w="med" len="med"/>
                      <a:tailEnd type="none" w="med" len="med"/>
                    </a:lnT>
                    <a:noFill/>
                  </a:tcPr>
                </a:tc>
                <a:extLst>
                  <a:ext uri="{0D108BD9-81ED-4DB2-BD59-A6C34878D82A}">
                    <a16:rowId xmlns:a16="http://schemas.microsoft.com/office/drawing/2014/main" val="2902920469"/>
                  </a:ext>
                </a:extLst>
              </a:tr>
            </a:tbl>
          </a:graphicData>
        </a:graphic>
      </p:graphicFrame>
      <p:sp>
        <p:nvSpPr>
          <p:cNvPr id="22" name="Rounded Rectangle 21">
            <a:extLst>
              <a:ext uri="{FF2B5EF4-FFF2-40B4-BE49-F238E27FC236}">
                <a16:creationId xmlns:a16="http://schemas.microsoft.com/office/drawing/2014/main" id="{931CF134-3B7B-7650-80AD-962A8EAEF00A}"/>
              </a:ext>
            </a:extLst>
          </p:cNvPr>
          <p:cNvSpPr/>
          <p:nvPr/>
        </p:nvSpPr>
        <p:spPr>
          <a:xfrm>
            <a:off x="333468" y="2646674"/>
            <a:ext cx="1719937" cy="461550"/>
          </a:xfrm>
          <a:prstGeom prst="roundRect">
            <a:avLst/>
          </a:prstGeom>
          <a:solidFill>
            <a:srgbClr val="1D2C33"/>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Physical Properties</a:t>
            </a:r>
          </a:p>
        </p:txBody>
      </p:sp>
      <p:sp>
        <p:nvSpPr>
          <p:cNvPr id="23" name="Rectangle 22">
            <a:extLst>
              <a:ext uri="{FF2B5EF4-FFF2-40B4-BE49-F238E27FC236}">
                <a16:creationId xmlns:a16="http://schemas.microsoft.com/office/drawing/2014/main" id="{4DC245F1-BD6C-B40D-D10E-8BF1FCF2A1E5}"/>
              </a:ext>
            </a:extLst>
          </p:cNvPr>
          <p:cNvSpPr/>
          <p:nvPr/>
        </p:nvSpPr>
        <p:spPr>
          <a:xfrm>
            <a:off x="2298336" y="2687091"/>
            <a:ext cx="2354220"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chemeClr val="tx1"/>
                </a:solidFill>
              </a:rPr>
              <a:t>Class A: Light, Volatile Oils [2]</a:t>
            </a:r>
          </a:p>
        </p:txBody>
      </p:sp>
      <p:sp>
        <p:nvSpPr>
          <p:cNvPr id="24" name="Rectangle 23">
            <a:extLst>
              <a:ext uri="{FF2B5EF4-FFF2-40B4-BE49-F238E27FC236}">
                <a16:creationId xmlns:a16="http://schemas.microsoft.com/office/drawing/2014/main" id="{6F991887-4F70-54B3-1E4C-724330DDE77F}"/>
              </a:ext>
            </a:extLst>
          </p:cNvPr>
          <p:cNvSpPr/>
          <p:nvPr/>
        </p:nvSpPr>
        <p:spPr>
          <a:xfrm>
            <a:off x="4730932" y="2688105"/>
            <a:ext cx="2354218"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chemeClr val="tx1"/>
                </a:solidFill>
              </a:rPr>
              <a:t>Class B: Non-Sticky Oils</a:t>
            </a:r>
          </a:p>
        </p:txBody>
      </p:sp>
      <p:sp>
        <p:nvSpPr>
          <p:cNvPr id="27" name="Rectangle 26">
            <a:extLst>
              <a:ext uri="{FF2B5EF4-FFF2-40B4-BE49-F238E27FC236}">
                <a16:creationId xmlns:a16="http://schemas.microsoft.com/office/drawing/2014/main" id="{2C1BD15A-2798-62AE-DFDA-FFE460ECC393}"/>
              </a:ext>
            </a:extLst>
          </p:cNvPr>
          <p:cNvSpPr/>
          <p:nvPr/>
        </p:nvSpPr>
        <p:spPr>
          <a:xfrm>
            <a:off x="2298335" y="2961674"/>
            <a:ext cx="2354219" cy="114953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rPr>
              <a:t>Highly fluid</a:t>
            </a:r>
          </a:p>
          <a:p>
            <a:pPr marL="285750" indent="-285750">
              <a:buFont typeface="Arial" panose="020B0604020202020204" pitchFamily="34" charset="0"/>
              <a:buChar char="•"/>
            </a:pPr>
            <a:r>
              <a:rPr lang="en-US" sz="1000" dirty="0">
                <a:solidFill>
                  <a:schemeClr val="tx1"/>
                </a:solidFill>
              </a:rPr>
              <a:t>Often clear</a:t>
            </a:r>
          </a:p>
          <a:p>
            <a:pPr marL="285750" indent="-285750">
              <a:buFont typeface="Arial" panose="020B0604020202020204" pitchFamily="34" charset="0"/>
              <a:buChar char="•"/>
            </a:pPr>
            <a:r>
              <a:rPr lang="en-US" sz="1000" dirty="0">
                <a:solidFill>
                  <a:schemeClr val="tx1"/>
                </a:solidFill>
              </a:rPr>
              <a:t>Spread rapidly on solid or water surfaces</a:t>
            </a:r>
          </a:p>
          <a:p>
            <a:pPr marL="285750" indent="-285750">
              <a:buFont typeface="Arial" panose="020B0604020202020204" pitchFamily="34" charset="0"/>
              <a:buChar char="•"/>
            </a:pPr>
            <a:r>
              <a:rPr lang="en-US" sz="1000" dirty="0">
                <a:solidFill>
                  <a:schemeClr val="tx1"/>
                </a:solidFill>
              </a:rPr>
              <a:t>Have a strong odor</a:t>
            </a:r>
          </a:p>
          <a:p>
            <a:pPr marL="285750" indent="-285750">
              <a:buFont typeface="Arial" panose="020B0604020202020204" pitchFamily="34" charset="0"/>
              <a:buChar char="•"/>
            </a:pPr>
            <a:r>
              <a:rPr lang="en-US" sz="1000" dirty="0">
                <a:solidFill>
                  <a:schemeClr val="tx1"/>
                </a:solidFill>
              </a:rPr>
              <a:t>High evaporation rate</a:t>
            </a:r>
          </a:p>
          <a:p>
            <a:pPr marL="285750" indent="-285750">
              <a:buFont typeface="Arial" panose="020B0604020202020204" pitchFamily="34" charset="0"/>
              <a:buChar char="•"/>
            </a:pPr>
            <a:r>
              <a:rPr lang="en-US" sz="1000" dirty="0">
                <a:solidFill>
                  <a:schemeClr val="tx1"/>
                </a:solidFill>
              </a:rPr>
              <a:t>Usually flammable</a:t>
            </a:r>
          </a:p>
          <a:p>
            <a:pPr marL="285750" indent="-285750">
              <a:buFont typeface="Arial" panose="020B0604020202020204" pitchFamily="34" charset="0"/>
              <a:buChar char="•"/>
            </a:pPr>
            <a:endParaRPr lang="en-US" sz="1000" dirty="0">
              <a:solidFill>
                <a:schemeClr val="tx1"/>
              </a:solidFill>
            </a:endParaRPr>
          </a:p>
        </p:txBody>
      </p:sp>
      <p:sp>
        <p:nvSpPr>
          <p:cNvPr id="28" name="Rectangle 27">
            <a:extLst>
              <a:ext uri="{FF2B5EF4-FFF2-40B4-BE49-F238E27FC236}">
                <a16:creationId xmlns:a16="http://schemas.microsoft.com/office/drawing/2014/main" id="{9B82BC63-92A6-BAD7-FCAE-E227149A0273}"/>
              </a:ext>
            </a:extLst>
          </p:cNvPr>
          <p:cNvSpPr/>
          <p:nvPr/>
        </p:nvSpPr>
        <p:spPr>
          <a:xfrm>
            <a:off x="4730932" y="2945383"/>
            <a:ext cx="2354219" cy="7386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rPr>
              <a:t>Waxy or oily</a:t>
            </a:r>
          </a:p>
          <a:p>
            <a:pPr marL="285750" indent="-285750">
              <a:buFont typeface="Arial" panose="020B0604020202020204" pitchFamily="34" charset="0"/>
              <a:buChar char="•"/>
            </a:pPr>
            <a:r>
              <a:rPr lang="en-US" sz="1000" dirty="0">
                <a:solidFill>
                  <a:schemeClr val="tx1"/>
                </a:solidFill>
              </a:rPr>
              <a:t>Less toxic</a:t>
            </a:r>
          </a:p>
          <a:p>
            <a:pPr marL="285750" indent="-285750">
              <a:buFont typeface="Arial" panose="020B0604020202020204" pitchFamily="34" charset="0"/>
              <a:buChar char="•"/>
            </a:pPr>
            <a:r>
              <a:rPr lang="en-US" sz="1000" dirty="0">
                <a:solidFill>
                  <a:schemeClr val="tx1"/>
                </a:solidFill>
              </a:rPr>
              <a:t>Penetrate porous substances</a:t>
            </a:r>
          </a:p>
          <a:p>
            <a:pPr marL="285750" indent="-285750">
              <a:buFont typeface="Arial" panose="020B0604020202020204" pitchFamily="34" charset="0"/>
              <a:buChar char="•"/>
            </a:pPr>
            <a:r>
              <a:rPr lang="en-US" sz="1000" dirty="0">
                <a:solidFill>
                  <a:schemeClr val="tx1"/>
                </a:solidFill>
              </a:rPr>
              <a:t>Evaporation of volatiles leads to Class C or D residue</a:t>
            </a:r>
          </a:p>
        </p:txBody>
      </p:sp>
      <p:cxnSp>
        <p:nvCxnSpPr>
          <p:cNvPr id="30" name="Straight Connector 29">
            <a:extLst>
              <a:ext uri="{FF2B5EF4-FFF2-40B4-BE49-F238E27FC236}">
                <a16:creationId xmlns:a16="http://schemas.microsoft.com/office/drawing/2014/main" id="{B1B3655C-4794-4CE4-9158-989BFFCA1E9C}"/>
              </a:ext>
            </a:extLst>
          </p:cNvPr>
          <p:cNvCxnSpPr/>
          <p:nvPr/>
        </p:nvCxnSpPr>
        <p:spPr>
          <a:xfrm>
            <a:off x="2298335" y="2900714"/>
            <a:ext cx="235421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687F1003-28BD-B113-109E-B451173D607F}"/>
              </a:ext>
            </a:extLst>
          </p:cNvPr>
          <p:cNvCxnSpPr/>
          <p:nvPr/>
        </p:nvCxnSpPr>
        <p:spPr>
          <a:xfrm>
            <a:off x="4809310" y="2905068"/>
            <a:ext cx="235421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EAD76F7A-6529-9CBD-E072-A32C5FC52596}"/>
              </a:ext>
            </a:extLst>
          </p:cNvPr>
          <p:cNvSpPr/>
          <p:nvPr/>
        </p:nvSpPr>
        <p:spPr>
          <a:xfrm>
            <a:off x="2298335" y="4111205"/>
            <a:ext cx="2354218"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chemeClr val="tx1"/>
                </a:solidFill>
              </a:rPr>
              <a:t>Class C: Heavy, Sticky Oils</a:t>
            </a:r>
          </a:p>
        </p:txBody>
      </p:sp>
      <p:sp>
        <p:nvSpPr>
          <p:cNvPr id="33" name="Rectangle 32">
            <a:extLst>
              <a:ext uri="{FF2B5EF4-FFF2-40B4-BE49-F238E27FC236}">
                <a16:creationId xmlns:a16="http://schemas.microsoft.com/office/drawing/2014/main" id="{A3482493-CBB1-0892-F82B-E77BB0377AA3}"/>
              </a:ext>
            </a:extLst>
          </p:cNvPr>
          <p:cNvSpPr/>
          <p:nvPr/>
        </p:nvSpPr>
        <p:spPr>
          <a:xfrm>
            <a:off x="2298335" y="4368483"/>
            <a:ext cx="2354219" cy="7386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rPr>
              <a:t>Viscous</a:t>
            </a:r>
          </a:p>
          <a:p>
            <a:pPr marL="285750" indent="-285750">
              <a:buFont typeface="Arial" panose="020B0604020202020204" pitchFamily="34" charset="0"/>
              <a:buChar char="•"/>
            </a:pPr>
            <a:r>
              <a:rPr lang="en-US" sz="1000" dirty="0">
                <a:solidFill>
                  <a:schemeClr val="tx1"/>
                </a:solidFill>
              </a:rPr>
              <a:t>Sticky or tarry</a:t>
            </a:r>
          </a:p>
          <a:p>
            <a:pPr marL="285750" indent="-285750">
              <a:buFont typeface="Arial" panose="020B0604020202020204" pitchFamily="34" charset="0"/>
              <a:buChar char="•"/>
            </a:pPr>
            <a:r>
              <a:rPr lang="en-US" sz="1000" dirty="0">
                <a:solidFill>
                  <a:schemeClr val="tx1"/>
                </a:solidFill>
              </a:rPr>
              <a:t>Brown or black</a:t>
            </a:r>
          </a:p>
        </p:txBody>
      </p:sp>
      <p:cxnSp>
        <p:nvCxnSpPr>
          <p:cNvPr id="34" name="Straight Connector 33">
            <a:extLst>
              <a:ext uri="{FF2B5EF4-FFF2-40B4-BE49-F238E27FC236}">
                <a16:creationId xmlns:a16="http://schemas.microsoft.com/office/drawing/2014/main" id="{6DE24D3F-695A-BC90-41BE-9D92BAFF9815}"/>
              </a:ext>
            </a:extLst>
          </p:cNvPr>
          <p:cNvCxnSpPr/>
          <p:nvPr/>
        </p:nvCxnSpPr>
        <p:spPr>
          <a:xfrm>
            <a:off x="2376713" y="4328168"/>
            <a:ext cx="235421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8" name="Rectangle 37">
            <a:extLst>
              <a:ext uri="{FF2B5EF4-FFF2-40B4-BE49-F238E27FC236}">
                <a16:creationId xmlns:a16="http://schemas.microsoft.com/office/drawing/2014/main" id="{BE0A8636-50D8-8BCA-BD06-E24328315222}"/>
              </a:ext>
            </a:extLst>
          </p:cNvPr>
          <p:cNvSpPr/>
          <p:nvPr/>
        </p:nvSpPr>
        <p:spPr>
          <a:xfrm>
            <a:off x="4730931" y="4111205"/>
            <a:ext cx="2354218" cy="21362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b="1" dirty="0">
                <a:solidFill>
                  <a:schemeClr val="tx1"/>
                </a:solidFill>
              </a:rPr>
              <a:t>Class D: Non-fluid Oils</a:t>
            </a:r>
          </a:p>
        </p:txBody>
      </p:sp>
      <p:sp>
        <p:nvSpPr>
          <p:cNvPr id="39" name="Rectangle 38">
            <a:extLst>
              <a:ext uri="{FF2B5EF4-FFF2-40B4-BE49-F238E27FC236}">
                <a16:creationId xmlns:a16="http://schemas.microsoft.com/office/drawing/2014/main" id="{45CB12EF-39C5-C1EA-E6D2-4AD38E8E2400}"/>
              </a:ext>
            </a:extLst>
          </p:cNvPr>
          <p:cNvSpPr/>
          <p:nvPr/>
        </p:nvSpPr>
        <p:spPr>
          <a:xfrm>
            <a:off x="4730931" y="4368483"/>
            <a:ext cx="2354219" cy="7386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285750" indent="-285750">
              <a:buFont typeface="Arial" panose="020B0604020202020204" pitchFamily="34" charset="0"/>
              <a:buChar char="•"/>
            </a:pPr>
            <a:r>
              <a:rPr lang="en-US" sz="1000" dirty="0">
                <a:solidFill>
                  <a:schemeClr val="tx1"/>
                </a:solidFill>
              </a:rPr>
              <a:t>Relatively non-toxic</a:t>
            </a:r>
          </a:p>
          <a:p>
            <a:pPr marL="285750" indent="-285750">
              <a:buFont typeface="Arial" panose="020B0604020202020204" pitchFamily="34" charset="0"/>
              <a:buChar char="•"/>
            </a:pPr>
            <a:r>
              <a:rPr lang="en-US" sz="1000" dirty="0">
                <a:solidFill>
                  <a:schemeClr val="tx1"/>
                </a:solidFill>
              </a:rPr>
              <a:t>Do not penetrate porous substances</a:t>
            </a:r>
          </a:p>
          <a:p>
            <a:pPr marL="285750" indent="-285750">
              <a:buFont typeface="Arial" panose="020B0604020202020204" pitchFamily="34" charset="0"/>
              <a:buChar char="•"/>
            </a:pPr>
            <a:r>
              <a:rPr lang="en-US" sz="1000" dirty="0">
                <a:solidFill>
                  <a:schemeClr val="tx1"/>
                </a:solidFill>
              </a:rPr>
              <a:t>Black or dark brown</a:t>
            </a:r>
          </a:p>
        </p:txBody>
      </p:sp>
      <p:cxnSp>
        <p:nvCxnSpPr>
          <p:cNvPr id="40" name="Straight Connector 39">
            <a:extLst>
              <a:ext uri="{FF2B5EF4-FFF2-40B4-BE49-F238E27FC236}">
                <a16:creationId xmlns:a16="http://schemas.microsoft.com/office/drawing/2014/main" id="{AB83A383-69A1-9D02-2543-A50D0B967E47}"/>
              </a:ext>
            </a:extLst>
          </p:cNvPr>
          <p:cNvCxnSpPr/>
          <p:nvPr/>
        </p:nvCxnSpPr>
        <p:spPr>
          <a:xfrm>
            <a:off x="4809309" y="4328168"/>
            <a:ext cx="235421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AFFB841C-5C20-E60C-EE55-8F36671D336B}"/>
              </a:ext>
            </a:extLst>
          </p:cNvPr>
          <p:cNvSpPr txBox="1"/>
          <p:nvPr/>
        </p:nvSpPr>
        <p:spPr>
          <a:xfrm>
            <a:off x="348342" y="1047347"/>
            <a:ext cx="11408227" cy="523220"/>
          </a:xfrm>
          <a:prstGeom prst="rect">
            <a:avLst/>
          </a:prstGeom>
          <a:noFill/>
        </p:spPr>
        <p:txBody>
          <a:bodyPr wrap="square" rtlCol="0">
            <a:spAutoFit/>
          </a:bodyPr>
          <a:lstStyle/>
          <a:p>
            <a:r>
              <a:rPr lang="en-US" sz="1400" dirty="0"/>
              <a:t>To determine what underlying properties of crude oil could be contributing to pipeline accidents, we need to first understand the composition of crude oil. This includes its chemical composition, its physical properties, and any additional qualities that could be related to pipeline incidents. </a:t>
            </a:r>
          </a:p>
        </p:txBody>
      </p:sp>
      <p:sp>
        <p:nvSpPr>
          <p:cNvPr id="44" name="Rectangle 43">
            <a:extLst>
              <a:ext uri="{FF2B5EF4-FFF2-40B4-BE49-F238E27FC236}">
                <a16:creationId xmlns:a16="http://schemas.microsoft.com/office/drawing/2014/main" id="{A7BC24F4-A733-EE42-36D2-6F38A6418BE4}"/>
              </a:ext>
            </a:extLst>
          </p:cNvPr>
          <p:cNvSpPr/>
          <p:nvPr/>
        </p:nvSpPr>
        <p:spPr>
          <a:xfrm>
            <a:off x="333465" y="3148092"/>
            <a:ext cx="1719937" cy="1772064"/>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i="1" dirty="0">
                <a:solidFill>
                  <a:schemeClr val="tx1"/>
                </a:solidFill>
              </a:rPr>
              <a:t>The weight of crude oils is measured on an arbitrary scale based on their relative gravity/density to water, where water has 10 API gravity. Heavy crudes have an API of 22 or below, lighter crudes generally exceed 38 API. [3]</a:t>
            </a:r>
          </a:p>
        </p:txBody>
      </p:sp>
      <p:sp>
        <p:nvSpPr>
          <p:cNvPr id="45" name="Rounded Rectangle 44">
            <a:extLst>
              <a:ext uri="{FF2B5EF4-FFF2-40B4-BE49-F238E27FC236}">
                <a16:creationId xmlns:a16="http://schemas.microsoft.com/office/drawing/2014/main" id="{694DB9D0-D312-B8AA-E32A-4F32A40D98D3}"/>
              </a:ext>
            </a:extLst>
          </p:cNvPr>
          <p:cNvSpPr/>
          <p:nvPr/>
        </p:nvSpPr>
        <p:spPr>
          <a:xfrm>
            <a:off x="333466" y="5204752"/>
            <a:ext cx="1719937" cy="461550"/>
          </a:xfrm>
          <a:prstGeom prst="roundRect">
            <a:avLst/>
          </a:prstGeom>
          <a:solidFill>
            <a:srgbClr val="1D2C33"/>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Chemical Properties</a:t>
            </a:r>
          </a:p>
        </p:txBody>
      </p:sp>
      <p:sp>
        <p:nvSpPr>
          <p:cNvPr id="46" name="Rectangle 45">
            <a:extLst>
              <a:ext uri="{FF2B5EF4-FFF2-40B4-BE49-F238E27FC236}">
                <a16:creationId xmlns:a16="http://schemas.microsoft.com/office/drawing/2014/main" id="{85C717E0-6867-EA79-8DA1-6F3460CE9E1A}"/>
              </a:ext>
            </a:extLst>
          </p:cNvPr>
          <p:cNvSpPr/>
          <p:nvPr/>
        </p:nvSpPr>
        <p:spPr>
          <a:xfrm>
            <a:off x="333465" y="5666302"/>
            <a:ext cx="1719937" cy="5943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i="1" dirty="0">
                <a:solidFill>
                  <a:schemeClr val="tx1"/>
                </a:solidFill>
              </a:rPr>
              <a:t>Crude Oil is also known for containing varying concentrations of sulfur.</a:t>
            </a:r>
          </a:p>
        </p:txBody>
      </p:sp>
      <p:sp>
        <p:nvSpPr>
          <p:cNvPr id="47" name="Rectangle 46">
            <a:extLst>
              <a:ext uri="{FF2B5EF4-FFF2-40B4-BE49-F238E27FC236}">
                <a16:creationId xmlns:a16="http://schemas.microsoft.com/office/drawing/2014/main" id="{3677D8AB-7D27-B849-6DFE-2264A5BC024C}"/>
              </a:ext>
            </a:extLst>
          </p:cNvPr>
          <p:cNvSpPr/>
          <p:nvPr/>
        </p:nvSpPr>
        <p:spPr>
          <a:xfrm>
            <a:off x="5008692" y="5551754"/>
            <a:ext cx="1798695" cy="2819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b="1" dirty="0">
                <a:solidFill>
                  <a:schemeClr val="tx1"/>
                </a:solidFill>
              </a:rPr>
              <a:t>Sour: </a:t>
            </a:r>
            <a:r>
              <a:rPr lang="en-US" sz="1100" dirty="0">
                <a:solidFill>
                  <a:schemeClr val="tx1"/>
                </a:solidFill>
              </a:rPr>
              <a:t>&gt;=0.5% sulfur content </a:t>
            </a:r>
          </a:p>
        </p:txBody>
      </p:sp>
      <p:sp>
        <p:nvSpPr>
          <p:cNvPr id="53" name="Rounded Rectangle 52">
            <a:extLst>
              <a:ext uri="{FF2B5EF4-FFF2-40B4-BE49-F238E27FC236}">
                <a16:creationId xmlns:a16="http://schemas.microsoft.com/office/drawing/2014/main" id="{BEB6DF96-3E5E-8BA4-6E9A-4CBEC1C4FC2B}"/>
              </a:ext>
            </a:extLst>
          </p:cNvPr>
          <p:cNvSpPr/>
          <p:nvPr/>
        </p:nvSpPr>
        <p:spPr>
          <a:xfrm>
            <a:off x="2053402" y="1801293"/>
            <a:ext cx="5110126" cy="660016"/>
          </a:xfrm>
          <a:prstGeom prst="roundRect">
            <a:avLst/>
          </a:prstGeom>
          <a:noFill/>
          <a:ln>
            <a:solidFill>
              <a:srgbClr val="1D2C33"/>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3120FFF6-8CAD-A2BF-1EB7-99B7624328D6}"/>
              </a:ext>
            </a:extLst>
          </p:cNvPr>
          <p:cNvSpPr/>
          <p:nvPr/>
        </p:nvSpPr>
        <p:spPr>
          <a:xfrm>
            <a:off x="2538360" y="5551754"/>
            <a:ext cx="1874168" cy="28198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100" b="1" dirty="0">
                <a:solidFill>
                  <a:schemeClr val="tx1"/>
                </a:solidFill>
              </a:rPr>
              <a:t>Sweet: </a:t>
            </a:r>
            <a:r>
              <a:rPr lang="en-US" sz="1100" dirty="0">
                <a:solidFill>
                  <a:schemeClr val="tx1"/>
                </a:solidFill>
              </a:rPr>
              <a:t>&lt;0.5% sulfur content</a:t>
            </a:r>
          </a:p>
        </p:txBody>
      </p:sp>
      <p:sp>
        <p:nvSpPr>
          <p:cNvPr id="3" name="Rounded Rectangle 2">
            <a:extLst>
              <a:ext uri="{FF2B5EF4-FFF2-40B4-BE49-F238E27FC236}">
                <a16:creationId xmlns:a16="http://schemas.microsoft.com/office/drawing/2014/main" id="{AE61767A-DEB0-E918-7E7A-7A3DB7D74A77}"/>
              </a:ext>
            </a:extLst>
          </p:cNvPr>
          <p:cNvSpPr/>
          <p:nvPr/>
        </p:nvSpPr>
        <p:spPr>
          <a:xfrm>
            <a:off x="333466" y="1801292"/>
            <a:ext cx="1719940" cy="660016"/>
          </a:xfrm>
          <a:prstGeom prst="roundRect">
            <a:avLst/>
          </a:prstGeom>
          <a:solidFill>
            <a:srgbClr val="1D2C33"/>
          </a:solidFill>
          <a:ln w="285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a:solidFill>
                  <a:schemeClr val="bg1"/>
                </a:solidFill>
              </a:rPr>
              <a:t>General</a:t>
            </a:r>
          </a:p>
        </p:txBody>
      </p:sp>
    </p:spTree>
    <p:extLst>
      <p:ext uri="{BB962C8B-B14F-4D97-AF65-F5344CB8AC3E}">
        <p14:creationId xmlns:p14="http://schemas.microsoft.com/office/powerpoint/2010/main" val="33289516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Pipeline Accidents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260183"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348342" y="1047347"/>
            <a:ext cx="11408227" cy="523220"/>
          </a:xfrm>
          <a:prstGeom prst="rect">
            <a:avLst/>
          </a:prstGeom>
          <a:noFill/>
        </p:spPr>
        <p:txBody>
          <a:bodyPr wrap="square" rtlCol="0">
            <a:spAutoFit/>
          </a:bodyPr>
          <a:lstStyle/>
          <a:p>
            <a:r>
              <a:rPr lang="en-US" sz="1400" dirty="0"/>
              <a:t>Given the nature of crude oil, how could it influence pipeline accidents? Or more specifically, which kind of pipeline accidents could have been caused by the chemical or physical properties of crude oil? </a:t>
            </a:r>
          </a:p>
        </p:txBody>
      </p:sp>
      <p:sp>
        <p:nvSpPr>
          <p:cNvPr id="5" name="Rounded Rectangle 4">
            <a:extLst>
              <a:ext uri="{FF2B5EF4-FFF2-40B4-BE49-F238E27FC236}">
                <a16:creationId xmlns:a16="http://schemas.microsoft.com/office/drawing/2014/main" id="{7236F11A-2FA7-375D-9E94-54621A1D594F}"/>
              </a:ext>
            </a:extLst>
          </p:cNvPr>
          <p:cNvSpPr/>
          <p:nvPr/>
        </p:nvSpPr>
        <p:spPr>
          <a:xfrm>
            <a:off x="348342" y="2339122"/>
            <a:ext cx="2699657" cy="461554"/>
          </a:xfrm>
          <a:prstGeom prst="roundRect">
            <a:avLst/>
          </a:prstGeom>
          <a:noFill/>
          <a:ln w="28575">
            <a:solidFill>
              <a:srgbClr val="6EAE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Reasons for Accidents</a:t>
            </a:r>
          </a:p>
        </p:txBody>
      </p:sp>
      <p:sp>
        <p:nvSpPr>
          <p:cNvPr id="16" name="Rounded Rectangle 15">
            <a:extLst>
              <a:ext uri="{FF2B5EF4-FFF2-40B4-BE49-F238E27FC236}">
                <a16:creationId xmlns:a16="http://schemas.microsoft.com/office/drawing/2014/main" id="{B166792A-1EC3-3B15-10FD-584948C6D2A9}"/>
              </a:ext>
            </a:extLst>
          </p:cNvPr>
          <p:cNvSpPr/>
          <p:nvPr/>
        </p:nvSpPr>
        <p:spPr>
          <a:xfrm>
            <a:off x="613953" y="3042695"/>
            <a:ext cx="2120537" cy="202768"/>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Natural Forces</a:t>
            </a:r>
          </a:p>
        </p:txBody>
      </p:sp>
      <p:sp>
        <p:nvSpPr>
          <p:cNvPr id="17" name="Rounded Rectangle 16">
            <a:extLst>
              <a:ext uri="{FF2B5EF4-FFF2-40B4-BE49-F238E27FC236}">
                <a16:creationId xmlns:a16="http://schemas.microsoft.com/office/drawing/2014/main" id="{F63B97A9-DD9C-7406-9089-0645D63A22F5}"/>
              </a:ext>
            </a:extLst>
          </p:cNvPr>
          <p:cNvSpPr/>
          <p:nvPr/>
        </p:nvSpPr>
        <p:spPr>
          <a:xfrm>
            <a:off x="613953" y="3313424"/>
            <a:ext cx="2120537" cy="202768"/>
          </a:xfrm>
          <a:prstGeom prst="roundRect">
            <a:avLst/>
          </a:prstGeom>
          <a:solidFill>
            <a:schemeClr val="accent6"/>
          </a:solid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Corrosion</a:t>
            </a:r>
          </a:p>
        </p:txBody>
      </p:sp>
      <p:sp>
        <p:nvSpPr>
          <p:cNvPr id="18" name="Rounded Rectangle 17">
            <a:extLst>
              <a:ext uri="{FF2B5EF4-FFF2-40B4-BE49-F238E27FC236}">
                <a16:creationId xmlns:a16="http://schemas.microsoft.com/office/drawing/2014/main" id="{C09DFCA7-23F5-0045-AC07-2B792E02D4A5}"/>
              </a:ext>
            </a:extLst>
          </p:cNvPr>
          <p:cNvSpPr/>
          <p:nvPr/>
        </p:nvSpPr>
        <p:spPr>
          <a:xfrm>
            <a:off x="613952" y="3585918"/>
            <a:ext cx="2120537" cy="202768"/>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Other</a:t>
            </a:r>
          </a:p>
        </p:txBody>
      </p:sp>
      <p:sp>
        <p:nvSpPr>
          <p:cNvPr id="7" name="Rounded Rectangle 6">
            <a:extLst>
              <a:ext uri="{FF2B5EF4-FFF2-40B4-BE49-F238E27FC236}">
                <a16:creationId xmlns:a16="http://schemas.microsoft.com/office/drawing/2014/main" id="{66BD4CF4-938D-B180-0F28-72E73C7AD166}"/>
              </a:ext>
            </a:extLst>
          </p:cNvPr>
          <p:cNvSpPr/>
          <p:nvPr/>
        </p:nvSpPr>
        <p:spPr>
          <a:xfrm>
            <a:off x="766352" y="3738318"/>
            <a:ext cx="2120537" cy="202768"/>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Other</a:t>
            </a:r>
          </a:p>
        </p:txBody>
      </p:sp>
      <p:sp>
        <p:nvSpPr>
          <p:cNvPr id="14" name="Rounded Rectangle 13">
            <a:extLst>
              <a:ext uri="{FF2B5EF4-FFF2-40B4-BE49-F238E27FC236}">
                <a16:creationId xmlns:a16="http://schemas.microsoft.com/office/drawing/2014/main" id="{9F2EB0BA-EFCC-1DAF-AB3B-F957E50FF6C8}"/>
              </a:ext>
            </a:extLst>
          </p:cNvPr>
          <p:cNvSpPr/>
          <p:nvPr/>
        </p:nvSpPr>
        <p:spPr>
          <a:xfrm>
            <a:off x="918752" y="3890718"/>
            <a:ext cx="2120537" cy="202768"/>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Other</a:t>
            </a:r>
          </a:p>
        </p:txBody>
      </p:sp>
      <p:sp>
        <p:nvSpPr>
          <p:cNvPr id="15" name="Rounded Rectangle 14">
            <a:extLst>
              <a:ext uri="{FF2B5EF4-FFF2-40B4-BE49-F238E27FC236}">
                <a16:creationId xmlns:a16="http://schemas.microsoft.com/office/drawing/2014/main" id="{3D563835-0DC5-C8E9-B022-D98134BA22C3}"/>
              </a:ext>
            </a:extLst>
          </p:cNvPr>
          <p:cNvSpPr/>
          <p:nvPr/>
        </p:nvSpPr>
        <p:spPr>
          <a:xfrm>
            <a:off x="1071152" y="4043118"/>
            <a:ext cx="2120537" cy="202768"/>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Other</a:t>
            </a:r>
          </a:p>
        </p:txBody>
      </p:sp>
      <p:sp>
        <p:nvSpPr>
          <p:cNvPr id="19" name="Rounded Rectangle 18">
            <a:extLst>
              <a:ext uri="{FF2B5EF4-FFF2-40B4-BE49-F238E27FC236}">
                <a16:creationId xmlns:a16="http://schemas.microsoft.com/office/drawing/2014/main" id="{0BFF0FA9-C67A-B6C0-3462-A1737D2D8D18}"/>
              </a:ext>
            </a:extLst>
          </p:cNvPr>
          <p:cNvSpPr/>
          <p:nvPr/>
        </p:nvSpPr>
        <p:spPr>
          <a:xfrm>
            <a:off x="1223552" y="4195518"/>
            <a:ext cx="2120537" cy="202768"/>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Other</a:t>
            </a:r>
          </a:p>
        </p:txBody>
      </p:sp>
      <p:sp>
        <p:nvSpPr>
          <p:cNvPr id="20" name="Rounded Rectangle 19">
            <a:extLst>
              <a:ext uri="{FF2B5EF4-FFF2-40B4-BE49-F238E27FC236}">
                <a16:creationId xmlns:a16="http://schemas.microsoft.com/office/drawing/2014/main" id="{B5432187-245C-F418-0A2D-478F7D455A37}"/>
              </a:ext>
            </a:extLst>
          </p:cNvPr>
          <p:cNvSpPr/>
          <p:nvPr/>
        </p:nvSpPr>
        <p:spPr>
          <a:xfrm>
            <a:off x="1375952" y="4347918"/>
            <a:ext cx="2120537" cy="202768"/>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Other</a:t>
            </a:r>
          </a:p>
        </p:txBody>
      </p:sp>
      <p:sp>
        <p:nvSpPr>
          <p:cNvPr id="21" name="Rounded Rectangle 20">
            <a:extLst>
              <a:ext uri="{FF2B5EF4-FFF2-40B4-BE49-F238E27FC236}">
                <a16:creationId xmlns:a16="http://schemas.microsoft.com/office/drawing/2014/main" id="{32EA8B1D-6F86-2AF5-BBBB-60E652F9B664}"/>
              </a:ext>
            </a:extLst>
          </p:cNvPr>
          <p:cNvSpPr/>
          <p:nvPr/>
        </p:nvSpPr>
        <p:spPr>
          <a:xfrm>
            <a:off x="1528352" y="4500318"/>
            <a:ext cx="2120537" cy="202768"/>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Other</a:t>
            </a:r>
          </a:p>
        </p:txBody>
      </p:sp>
      <p:sp>
        <p:nvSpPr>
          <p:cNvPr id="22" name="Rounded Rectangle 21">
            <a:extLst>
              <a:ext uri="{FF2B5EF4-FFF2-40B4-BE49-F238E27FC236}">
                <a16:creationId xmlns:a16="http://schemas.microsoft.com/office/drawing/2014/main" id="{E081E3F9-F84F-8C45-234D-B9961B5B66D5}"/>
              </a:ext>
            </a:extLst>
          </p:cNvPr>
          <p:cNvSpPr/>
          <p:nvPr/>
        </p:nvSpPr>
        <p:spPr>
          <a:xfrm>
            <a:off x="3997232" y="2468514"/>
            <a:ext cx="5433095" cy="1269804"/>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rPr>
              <a:t>- try and get an exhaustive list of pipeline accidents.</a:t>
            </a:r>
          </a:p>
          <a:p>
            <a:r>
              <a:rPr lang="en-US" sz="1200" dirty="0">
                <a:solidFill>
                  <a:schemeClr val="tx1"/>
                </a:solidFill>
              </a:rPr>
              <a:t>- BUT – bucket them into big categories and then break those categories into more specific examples</a:t>
            </a:r>
          </a:p>
          <a:p>
            <a:endParaRPr lang="en-US" sz="1200" dirty="0">
              <a:solidFill>
                <a:schemeClr val="tx1"/>
              </a:solidFill>
            </a:endParaRPr>
          </a:p>
          <a:p>
            <a:r>
              <a:rPr lang="en-US" sz="1200" dirty="0">
                <a:solidFill>
                  <a:schemeClr val="tx1"/>
                </a:solidFill>
              </a:rPr>
              <a:t>- from there, highlight/discuss the ones that could have been caused by a particular substance. </a:t>
            </a:r>
          </a:p>
        </p:txBody>
      </p:sp>
    </p:spTree>
    <p:extLst>
      <p:ext uri="{BB962C8B-B14F-4D97-AF65-F5344CB8AC3E}">
        <p14:creationId xmlns:p14="http://schemas.microsoft.com/office/powerpoint/2010/main" val="16903501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Scope</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260183"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348342" y="1047347"/>
            <a:ext cx="11408227" cy="738664"/>
          </a:xfrm>
          <a:prstGeom prst="rect">
            <a:avLst/>
          </a:prstGeom>
          <a:noFill/>
        </p:spPr>
        <p:txBody>
          <a:bodyPr wrap="square" rtlCol="0">
            <a:spAutoFit/>
          </a:bodyPr>
          <a:lstStyle/>
          <a:p>
            <a:r>
              <a:rPr lang="en-US" sz="1400" dirty="0"/>
              <a:t>Pipelines are used to transfer a variety of materials and accidents can occur for myriad reasons. We want to focus the scope on specifically what components of crude oil (if any) are leading to pipeline accidents. To begin, we have to understand the properties of crude oil, and the different types of pipeline accidents.</a:t>
            </a:r>
          </a:p>
        </p:txBody>
      </p:sp>
      <p:sp>
        <p:nvSpPr>
          <p:cNvPr id="3" name="Rounded Rectangle 2">
            <a:extLst>
              <a:ext uri="{FF2B5EF4-FFF2-40B4-BE49-F238E27FC236}">
                <a16:creationId xmlns:a16="http://schemas.microsoft.com/office/drawing/2014/main" id="{AE61767A-DEB0-E918-7E7A-7A3DB7D74A77}"/>
              </a:ext>
            </a:extLst>
          </p:cNvPr>
          <p:cNvSpPr/>
          <p:nvPr/>
        </p:nvSpPr>
        <p:spPr>
          <a:xfrm>
            <a:off x="348342" y="2046720"/>
            <a:ext cx="2699657" cy="461554"/>
          </a:xfrm>
          <a:prstGeom prst="roundRect">
            <a:avLst/>
          </a:prstGeom>
          <a:noFill/>
          <a:ln w="28575">
            <a:solidFill>
              <a:srgbClr val="6EAE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Crude Oil</a:t>
            </a:r>
          </a:p>
        </p:txBody>
      </p:sp>
      <p:sp>
        <p:nvSpPr>
          <p:cNvPr id="5" name="Rounded Rectangle 4">
            <a:extLst>
              <a:ext uri="{FF2B5EF4-FFF2-40B4-BE49-F238E27FC236}">
                <a16:creationId xmlns:a16="http://schemas.microsoft.com/office/drawing/2014/main" id="{7236F11A-2FA7-375D-9E94-54621A1D594F}"/>
              </a:ext>
            </a:extLst>
          </p:cNvPr>
          <p:cNvSpPr/>
          <p:nvPr/>
        </p:nvSpPr>
        <p:spPr>
          <a:xfrm>
            <a:off x="7186747" y="4177110"/>
            <a:ext cx="2699657" cy="461554"/>
          </a:xfrm>
          <a:prstGeom prst="roundRect">
            <a:avLst/>
          </a:prstGeom>
          <a:noFill/>
          <a:ln w="28575">
            <a:solidFill>
              <a:srgbClr val="6EAEC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Reasons for Accidents</a:t>
            </a:r>
          </a:p>
        </p:txBody>
      </p:sp>
      <p:sp>
        <p:nvSpPr>
          <p:cNvPr id="9" name="Rectangle 8">
            <a:extLst>
              <a:ext uri="{FF2B5EF4-FFF2-40B4-BE49-F238E27FC236}">
                <a16:creationId xmlns:a16="http://schemas.microsoft.com/office/drawing/2014/main" id="{FCE5086E-BC2E-80BC-70CB-D1E3FEF0C1A5}"/>
              </a:ext>
            </a:extLst>
          </p:cNvPr>
          <p:cNvSpPr/>
          <p:nvPr/>
        </p:nvSpPr>
        <p:spPr>
          <a:xfrm>
            <a:off x="489225" y="4211944"/>
            <a:ext cx="1881052" cy="391886"/>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u="sng" dirty="0">
                <a:solidFill>
                  <a:schemeClr val="tx1"/>
                </a:solidFill>
              </a:rPr>
              <a:t>Pipeline Accidents</a:t>
            </a:r>
          </a:p>
        </p:txBody>
      </p:sp>
      <p:sp>
        <p:nvSpPr>
          <p:cNvPr id="10" name="Rectangle 9">
            <a:extLst>
              <a:ext uri="{FF2B5EF4-FFF2-40B4-BE49-F238E27FC236}">
                <a16:creationId xmlns:a16="http://schemas.microsoft.com/office/drawing/2014/main" id="{636D0E5C-832B-9E12-2DFD-71918E49D73D}"/>
              </a:ext>
            </a:extLst>
          </p:cNvPr>
          <p:cNvSpPr/>
          <p:nvPr/>
        </p:nvSpPr>
        <p:spPr>
          <a:xfrm>
            <a:off x="291105" y="2653987"/>
            <a:ext cx="2277292" cy="6915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200" dirty="0">
                <a:solidFill>
                  <a:schemeClr val="tx1"/>
                </a:solidFill>
              </a:rPr>
              <a:t>Crude oils are primarily composed of hydrocarbon gases and liquids. A sample breakdown of Bakken crude oil, considered a light crude oil, is given below. </a:t>
            </a:r>
          </a:p>
        </p:txBody>
      </p:sp>
      <p:sp>
        <p:nvSpPr>
          <p:cNvPr id="11" name="Rounded Rectangle 10">
            <a:extLst>
              <a:ext uri="{FF2B5EF4-FFF2-40B4-BE49-F238E27FC236}">
                <a16:creationId xmlns:a16="http://schemas.microsoft.com/office/drawing/2014/main" id="{B1B6946A-7B92-BB4A-F30B-DD99972B0B82}"/>
              </a:ext>
            </a:extLst>
          </p:cNvPr>
          <p:cNvSpPr/>
          <p:nvPr/>
        </p:nvSpPr>
        <p:spPr>
          <a:xfrm>
            <a:off x="4230187" y="4880683"/>
            <a:ext cx="2120537" cy="202768"/>
          </a:xfrm>
          <a:prstGeom prst="roundRect">
            <a:avLst/>
          </a:prstGeom>
          <a:solidFill>
            <a:schemeClr val="accent6"/>
          </a:solid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Crude Oil</a:t>
            </a:r>
          </a:p>
        </p:txBody>
      </p:sp>
      <p:sp>
        <p:nvSpPr>
          <p:cNvPr id="12" name="Rounded Rectangle 11">
            <a:extLst>
              <a:ext uri="{FF2B5EF4-FFF2-40B4-BE49-F238E27FC236}">
                <a16:creationId xmlns:a16="http://schemas.microsoft.com/office/drawing/2014/main" id="{273B4D9C-7860-1830-6F47-DAA0207D1801}"/>
              </a:ext>
            </a:extLst>
          </p:cNvPr>
          <p:cNvSpPr/>
          <p:nvPr/>
        </p:nvSpPr>
        <p:spPr>
          <a:xfrm>
            <a:off x="4230187" y="5151412"/>
            <a:ext cx="2120537" cy="202768"/>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Natural Gas</a:t>
            </a:r>
          </a:p>
        </p:txBody>
      </p:sp>
      <p:sp>
        <p:nvSpPr>
          <p:cNvPr id="13" name="Rounded Rectangle 12">
            <a:extLst>
              <a:ext uri="{FF2B5EF4-FFF2-40B4-BE49-F238E27FC236}">
                <a16:creationId xmlns:a16="http://schemas.microsoft.com/office/drawing/2014/main" id="{DFC7C04B-39F3-7BF3-01B8-802FE10740CB}"/>
              </a:ext>
            </a:extLst>
          </p:cNvPr>
          <p:cNvSpPr/>
          <p:nvPr/>
        </p:nvSpPr>
        <p:spPr>
          <a:xfrm>
            <a:off x="4230186" y="5423906"/>
            <a:ext cx="2120537" cy="202768"/>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Water</a:t>
            </a:r>
          </a:p>
        </p:txBody>
      </p:sp>
      <p:sp>
        <p:nvSpPr>
          <p:cNvPr id="16" name="Rounded Rectangle 15">
            <a:extLst>
              <a:ext uri="{FF2B5EF4-FFF2-40B4-BE49-F238E27FC236}">
                <a16:creationId xmlns:a16="http://schemas.microsoft.com/office/drawing/2014/main" id="{B166792A-1EC3-3B15-10FD-584948C6D2A9}"/>
              </a:ext>
            </a:extLst>
          </p:cNvPr>
          <p:cNvSpPr/>
          <p:nvPr/>
        </p:nvSpPr>
        <p:spPr>
          <a:xfrm>
            <a:off x="7452358" y="4880683"/>
            <a:ext cx="2120537" cy="202768"/>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Natural Forces</a:t>
            </a:r>
          </a:p>
        </p:txBody>
      </p:sp>
      <p:sp>
        <p:nvSpPr>
          <p:cNvPr id="17" name="Rounded Rectangle 16">
            <a:extLst>
              <a:ext uri="{FF2B5EF4-FFF2-40B4-BE49-F238E27FC236}">
                <a16:creationId xmlns:a16="http://schemas.microsoft.com/office/drawing/2014/main" id="{F63B97A9-DD9C-7406-9089-0645D63A22F5}"/>
              </a:ext>
            </a:extLst>
          </p:cNvPr>
          <p:cNvSpPr/>
          <p:nvPr/>
        </p:nvSpPr>
        <p:spPr>
          <a:xfrm>
            <a:off x="7452358" y="5151412"/>
            <a:ext cx="2120537" cy="202768"/>
          </a:xfrm>
          <a:prstGeom prst="roundRect">
            <a:avLst/>
          </a:prstGeom>
          <a:solidFill>
            <a:schemeClr val="accent6"/>
          </a:solid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Corrosion</a:t>
            </a:r>
          </a:p>
        </p:txBody>
      </p:sp>
      <p:sp>
        <p:nvSpPr>
          <p:cNvPr id="18" name="Rounded Rectangle 17">
            <a:extLst>
              <a:ext uri="{FF2B5EF4-FFF2-40B4-BE49-F238E27FC236}">
                <a16:creationId xmlns:a16="http://schemas.microsoft.com/office/drawing/2014/main" id="{C09DFCA7-23F5-0045-AC07-2B792E02D4A5}"/>
              </a:ext>
            </a:extLst>
          </p:cNvPr>
          <p:cNvSpPr/>
          <p:nvPr/>
        </p:nvSpPr>
        <p:spPr>
          <a:xfrm>
            <a:off x="7452357" y="5423906"/>
            <a:ext cx="2120537" cy="202768"/>
          </a:xfrm>
          <a:prstGeom prst="roundRect">
            <a:avLst/>
          </a:prstGeom>
          <a:noFill/>
          <a:ln>
            <a:solidFill>
              <a:srgbClr val="21344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solidFill>
                  <a:schemeClr val="tx1"/>
                </a:solidFill>
              </a:rPr>
              <a:t>Other</a:t>
            </a:r>
          </a:p>
        </p:txBody>
      </p:sp>
    </p:spTree>
    <p:extLst>
      <p:ext uri="{BB962C8B-B14F-4D97-AF65-F5344CB8AC3E}">
        <p14:creationId xmlns:p14="http://schemas.microsoft.com/office/powerpoint/2010/main" val="17995642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Scope</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DA76F35-D9B8-C9A4-D281-3E7D21973AFB}"/>
              </a:ext>
            </a:extLst>
          </p:cNvPr>
          <p:cNvSpPr txBox="1"/>
          <p:nvPr/>
        </p:nvSpPr>
        <p:spPr>
          <a:xfrm>
            <a:off x="348343" y="1479361"/>
            <a:ext cx="10162903" cy="1938992"/>
          </a:xfrm>
          <a:prstGeom prst="rect">
            <a:avLst/>
          </a:prstGeom>
          <a:noFill/>
        </p:spPr>
        <p:txBody>
          <a:bodyPr wrap="square" rtlCol="0">
            <a:spAutoFit/>
          </a:bodyPr>
          <a:lstStyle/>
          <a:p>
            <a:r>
              <a:rPr lang="en-US" sz="1200" b="1" dirty="0"/>
              <a:t>Pipeline Accidents</a:t>
            </a:r>
          </a:p>
          <a:p>
            <a:r>
              <a:rPr lang="en-US" sz="1200" dirty="0"/>
              <a:t>- Multiple materials (liquids, gases) moved by pipelines, including crude oil, natural gas, etc.</a:t>
            </a:r>
          </a:p>
          <a:p>
            <a:r>
              <a:rPr lang="en-US" sz="1200" dirty="0"/>
              <a:t>- Lots of reasons for pipeline accidents – human error, equipment malfunction, etc.</a:t>
            </a:r>
          </a:p>
          <a:p>
            <a:endParaRPr lang="en-US" sz="1200" dirty="0"/>
          </a:p>
          <a:p>
            <a:r>
              <a:rPr lang="en-US" sz="1200" b="1" dirty="0"/>
              <a:t>Focus of Investigation</a:t>
            </a:r>
          </a:p>
          <a:p>
            <a:r>
              <a:rPr lang="en-US" sz="1200" dirty="0"/>
              <a:t>- Materials</a:t>
            </a:r>
          </a:p>
          <a:p>
            <a:r>
              <a:rPr lang="en-US" sz="1200" dirty="0"/>
              <a:t>	- first look at crude oil vs. everything else to see if there is anything inherent in crude oil</a:t>
            </a:r>
          </a:p>
          <a:p>
            <a:r>
              <a:rPr lang="en-US" sz="1200" dirty="0"/>
              <a:t>	- second look at different properties of crude oil to see if they are having an influence on accidents</a:t>
            </a:r>
          </a:p>
          <a:p>
            <a:r>
              <a:rPr lang="en-US" sz="1200" dirty="0"/>
              <a:t>- Cause of accident - try to focus on accidents that may have been related to the material that they were transporting. This includes flammability, corrosivity, and more… </a:t>
            </a:r>
          </a:p>
        </p:txBody>
      </p:sp>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348343" y="1047347"/>
            <a:ext cx="11625312" cy="523220"/>
          </a:xfrm>
          <a:prstGeom prst="rect">
            <a:avLst/>
          </a:prstGeom>
          <a:noFill/>
        </p:spPr>
        <p:txBody>
          <a:bodyPr wrap="square" rtlCol="0">
            <a:spAutoFit/>
          </a:bodyPr>
          <a:lstStyle/>
          <a:p>
            <a:r>
              <a:rPr lang="en-US" sz="1400" dirty="0"/>
              <a:t>Pipelines are used to transfer a variety of materials and accidents can occur for myriad reasons. We want to focus the scope on specifically what components of crude oil (if any) are leading to pipeline accidents. To begin, we have to understand the properties of crude oil, and the different types of pipeline accidents.</a:t>
            </a:r>
          </a:p>
        </p:txBody>
      </p:sp>
      <p:sp>
        <p:nvSpPr>
          <p:cNvPr id="3" name="Rounded Rectangle 2">
            <a:extLst>
              <a:ext uri="{FF2B5EF4-FFF2-40B4-BE49-F238E27FC236}">
                <a16:creationId xmlns:a16="http://schemas.microsoft.com/office/drawing/2014/main" id="{AE61767A-DEB0-E918-7E7A-7A3DB7D74A77}"/>
              </a:ext>
            </a:extLst>
          </p:cNvPr>
          <p:cNvSpPr/>
          <p:nvPr/>
        </p:nvSpPr>
        <p:spPr>
          <a:xfrm>
            <a:off x="4362994" y="3614057"/>
            <a:ext cx="2699657" cy="4615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Materials Transferred</a:t>
            </a:r>
          </a:p>
        </p:txBody>
      </p:sp>
      <p:sp>
        <p:nvSpPr>
          <p:cNvPr id="5" name="Rounded Rectangle 4">
            <a:extLst>
              <a:ext uri="{FF2B5EF4-FFF2-40B4-BE49-F238E27FC236}">
                <a16:creationId xmlns:a16="http://schemas.microsoft.com/office/drawing/2014/main" id="{7236F11A-2FA7-375D-9E94-54621A1D594F}"/>
              </a:ext>
            </a:extLst>
          </p:cNvPr>
          <p:cNvSpPr/>
          <p:nvPr/>
        </p:nvSpPr>
        <p:spPr>
          <a:xfrm>
            <a:off x="7363096" y="3614057"/>
            <a:ext cx="2699657" cy="461554"/>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Reasons for Accidents</a:t>
            </a:r>
          </a:p>
        </p:txBody>
      </p:sp>
      <p:sp>
        <p:nvSpPr>
          <p:cNvPr id="9" name="Rectangle 8">
            <a:extLst>
              <a:ext uri="{FF2B5EF4-FFF2-40B4-BE49-F238E27FC236}">
                <a16:creationId xmlns:a16="http://schemas.microsoft.com/office/drawing/2014/main" id="{FCE5086E-BC2E-80BC-70CB-D1E3FEF0C1A5}"/>
              </a:ext>
            </a:extLst>
          </p:cNvPr>
          <p:cNvSpPr/>
          <p:nvPr/>
        </p:nvSpPr>
        <p:spPr>
          <a:xfrm>
            <a:off x="1175657" y="4075611"/>
            <a:ext cx="1881052" cy="39188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Pipeline Accidents</a:t>
            </a:r>
          </a:p>
        </p:txBody>
      </p:sp>
      <p:sp>
        <p:nvSpPr>
          <p:cNvPr id="10" name="Rectangle 9">
            <a:extLst>
              <a:ext uri="{FF2B5EF4-FFF2-40B4-BE49-F238E27FC236}">
                <a16:creationId xmlns:a16="http://schemas.microsoft.com/office/drawing/2014/main" id="{636D0E5C-832B-9E12-2DFD-71918E49D73D}"/>
              </a:ext>
            </a:extLst>
          </p:cNvPr>
          <p:cNvSpPr/>
          <p:nvPr/>
        </p:nvSpPr>
        <p:spPr>
          <a:xfrm>
            <a:off x="1014548" y="4754639"/>
            <a:ext cx="2277292" cy="118025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dirty="0"/>
              <a:t>Pipelines are used to transfer a variety of materials and accidents occur for myriad reasons. </a:t>
            </a:r>
          </a:p>
        </p:txBody>
      </p:sp>
    </p:spTree>
    <p:extLst>
      <p:ext uri="{BB962C8B-B14F-4D97-AF65-F5344CB8AC3E}">
        <p14:creationId xmlns:p14="http://schemas.microsoft.com/office/powerpoint/2010/main" val="540882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Approach</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DA76F35-D9B8-C9A4-D281-3E7D21973AFB}"/>
              </a:ext>
            </a:extLst>
          </p:cNvPr>
          <p:cNvSpPr txBox="1"/>
          <p:nvPr/>
        </p:nvSpPr>
        <p:spPr>
          <a:xfrm>
            <a:off x="348343" y="1910250"/>
            <a:ext cx="10162903" cy="2677656"/>
          </a:xfrm>
          <a:prstGeom prst="rect">
            <a:avLst/>
          </a:prstGeom>
          <a:noFill/>
        </p:spPr>
        <p:txBody>
          <a:bodyPr wrap="square" rtlCol="0">
            <a:spAutoFit/>
          </a:bodyPr>
          <a:lstStyle/>
          <a:p>
            <a:r>
              <a:rPr lang="en-US" sz="1200" b="1" dirty="0"/>
              <a:t>About crude oil</a:t>
            </a:r>
          </a:p>
          <a:p>
            <a:r>
              <a:rPr lang="en-US" sz="1200" dirty="0"/>
              <a:t>- made up of hydrocarbons (by weight carbon, some hydrogen)</a:t>
            </a:r>
          </a:p>
          <a:p>
            <a:r>
              <a:rPr lang="en-US" sz="1200" dirty="0"/>
              <a:t>- Physical properties: can be light, medium, or heavy – API gravity</a:t>
            </a:r>
          </a:p>
          <a:p>
            <a:r>
              <a:rPr lang="en-US" sz="1200" dirty="0"/>
              <a:t>- Chemical properties: can be sour or sweet depending on sulfur content</a:t>
            </a:r>
          </a:p>
          <a:p>
            <a:endParaRPr lang="en-US" sz="1200" dirty="0"/>
          </a:p>
          <a:p>
            <a:r>
              <a:rPr lang="en-US" sz="1200" b="1" dirty="0"/>
              <a:t>Hypothesis</a:t>
            </a:r>
          </a:p>
          <a:p>
            <a:r>
              <a:rPr lang="en-US" sz="1200" dirty="0"/>
              <a:t> - sour is more corrosive than sweet</a:t>
            </a:r>
          </a:p>
          <a:p>
            <a:r>
              <a:rPr lang="en-US" sz="1200" dirty="0"/>
              <a:t>- heavier affects how it flows – more pressure and energy required to pump the oil</a:t>
            </a:r>
          </a:p>
          <a:p>
            <a:r>
              <a:rPr lang="en-US" sz="1200" dirty="0"/>
              <a:t>	but light are more flammable</a:t>
            </a:r>
          </a:p>
          <a:p>
            <a:r>
              <a:rPr lang="en-US" sz="1200" dirty="0"/>
              <a:t>Make sure to use this:</a:t>
            </a:r>
          </a:p>
          <a:p>
            <a:r>
              <a:rPr lang="en-US" sz="1200" dirty="0"/>
              <a:t>	</a:t>
            </a:r>
            <a:r>
              <a:rPr lang="en-US" sz="1200" dirty="0">
                <a:hlinkClick r:id="rId3"/>
              </a:rPr>
              <a:t>https://www.epa.gov/emergency-response/types-crude-oil</a:t>
            </a:r>
            <a:endParaRPr lang="en-US" sz="1200" dirty="0"/>
          </a:p>
          <a:p>
            <a:endParaRPr lang="en-US" sz="1200" dirty="0"/>
          </a:p>
          <a:p>
            <a:endParaRPr lang="en-US" sz="1200" dirty="0"/>
          </a:p>
          <a:p>
            <a:r>
              <a:rPr lang="en-US" sz="1200" dirty="0"/>
              <a:t>FUTURE INVESTIGATION: material of pipe</a:t>
            </a:r>
          </a:p>
        </p:txBody>
      </p:sp>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682892" cy="369332"/>
          </a:xfrm>
          <a:prstGeom prst="rect">
            <a:avLst/>
          </a:prstGeom>
          <a:noFill/>
        </p:spPr>
        <p:txBody>
          <a:bodyPr wrap="square" rtlCol="0">
            <a:spAutoFit/>
          </a:bodyPr>
          <a:lstStyle/>
          <a:p>
            <a:r>
              <a:rPr lang="en-US" dirty="0"/>
              <a:t>Investigating properties of crude oil so that a logical approach can be taken to solve the problem. </a:t>
            </a:r>
          </a:p>
        </p:txBody>
      </p:sp>
    </p:spTree>
    <p:extLst>
      <p:ext uri="{BB962C8B-B14F-4D97-AF65-F5344CB8AC3E}">
        <p14:creationId xmlns:p14="http://schemas.microsoft.com/office/powerpoint/2010/main" val="31910560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Datasets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graphicFrame>
        <p:nvGraphicFramePr>
          <p:cNvPr id="7" name="Table 6">
            <a:extLst>
              <a:ext uri="{FF2B5EF4-FFF2-40B4-BE49-F238E27FC236}">
                <a16:creationId xmlns:a16="http://schemas.microsoft.com/office/drawing/2014/main" id="{5E0EA448-18DA-9F51-CD94-1693B1992971}"/>
              </a:ext>
            </a:extLst>
          </p:cNvPr>
          <p:cNvGraphicFramePr>
            <a:graphicFrameLocks noGrp="1"/>
          </p:cNvGraphicFramePr>
          <p:nvPr>
            <p:extLst>
              <p:ext uri="{D42A27DB-BD31-4B8C-83A1-F6EECF244321}">
                <p14:modId xmlns:p14="http://schemas.microsoft.com/office/powerpoint/2010/main" val="57940289"/>
              </p:ext>
            </p:extLst>
          </p:nvPr>
        </p:nvGraphicFramePr>
        <p:xfrm>
          <a:off x="283343" y="2579344"/>
          <a:ext cx="11625313" cy="3627120"/>
        </p:xfrm>
        <a:graphic>
          <a:graphicData uri="http://schemas.openxmlformats.org/drawingml/2006/table">
            <a:tbl>
              <a:tblPr firstRow="1" bandRow="1">
                <a:tableStyleId>{5C22544A-7EE6-4342-B048-85BDC9FD1C3A}</a:tableStyleId>
              </a:tblPr>
              <a:tblGrid>
                <a:gridCol w="1660759">
                  <a:extLst>
                    <a:ext uri="{9D8B030D-6E8A-4147-A177-3AD203B41FA5}">
                      <a16:colId xmlns:a16="http://schemas.microsoft.com/office/drawing/2014/main" val="2211251634"/>
                    </a:ext>
                  </a:extLst>
                </a:gridCol>
                <a:gridCol w="1660759">
                  <a:extLst>
                    <a:ext uri="{9D8B030D-6E8A-4147-A177-3AD203B41FA5}">
                      <a16:colId xmlns:a16="http://schemas.microsoft.com/office/drawing/2014/main" val="3887264379"/>
                    </a:ext>
                  </a:extLst>
                </a:gridCol>
                <a:gridCol w="1660759">
                  <a:extLst>
                    <a:ext uri="{9D8B030D-6E8A-4147-A177-3AD203B41FA5}">
                      <a16:colId xmlns:a16="http://schemas.microsoft.com/office/drawing/2014/main" val="2310699712"/>
                    </a:ext>
                  </a:extLst>
                </a:gridCol>
                <a:gridCol w="1660759">
                  <a:extLst>
                    <a:ext uri="{9D8B030D-6E8A-4147-A177-3AD203B41FA5}">
                      <a16:colId xmlns:a16="http://schemas.microsoft.com/office/drawing/2014/main" val="16386430"/>
                    </a:ext>
                  </a:extLst>
                </a:gridCol>
                <a:gridCol w="1660759">
                  <a:extLst>
                    <a:ext uri="{9D8B030D-6E8A-4147-A177-3AD203B41FA5}">
                      <a16:colId xmlns:a16="http://schemas.microsoft.com/office/drawing/2014/main" val="4140645014"/>
                    </a:ext>
                  </a:extLst>
                </a:gridCol>
                <a:gridCol w="1660759">
                  <a:extLst>
                    <a:ext uri="{9D8B030D-6E8A-4147-A177-3AD203B41FA5}">
                      <a16:colId xmlns:a16="http://schemas.microsoft.com/office/drawing/2014/main" val="1847296050"/>
                    </a:ext>
                  </a:extLst>
                </a:gridCol>
                <a:gridCol w="1660759">
                  <a:extLst>
                    <a:ext uri="{9D8B030D-6E8A-4147-A177-3AD203B41FA5}">
                      <a16:colId xmlns:a16="http://schemas.microsoft.com/office/drawing/2014/main" val="1275319257"/>
                    </a:ext>
                  </a:extLst>
                </a:gridCol>
              </a:tblGrid>
              <a:tr h="0">
                <a:tc>
                  <a:txBody>
                    <a:bodyPr/>
                    <a:lstStyle/>
                    <a:p>
                      <a:r>
                        <a:rPr lang="en-US" sz="1000" dirty="0"/>
                        <a:t>Label</a:t>
                      </a:r>
                    </a:p>
                  </a:txBody>
                  <a:tcPr/>
                </a:tc>
                <a:tc>
                  <a:txBody>
                    <a:bodyPr/>
                    <a:lstStyle/>
                    <a:p>
                      <a:r>
                        <a:rPr lang="en-US" sz="1000" dirty="0"/>
                        <a:t>Dataset Name</a:t>
                      </a:r>
                    </a:p>
                  </a:txBody>
                  <a:tcPr/>
                </a:tc>
                <a:tc>
                  <a:txBody>
                    <a:bodyPr/>
                    <a:lstStyle/>
                    <a:p>
                      <a:r>
                        <a:rPr lang="en-US" sz="1000" dirty="0"/>
                        <a:t>Description</a:t>
                      </a:r>
                    </a:p>
                  </a:txBody>
                  <a:tcPr/>
                </a:tc>
                <a:tc>
                  <a:txBody>
                    <a:bodyPr/>
                    <a:lstStyle/>
                    <a:p>
                      <a:r>
                        <a:rPr lang="en-US" sz="1000" dirty="0"/>
                        <a:t>Country</a:t>
                      </a:r>
                    </a:p>
                  </a:txBody>
                  <a:tcPr/>
                </a:tc>
                <a:tc>
                  <a:txBody>
                    <a:bodyPr/>
                    <a:lstStyle/>
                    <a:p>
                      <a:r>
                        <a:rPr lang="en-US" sz="1000" dirty="0"/>
                        <a:t>Governing Body</a:t>
                      </a:r>
                    </a:p>
                  </a:txBody>
                  <a:tcPr/>
                </a:tc>
                <a:tc>
                  <a:txBody>
                    <a:bodyPr/>
                    <a:lstStyle/>
                    <a:p>
                      <a:r>
                        <a:rPr lang="en-US" sz="1000" dirty="0"/>
                        <a:t>Date Range</a:t>
                      </a:r>
                    </a:p>
                  </a:txBody>
                  <a:tcPr/>
                </a:tc>
                <a:tc>
                  <a:txBody>
                    <a:bodyPr/>
                    <a:lstStyle/>
                    <a:p>
                      <a:r>
                        <a:rPr lang="en-US" sz="1000" dirty="0"/>
                        <a:t># Records</a:t>
                      </a:r>
                    </a:p>
                  </a:txBody>
                  <a:tcPr/>
                </a:tc>
                <a:extLst>
                  <a:ext uri="{0D108BD9-81ED-4DB2-BD59-A6C34878D82A}">
                    <a16:rowId xmlns:a16="http://schemas.microsoft.com/office/drawing/2014/main" val="536057717"/>
                  </a:ext>
                </a:extLst>
              </a:tr>
              <a:tr h="201070">
                <a:tc>
                  <a:txBody>
                    <a:bodyPr/>
                    <a:lstStyle/>
                    <a:p>
                      <a:r>
                        <a:rPr lang="en-US" sz="1000" dirty="0"/>
                        <a:t>A</a:t>
                      </a:r>
                    </a:p>
                  </a:txBody>
                  <a:tcPr/>
                </a:tc>
                <a:tc>
                  <a:txBody>
                    <a:bodyPr/>
                    <a:lstStyle/>
                    <a:p>
                      <a:r>
                        <a:rPr lang="en-US" sz="1000" dirty="0"/>
                        <a:t>Pipeline-incidents-comprehensive-</a:t>
                      </a:r>
                      <a:r>
                        <a:rPr lang="en-US" sz="1000" dirty="0" err="1"/>
                        <a:t>data.csv</a:t>
                      </a:r>
                      <a:endParaRPr lang="en-US" sz="1000" dirty="0"/>
                    </a:p>
                  </a:txBody>
                  <a:tcPr/>
                </a:tc>
                <a:tc>
                  <a:txBody>
                    <a:bodyPr/>
                    <a:lstStyle/>
                    <a:p>
                      <a:r>
                        <a:rPr lang="en-US" sz="1000" dirty="0"/>
                        <a:t>Pipeline incidents as defined by OPR and Processing Plant regulations</a:t>
                      </a:r>
                    </a:p>
                  </a:txBody>
                  <a:tcPr/>
                </a:tc>
                <a:tc>
                  <a:txBody>
                    <a:bodyPr/>
                    <a:lstStyle/>
                    <a:p>
                      <a:r>
                        <a:rPr lang="en-US" sz="1000" dirty="0"/>
                        <a:t>Canada</a:t>
                      </a:r>
                    </a:p>
                  </a:txBody>
                  <a:tcPr/>
                </a:tc>
                <a:tc>
                  <a:txBody>
                    <a:bodyPr/>
                    <a:lstStyle/>
                    <a:p>
                      <a:r>
                        <a:rPr lang="en-US" sz="1000" dirty="0"/>
                        <a:t>CER/ NEB</a:t>
                      </a:r>
                    </a:p>
                  </a:txBody>
                  <a:tcPr/>
                </a:tc>
                <a:tc>
                  <a:txBody>
                    <a:bodyPr/>
                    <a:lstStyle/>
                    <a:p>
                      <a:r>
                        <a:rPr lang="en-US" sz="1000" dirty="0"/>
                        <a:t>2008 to Present</a:t>
                      </a:r>
                    </a:p>
                  </a:txBody>
                  <a:tcPr/>
                </a:tc>
                <a:tc>
                  <a:txBody>
                    <a:bodyPr/>
                    <a:lstStyle/>
                    <a:p>
                      <a:r>
                        <a:rPr lang="en-US" sz="1000" dirty="0"/>
                        <a:t>1856</a:t>
                      </a:r>
                    </a:p>
                  </a:txBody>
                  <a:tcPr/>
                </a:tc>
                <a:extLst>
                  <a:ext uri="{0D108BD9-81ED-4DB2-BD59-A6C34878D82A}">
                    <a16:rowId xmlns:a16="http://schemas.microsoft.com/office/drawing/2014/main" val="3021167467"/>
                  </a:ext>
                </a:extLst>
              </a:tr>
              <a:tr h="201070">
                <a:tc>
                  <a:txBody>
                    <a:bodyPr/>
                    <a:lstStyle/>
                    <a:p>
                      <a:r>
                        <a:rPr lang="en-US" sz="1000" dirty="0"/>
                        <a:t>B</a:t>
                      </a:r>
                    </a:p>
                  </a:txBody>
                  <a:tcPr/>
                </a:tc>
                <a:tc>
                  <a:txBody>
                    <a:bodyPr/>
                    <a:lstStyle/>
                    <a:p>
                      <a:r>
                        <a:rPr lang="en-US" sz="1000" dirty="0" err="1"/>
                        <a:t>PODSdb_MDOTW_VW_OCCURRENCE_PUBLIC.csv</a:t>
                      </a:r>
                      <a:endParaRPr lang="en-US" sz="1000" dirty="0"/>
                    </a:p>
                  </a:txBody>
                  <a:tcPr/>
                </a:tc>
                <a:tc>
                  <a:txBody>
                    <a:bodyPr/>
                    <a:lstStyle/>
                    <a:p>
                      <a:r>
                        <a:rPr lang="en-US" sz="1000" dirty="0"/>
                        <a:t>Incidents at CER-regulated pipelines and facilities as defined by OPR </a:t>
                      </a:r>
                    </a:p>
                  </a:txBody>
                  <a:tcPr/>
                </a:tc>
                <a:tc>
                  <a:txBody>
                    <a:bodyPr/>
                    <a:lstStyle/>
                    <a:p>
                      <a:r>
                        <a:rPr lang="en-US" sz="1000" dirty="0"/>
                        <a:t>Canada</a:t>
                      </a:r>
                    </a:p>
                  </a:txBody>
                  <a:tcPr/>
                </a:tc>
                <a:tc>
                  <a:txBody>
                    <a:bodyPr/>
                    <a:lstStyle/>
                    <a:p>
                      <a:r>
                        <a:rPr lang="en-US" sz="1000" dirty="0"/>
                        <a:t>CER / NEB</a:t>
                      </a:r>
                    </a:p>
                  </a:txBody>
                  <a:tcPr/>
                </a:tc>
                <a:tc>
                  <a:txBody>
                    <a:bodyPr/>
                    <a:lstStyle/>
                    <a:p>
                      <a:r>
                        <a:rPr lang="en-US" sz="1000" dirty="0"/>
                        <a:t>2008 to current</a:t>
                      </a:r>
                    </a:p>
                  </a:txBody>
                  <a:tcPr/>
                </a:tc>
                <a:tc>
                  <a:txBody>
                    <a:bodyPr/>
                    <a:lstStyle/>
                    <a:p>
                      <a:r>
                        <a:rPr lang="en-US" sz="1000" dirty="0"/>
                        <a:t>3265</a:t>
                      </a:r>
                    </a:p>
                  </a:txBody>
                  <a:tcPr/>
                </a:tc>
                <a:extLst>
                  <a:ext uri="{0D108BD9-81ED-4DB2-BD59-A6C34878D82A}">
                    <a16:rowId xmlns:a16="http://schemas.microsoft.com/office/drawing/2014/main" val="687701981"/>
                  </a:ext>
                </a:extLst>
              </a:tr>
              <a:tr h="145217">
                <a:tc>
                  <a:txBody>
                    <a:bodyPr/>
                    <a:lstStyle/>
                    <a:p>
                      <a:r>
                        <a:rPr lang="en-US" sz="1000" dirty="0"/>
                        <a:t>C</a:t>
                      </a:r>
                    </a:p>
                  </a:txBody>
                  <a:tcPr/>
                </a:tc>
                <a:tc>
                  <a:txBody>
                    <a:bodyPr/>
                    <a:lstStyle/>
                    <a:p>
                      <a:r>
                        <a:rPr lang="en-US" sz="1000" dirty="0"/>
                        <a:t>Accident_hazardous_liquid_pre1986.txt</a:t>
                      </a:r>
                    </a:p>
                  </a:txBody>
                  <a:tcPr/>
                </a:tc>
                <a:tc>
                  <a:txBody>
                    <a:bodyPr/>
                    <a:lstStyle/>
                    <a:p>
                      <a:r>
                        <a:rPr lang="en-US" sz="1000" dirty="0"/>
                        <a:t>Incidents within Hazardous Liquid and Carbon Dioxide Pipelines from 1968 to 1985</a:t>
                      </a:r>
                    </a:p>
                  </a:txBody>
                  <a:tcPr/>
                </a:tc>
                <a:tc>
                  <a:txBody>
                    <a:bodyPr/>
                    <a:lstStyle/>
                    <a:p>
                      <a:r>
                        <a:rPr lang="en-US" sz="1000" dirty="0"/>
                        <a:t>USA</a:t>
                      </a:r>
                    </a:p>
                  </a:txBody>
                  <a:tcPr/>
                </a:tc>
                <a:tc>
                  <a:txBody>
                    <a:bodyPr/>
                    <a:lstStyle/>
                    <a:p>
                      <a:r>
                        <a:rPr lang="en-US" sz="1000" dirty="0"/>
                        <a:t>PHMSA</a:t>
                      </a:r>
                    </a:p>
                  </a:txBody>
                  <a:tcPr/>
                </a:tc>
                <a:tc>
                  <a:txBody>
                    <a:bodyPr/>
                    <a:lstStyle/>
                    <a:p>
                      <a:r>
                        <a:rPr lang="en-US" sz="1000" dirty="0"/>
                        <a:t>1968 to 1985</a:t>
                      </a:r>
                    </a:p>
                  </a:txBody>
                  <a:tcPr/>
                </a:tc>
                <a:tc>
                  <a:txBody>
                    <a:bodyPr/>
                    <a:lstStyle/>
                    <a:p>
                      <a:r>
                        <a:rPr lang="en-US" sz="1000" dirty="0"/>
                        <a:t>4734</a:t>
                      </a:r>
                    </a:p>
                  </a:txBody>
                  <a:tcPr/>
                </a:tc>
                <a:extLst>
                  <a:ext uri="{0D108BD9-81ED-4DB2-BD59-A6C34878D82A}">
                    <a16:rowId xmlns:a16="http://schemas.microsoft.com/office/drawing/2014/main" val="3261954188"/>
                  </a:ext>
                </a:extLst>
              </a:tr>
              <a:tr h="145217">
                <a:tc>
                  <a:txBody>
                    <a:bodyPr/>
                    <a:lstStyle/>
                    <a:p>
                      <a:r>
                        <a:rPr lang="en-US" sz="1000" dirty="0"/>
                        <a:t>D</a:t>
                      </a:r>
                    </a:p>
                  </a:txBody>
                  <a:tcPr/>
                </a:tc>
                <a:tc>
                  <a:txBody>
                    <a:bodyPr/>
                    <a:lstStyle/>
                    <a:p>
                      <a:r>
                        <a:rPr lang="en-US" sz="1000" dirty="0"/>
                        <a:t>Accident_hazardous_liquid_1986_jan2002.txt</a:t>
                      </a:r>
                    </a:p>
                  </a:txBody>
                  <a:tcPr/>
                </a:tc>
                <a:tc>
                  <a:txBody>
                    <a:bodyPr/>
                    <a:lstStyle/>
                    <a:p>
                      <a:endParaRPr lang="en-US" sz="1000" dirty="0"/>
                    </a:p>
                  </a:txBody>
                  <a:tcPr/>
                </a:tc>
                <a:tc>
                  <a:txBody>
                    <a:bodyPr/>
                    <a:lstStyle/>
                    <a:p>
                      <a:r>
                        <a:rPr lang="en-US" sz="1000" dirty="0"/>
                        <a:t>USA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PHMSA</a:t>
                      </a:r>
                    </a:p>
                  </a:txBody>
                  <a:tcPr/>
                </a:tc>
                <a:tc>
                  <a:txBody>
                    <a:bodyPr/>
                    <a:lstStyle/>
                    <a:p>
                      <a:r>
                        <a:rPr lang="en-US" sz="1000" dirty="0"/>
                        <a:t>1986 to 2002</a:t>
                      </a:r>
                    </a:p>
                  </a:txBody>
                  <a:tcPr/>
                </a:tc>
                <a:tc>
                  <a:txBody>
                    <a:bodyPr/>
                    <a:lstStyle/>
                    <a:p>
                      <a:r>
                        <a:rPr lang="en-US" sz="1000" dirty="0"/>
                        <a:t>3095</a:t>
                      </a:r>
                    </a:p>
                  </a:txBody>
                  <a:tcPr/>
                </a:tc>
                <a:extLst>
                  <a:ext uri="{0D108BD9-81ED-4DB2-BD59-A6C34878D82A}">
                    <a16:rowId xmlns:a16="http://schemas.microsoft.com/office/drawing/2014/main" val="716426142"/>
                  </a:ext>
                </a:extLst>
              </a:tr>
              <a:tr h="145217">
                <a:tc>
                  <a:txBody>
                    <a:bodyPr/>
                    <a:lstStyle/>
                    <a:p>
                      <a:r>
                        <a:rPr lang="en-US" sz="1000" dirty="0"/>
                        <a:t>E</a:t>
                      </a:r>
                    </a:p>
                  </a:txBody>
                  <a:tcPr/>
                </a:tc>
                <a:tc>
                  <a:txBody>
                    <a:bodyPr/>
                    <a:lstStyle/>
                    <a:p>
                      <a:r>
                        <a:rPr lang="en-US" sz="1000" dirty="0"/>
                        <a:t>Accident_hazardous_liquid_jan2002_dec2009</a:t>
                      </a:r>
                    </a:p>
                  </a:txBody>
                  <a:tcPr/>
                </a:tc>
                <a:tc>
                  <a:txBody>
                    <a:bodyPr/>
                    <a:lstStyle/>
                    <a:p>
                      <a:endParaRPr lang="en-US" sz="1000" dirty="0"/>
                    </a:p>
                  </a:txBody>
                  <a:tcPr/>
                </a:tc>
                <a:tc>
                  <a:txBody>
                    <a:bodyPr/>
                    <a:lstStyle/>
                    <a:p>
                      <a:r>
                        <a:rPr lang="en-US" sz="1000" dirty="0"/>
                        <a:t>USA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PHMSA</a:t>
                      </a:r>
                    </a:p>
                  </a:txBody>
                  <a:tcPr/>
                </a:tc>
                <a:tc>
                  <a:txBody>
                    <a:bodyPr/>
                    <a:lstStyle/>
                    <a:p>
                      <a:r>
                        <a:rPr lang="en-US" sz="1000" dirty="0"/>
                        <a:t>2002 to 2009</a:t>
                      </a:r>
                    </a:p>
                  </a:txBody>
                  <a:tcPr/>
                </a:tc>
                <a:tc>
                  <a:txBody>
                    <a:bodyPr/>
                    <a:lstStyle/>
                    <a:p>
                      <a:r>
                        <a:rPr lang="en-US" sz="1000" dirty="0"/>
                        <a:t>3031</a:t>
                      </a:r>
                    </a:p>
                  </a:txBody>
                  <a:tcPr/>
                </a:tc>
                <a:extLst>
                  <a:ext uri="{0D108BD9-81ED-4DB2-BD59-A6C34878D82A}">
                    <a16:rowId xmlns:a16="http://schemas.microsoft.com/office/drawing/2014/main" val="3728517201"/>
                  </a:ext>
                </a:extLst>
              </a:tr>
              <a:tr h="145217">
                <a:tc>
                  <a:txBody>
                    <a:bodyPr/>
                    <a:lstStyle/>
                    <a:p>
                      <a:r>
                        <a:rPr lang="en-US" sz="1000" dirty="0"/>
                        <a:t>F</a:t>
                      </a:r>
                    </a:p>
                  </a:txBody>
                  <a:tcPr/>
                </a:tc>
                <a:tc>
                  <a:txBody>
                    <a:bodyPr/>
                    <a:lstStyle/>
                    <a:p>
                      <a:r>
                        <a:rPr lang="en-US" sz="1000" dirty="0"/>
                        <a:t>Accident_hazardous_liquid_jan2010_present</a:t>
                      </a:r>
                    </a:p>
                  </a:txBody>
                  <a:tcPr/>
                </a:tc>
                <a:tc>
                  <a:txBody>
                    <a:bodyPr/>
                    <a:lstStyle/>
                    <a:p>
                      <a:endParaRPr lang="en-US" sz="1000" dirty="0"/>
                    </a:p>
                  </a:txBody>
                  <a:tcPr/>
                </a:tc>
                <a:tc>
                  <a:txBody>
                    <a:bodyPr/>
                    <a:lstStyle/>
                    <a:p>
                      <a:r>
                        <a:rPr lang="en-US" sz="1000" dirty="0"/>
                        <a:t>USA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PHMSA</a:t>
                      </a:r>
                    </a:p>
                  </a:txBody>
                  <a:tcPr/>
                </a:tc>
                <a:tc>
                  <a:txBody>
                    <a:bodyPr/>
                    <a:lstStyle/>
                    <a:p>
                      <a:r>
                        <a:rPr lang="en-US" sz="1000" dirty="0"/>
                        <a:t>2010 to 2023</a:t>
                      </a:r>
                    </a:p>
                  </a:txBody>
                  <a:tcPr/>
                </a:tc>
                <a:tc>
                  <a:txBody>
                    <a:bodyPr/>
                    <a:lstStyle/>
                    <a:p>
                      <a:r>
                        <a:rPr lang="en-US" sz="1000" dirty="0"/>
                        <a:t>5248</a:t>
                      </a:r>
                    </a:p>
                  </a:txBody>
                  <a:tcPr/>
                </a:tc>
                <a:extLst>
                  <a:ext uri="{0D108BD9-81ED-4DB2-BD59-A6C34878D82A}">
                    <a16:rowId xmlns:a16="http://schemas.microsoft.com/office/drawing/2014/main" val="3292624838"/>
                  </a:ext>
                </a:extLst>
              </a:tr>
              <a:tr h="145217">
                <a:tc>
                  <a:txBody>
                    <a:bodyPr/>
                    <a:lstStyle/>
                    <a:p>
                      <a:r>
                        <a:rPr lang="en-US" sz="1000" dirty="0"/>
                        <a:t>G</a:t>
                      </a:r>
                    </a:p>
                  </a:txBody>
                  <a:tcPr/>
                </a:tc>
                <a:tc>
                  <a:txBody>
                    <a:bodyPr/>
                    <a:lstStyle/>
                    <a:p>
                      <a:r>
                        <a:rPr lang="en-US" sz="1000" dirty="0"/>
                        <a:t>Accident_gravity_reporting_regulated_jul2020_present.txt</a:t>
                      </a:r>
                    </a:p>
                  </a:txBody>
                  <a:tcPr/>
                </a:tc>
                <a:tc>
                  <a:txBody>
                    <a:bodyPr/>
                    <a:lstStyle/>
                    <a:p>
                      <a:endParaRPr lang="en-US" sz="1000" dirty="0"/>
                    </a:p>
                  </a:txBody>
                  <a:tcPr/>
                </a:tc>
                <a:tc>
                  <a:txBody>
                    <a:bodyPr/>
                    <a:lstStyle/>
                    <a:p>
                      <a:r>
                        <a:rPr lang="en-US" sz="1000" dirty="0"/>
                        <a:t>USA</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PHMSA</a:t>
                      </a:r>
                    </a:p>
                  </a:txBody>
                  <a:tcPr/>
                </a:tc>
                <a:tc>
                  <a:txBody>
                    <a:bodyPr/>
                    <a:lstStyle/>
                    <a:p>
                      <a:r>
                        <a:rPr lang="en-US" sz="1000" dirty="0"/>
                        <a:t>2021 to 2023</a:t>
                      </a:r>
                    </a:p>
                  </a:txBody>
                  <a:tcPr/>
                </a:tc>
                <a:tc>
                  <a:txBody>
                    <a:bodyPr/>
                    <a:lstStyle/>
                    <a:p>
                      <a:r>
                        <a:rPr lang="en-US" sz="1000" dirty="0"/>
                        <a:t>297</a:t>
                      </a:r>
                    </a:p>
                  </a:txBody>
                  <a:tcPr/>
                </a:tc>
                <a:extLst>
                  <a:ext uri="{0D108BD9-81ED-4DB2-BD59-A6C34878D82A}">
                    <a16:rowId xmlns:a16="http://schemas.microsoft.com/office/drawing/2014/main" val="3448899204"/>
                  </a:ext>
                </a:extLst>
              </a:tr>
            </a:tbl>
          </a:graphicData>
        </a:graphic>
      </p:graphicFrame>
      <p:sp>
        <p:nvSpPr>
          <p:cNvPr id="10" name="TextBox 9">
            <a:extLst>
              <a:ext uri="{FF2B5EF4-FFF2-40B4-BE49-F238E27FC236}">
                <a16:creationId xmlns:a16="http://schemas.microsoft.com/office/drawing/2014/main" id="{AA4CAC90-F79F-0BA2-D247-C3D2F561EB5F}"/>
              </a:ext>
            </a:extLst>
          </p:cNvPr>
          <p:cNvSpPr txBox="1"/>
          <p:nvPr/>
        </p:nvSpPr>
        <p:spPr>
          <a:xfrm>
            <a:off x="290763" y="1047347"/>
            <a:ext cx="11682892" cy="369332"/>
          </a:xfrm>
          <a:prstGeom prst="rect">
            <a:avLst/>
          </a:prstGeom>
          <a:noFill/>
        </p:spPr>
        <p:txBody>
          <a:bodyPr wrap="square" rtlCol="0">
            <a:spAutoFit/>
          </a:bodyPr>
          <a:lstStyle/>
          <a:p>
            <a:r>
              <a:rPr lang="en-US" dirty="0"/>
              <a:t>Exploring potential datasets to see which will be most beneficial for our exploration and analysis. +data dictionaries</a:t>
            </a:r>
          </a:p>
        </p:txBody>
      </p:sp>
      <p:sp>
        <p:nvSpPr>
          <p:cNvPr id="11" name="TextBox 10">
            <a:extLst>
              <a:ext uri="{FF2B5EF4-FFF2-40B4-BE49-F238E27FC236}">
                <a16:creationId xmlns:a16="http://schemas.microsoft.com/office/drawing/2014/main" id="{F1947413-E90C-20F9-0EA3-F1A1296BA622}"/>
              </a:ext>
            </a:extLst>
          </p:cNvPr>
          <p:cNvSpPr txBox="1"/>
          <p:nvPr/>
        </p:nvSpPr>
        <p:spPr>
          <a:xfrm>
            <a:off x="290762" y="1560686"/>
            <a:ext cx="11682892" cy="707886"/>
          </a:xfrm>
          <a:prstGeom prst="rect">
            <a:avLst/>
          </a:prstGeom>
          <a:noFill/>
        </p:spPr>
        <p:txBody>
          <a:bodyPr wrap="square" rtlCol="0">
            <a:spAutoFit/>
          </a:bodyPr>
          <a:lstStyle/>
          <a:p>
            <a:r>
              <a:rPr lang="en-US" sz="1000" dirty="0"/>
              <a:t>Onshore Pipeline Regulations: OPR</a:t>
            </a:r>
          </a:p>
          <a:p>
            <a:r>
              <a:rPr lang="en-US" sz="1000" dirty="0"/>
              <a:t>Canada Energy Regulator: CER</a:t>
            </a:r>
          </a:p>
          <a:p>
            <a:r>
              <a:rPr lang="en-US" sz="1000" dirty="0"/>
              <a:t>National Energy Board: NEB</a:t>
            </a:r>
          </a:p>
          <a:p>
            <a:r>
              <a:rPr lang="en-US" sz="1000" dirty="0"/>
              <a:t>Pipeline and Hazardous Materials Safety Administration: PHMSA</a:t>
            </a:r>
          </a:p>
        </p:txBody>
      </p:sp>
      <p:sp>
        <p:nvSpPr>
          <p:cNvPr id="12" name="TextBox 11">
            <a:extLst>
              <a:ext uri="{FF2B5EF4-FFF2-40B4-BE49-F238E27FC236}">
                <a16:creationId xmlns:a16="http://schemas.microsoft.com/office/drawing/2014/main" id="{6CA47C6D-7433-1D20-BA00-C3D30C0A9390}"/>
              </a:ext>
            </a:extLst>
          </p:cNvPr>
          <p:cNvSpPr txBox="1"/>
          <p:nvPr/>
        </p:nvSpPr>
        <p:spPr>
          <a:xfrm>
            <a:off x="2942521" y="1469571"/>
            <a:ext cx="8178325" cy="246221"/>
          </a:xfrm>
          <a:prstGeom prst="rect">
            <a:avLst/>
          </a:prstGeom>
          <a:noFill/>
        </p:spPr>
        <p:txBody>
          <a:bodyPr wrap="square" rtlCol="0">
            <a:spAutoFit/>
          </a:bodyPr>
          <a:lstStyle/>
          <a:p>
            <a:r>
              <a:rPr lang="en-US" sz="1000" dirty="0"/>
              <a:t>*Omitting pipeline transportation occurrence data from Jan 1979 as the TSB does not warrant the quality, accuracy, reliability or completeness of its data</a:t>
            </a:r>
          </a:p>
        </p:txBody>
      </p:sp>
    </p:spTree>
    <p:extLst>
      <p:ext uri="{BB962C8B-B14F-4D97-AF65-F5344CB8AC3E}">
        <p14:creationId xmlns:p14="http://schemas.microsoft.com/office/powerpoint/2010/main" val="19513432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Datasets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graphicFrame>
        <p:nvGraphicFramePr>
          <p:cNvPr id="3" name="Table 2">
            <a:extLst>
              <a:ext uri="{FF2B5EF4-FFF2-40B4-BE49-F238E27FC236}">
                <a16:creationId xmlns:a16="http://schemas.microsoft.com/office/drawing/2014/main" id="{7EA89493-B280-E2EC-EADD-BC7216EF5F76}"/>
              </a:ext>
            </a:extLst>
          </p:cNvPr>
          <p:cNvGraphicFramePr>
            <a:graphicFrameLocks noGrp="1"/>
          </p:cNvGraphicFramePr>
          <p:nvPr>
            <p:extLst>
              <p:ext uri="{D42A27DB-BD31-4B8C-83A1-F6EECF244321}">
                <p14:modId xmlns:p14="http://schemas.microsoft.com/office/powerpoint/2010/main" val="2241875843"/>
              </p:ext>
            </p:extLst>
          </p:nvPr>
        </p:nvGraphicFramePr>
        <p:xfrm>
          <a:off x="348343" y="1854926"/>
          <a:ext cx="10493830" cy="4389120"/>
        </p:xfrm>
        <a:graphic>
          <a:graphicData uri="http://schemas.openxmlformats.org/drawingml/2006/table">
            <a:tbl>
              <a:tblPr firstRow="1" bandRow="1">
                <a:tableStyleId>{5C22544A-7EE6-4342-B048-85BDC9FD1C3A}</a:tableStyleId>
              </a:tblPr>
              <a:tblGrid>
                <a:gridCol w="2098766">
                  <a:extLst>
                    <a:ext uri="{9D8B030D-6E8A-4147-A177-3AD203B41FA5}">
                      <a16:colId xmlns:a16="http://schemas.microsoft.com/office/drawing/2014/main" val="1202839457"/>
                    </a:ext>
                  </a:extLst>
                </a:gridCol>
                <a:gridCol w="2098766">
                  <a:extLst>
                    <a:ext uri="{9D8B030D-6E8A-4147-A177-3AD203B41FA5}">
                      <a16:colId xmlns:a16="http://schemas.microsoft.com/office/drawing/2014/main" val="4222257465"/>
                    </a:ext>
                  </a:extLst>
                </a:gridCol>
                <a:gridCol w="2098766">
                  <a:extLst>
                    <a:ext uri="{9D8B030D-6E8A-4147-A177-3AD203B41FA5}">
                      <a16:colId xmlns:a16="http://schemas.microsoft.com/office/drawing/2014/main" val="3530916901"/>
                    </a:ext>
                  </a:extLst>
                </a:gridCol>
                <a:gridCol w="2098766">
                  <a:extLst>
                    <a:ext uri="{9D8B030D-6E8A-4147-A177-3AD203B41FA5}">
                      <a16:colId xmlns:a16="http://schemas.microsoft.com/office/drawing/2014/main" val="3655148647"/>
                    </a:ext>
                  </a:extLst>
                </a:gridCol>
                <a:gridCol w="2098766">
                  <a:extLst>
                    <a:ext uri="{9D8B030D-6E8A-4147-A177-3AD203B41FA5}">
                      <a16:colId xmlns:a16="http://schemas.microsoft.com/office/drawing/2014/main" val="3534968921"/>
                    </a:ext>
                  </a:extLst>
                </a:gridCol>
              </a:tblGrid>
              <a:tr h="122933">
                <a:tc>
                  <a:txBody>
                    <a:bodyPr/>
                    <a:lstStyle/>
                    <a:p>
                      <a:r>
                        <a:rPr lang="en-US" sz="1000" dirty="0"/>
                        <a:t>Label</a:t>
                      </a:r>
                    </a:p>
                  </a:txBody>
                  <a:tcPr/>
                </a:tc>
                <a:tc>
                  <a:txBody>
                    <a:bodyPr/>
                    <a:lstStyle/>
                    <a:p>
                      <a:r>
                        <a:rPr lang="en-US" sz="1000" dirty="0"/>
                        <a:t>Crude Oil Types</a:t>
                      </a:r>
                    </a:p>
                  </a:txBody>
                  <a:tcPr/>
                </a:tc>
                <a:tc>
                  <a:txBody>
                    <a:bodyPr/>
                    <a:lstStyle/>
                    <a:p>
                      <a:r>
                        <a:rPr lang="en-US" sz="1000" dirty="0"/>
                        <a:t>Weight-specific info?</a:t>
                      </a:r>
                    </a:p>
                  </a:txBody>
                  <a:tcPr/>
                </a:tc>
                <a:tc>
                  <a:txBody>
                    <a:bodyPr/>
                    <a:lstStyle/>
                    <a:p>
                      <a:r>
                        <a:rPr lang="en-US" sz="1000" dirty="0"/>
                        <a:t>Sulfur-specific info? </a:t>
                      </a:r>
                    </a:p>
                  </a:txBody>
                  <a:tcPr/>
                </a:tc>
                <a:tc>
                  <a:txBody>
                    <a:bodyPr/>
                    <a:lstStyle/>
                    <a:p>
                      <a:r>
                        <a:rPr lang="en-US" sz="1000" dirty="0"/>
                        <a:t>Accident-specific info</a:t>
                      </a:r>
                    </a:p>
                  </a:txBody>
                  <a:tcPr/>
                </a:tc>
                <a:extLst>
                  <a:ext uri="{0D108BD9-81ED-4DB2-BD59-A6C34878D82A}">
                    <a16:rowId xmlns:a16="http://schemas.microsoft.com/office/drawing/2014/main" val="3767179623"/>
                  </a:ext>
                </a:extLst>
              </a:tr>
              <a:tr h="139945">
                <a:tc>
                  <a:txBody>
                    <a:bodyPr/>
                    <a:lstStyle/>
                    <a:p>
                      <a:r>
                        <a:rPr lang="en-US" sz="1000" dirty="0"/>
                        <a:t>A</a:t>
                      </a:r>
                    </a:p>
                  </a:txBody>
                  <a:tcPr/>
                </a:tc>
                <a:tc>
                  <a:txBody>
                    <a:bodyPr/>
                    <a:lstStyle/>
                    <a:p>
                      <a:r>
                        <a:rPr lang="en-US" sz="1000" dirty="0"/>
                        <a:t>Crude Oil, Crude Oil (Heavy, Light, Sour, and Sweet)</a:t>
                      </a:r>
                    </a:p>
                  </a:txBody>
                  <a:tcPr/>
                </a:tc>
                <a:tc>
                  <a:txBody>
                    <a:bodyPr/>
                    <a:lstStyle/>
                    <a:p>
                      <a:r>
                        <a:rPr lang="en-US" sz="1000" dirty="0"/>
                        <a:t>No</a:t>
                      </a:r>
                    </a:p>
                  </a:txBody>
                  <a:tcPr/>
                </a:tc>
                <a:tc>
                  <a:txBody>
                    <a:bodyPr/>
                    <a:lstStyle/>
                    <a:p>
                      <a:r>
                        <a:rPr lang="en-US" sz="1000" dirty="0"/>
                        <a:t>Sour vs. sweet</a:t>
                      </a:r>
                    </a:p>
                  </a:txBody>
                  <a:tcPr/>
                </a:tc>
                <a:tc>
                  <a:txBody>
                    <a:bodyPr/>
                    <a:lstStyle/>
                    <a:p>
                      <a:r>
                        <a:rPr lang="en-US" sz="1000" dirty="0"/>
                        <a:t>What happened: damage, deterioration, construction, etc.; incident type: fire, release of substance, etc.</a:t>
                      </a:r>
                    </a:p>
                  </a:txBody>
                  <a:tcPr>
                    <a:noFill/>
                  </a:tcPr>
                </a:tc>
                <a:extLst>
                  <a:ext uri="{0D108BD9-81ED-4DB2-BD59-A6C34878D82A}">
                    <a16:rowId xmlns:a16="http://schemas.microsoft.com/office/drawing/2014/main" val="714267587"/>
                  </a:ext>
                </a:extLst>
              </a:tr>
              <a:tr h="156444">
                <a:tc>
                  <a:txBody>
                    <a:bodyPr/>
                    <a:lstStyle/>
                    <a:p>
                      <a:r>
                        <a:rPr lang="en-US" sz="1000" dirty="0"/>
                        <a:t>B</a:t>
                      </a:r>
                    </a:p>
                  </a:txBody>
                  <a:tcPr/>
                </a:tc>
                <a:tc>
                  <a:txBody>
                    <a:bodyPr/>
                    <a:lstStyle/>
                    <a:p>
                      <a:r>
                        <a:rPr lang="en-US" sz="1000" dirty="0"/>
                        <a:t>Crude Oil, Crude Oil-Sour</a:t>
                      </a:r>
                    </a:p>
                  </a:txBody>
                  <a:tcPr/>
                </a:tc>
                <a:tc>
                  <a:txBody>
                    <a:bodyPr/>
                    <a:lstStyle/>
                    <a:p>
                      <a:r>
                        <a:rPr lang="en-US" sz="1000" dirty="0"/>
                        <a:t>No</a:t>
                      </a:r>
                    </a:p>
                  </a:txBody>
                  <a:tcPr/>
                </a:tc>
                <a:tc>
                  <a:txBody>
                    <a:bodyPr/>
                    <a:lstStyle/>
                    <a:p>
                      <a:r>
                        <a:rPr lang="en-US" sz="1000" dirty="0"/>
                        <a:t>Sour vs. not sour</a:t>
                      </a:r>
                    </a:p>
                  </a:txBody>
                  <a:tcPr/>
                </a:tc>
                <a:tc>
                  <a:txBody>
                    <a:bodyPr/>
                    <a:lstStyle/>
                    <a:p>
                      <a:r>
                        <a:rPr lang="en-US" sz="1000" dirty="0"/>
                        <a:t>Classification of Occurrence (encoded); occurrence summary</a:t>
                      </a:r>
                    </a:p>
                  </a:txBody>
                  <a:tcPr>
                    <a:noFill/>
                  </a:tcPr>
                </a:tc>
                <a:extLst>
                  <a:ext uri="{0D108BD9-81ED-4DB2-BD59-A6C34878D82A}">
                    <a16:rowId xmlns:a16="http://schemas.microsoft.com/office/drawing/2014/main" val="2006049966"/>
                  </a:ext>
                </a:extLst>
              </a:tr>
              <a:tr h="0">
                <a:tc>
                  <a:txBody>
                    <a:bodyPr/>
                    <a:lstStyle/>
                    <a:p>
                      <a:r>
                        <a:rPr lang="en-US" sz="1000" dirty="0"/>
                        <a:t>C</a:t>
                      </a:r>
                    </a:p>
                  </a:txBody>
                  <a:tcPr/>
                </a:tc>
                <a:tc>
                  <a:txBody>
                    <a:bodyPr/>
                    <a:lstStyle/>
                    <a:p>
                      <a:r>
                        <a:rPr lang="en-US" sz="1000" dirty="0"/>
                        <a:t>Crude Oil</a:t>
                      </a:r>
                    </a:p>
                  </a:txBody>
                  <a:tcPr/>
                </a:tc>
                <a:tc>
                  <a:txBody>
                    <a:bodyPr/>
                    <a:lstStyle/>
                    <a:p>
                      <a:r>
                        <a:rPr lang="en-US" sz="1000" dirty="0"/>
                        <a:t>No</a:t>
                      </a:r>
                    </a:p>
                  </a:txBody>
                  <a:tcPr/>
                </a:tc>
                <a:tc>
                  <a:txBody>
                    <a:bodyPr/>
                    <a:lstStyle/>
                    <a:p>
                      <a:r>
                        <a:rPr lang="en-US" sz="1000" dirty="0"/>
                        <a:t>No</a:t>
                      </a:r>
                    </a:p>
                  </a:txBody>
                  <a:tcPr/>
                </a:tc>
                <a:tc>
                  <a:txBody>
                    <a:bodyPr/>
                    <a:lstStyle/>
                    <a:p>
                      <a:r>
                        <a:rPr lang="en-US" sz="1000" dirty="0"/>
                        <a:t>PRIMARY_CAUSE: corrosion, equipment, defective pipe, etc.</a:t>
                      </a:r>
                    </a:p>
                  </a:txBody>
                  <a:tcPr>
                    <a:noFill/>
                  </a:tcPr>
                </a:tc>
                <a:extLst>
                  <a:ext uri="{0D108BD9-81ED-4DB2-BD59-A6C34878D82A}">
                    <a16:rowId xmlns:a16="http://schemas.microsoft.com/office/drawing/2014/main" val="2065673178"/>
                  </a:ext>
                </a:extLst>
              </a:tr>
              <a:tr h="0">
                <a:tc>
                  <a:txBody>
                    <a:bodyPr/>
                    <a:lstStyle/>
                    <a:p>
                      <a:r>
                        <a:rPr lang="en-US" sz="1000" dirty="0"/>
                        <a:t>D</a:t>
                      </a:r>
                    </a:p>
                  </a:txBody>
                  <a:tcPr/>
                </a:tc>
                <a:tc>
                  <a:txBody>
                    <a:bodyPr/>
                    <a:lstStyle/>
                    <a:p>
                      <a:r>
                        <a:rPr lang="en-US" sz="1000" dirty="0"/>
                        <a:t>Crude Oil</a:t>
                      </a:r>
                    </a:p>
                  </a:txBody>
                  <a:tcPr/>
                </a:tc>
                <a:tc>
                  <a:txBody>
                    <a:bodyPr/>
                    <a:lstStyle/>
                    <a:p>
                      <a:r>
                        <a:rPr lang="en-US" sz="1000" dirty="0"/>
                        <a:t>No</a:t>
                      </a:r>
                    </a:p>
                  </a:txBody>
                  <a:tcPr/>
                </a:tc>
                <a:tc>
                  <a:txBody>
                    <a:bodyPr/>
                    <a:lstStyle/>
                    <a:p>
                      <a:r>
                        <a:rPr lang="en-US" sz="1000" dirty="0"/>
                        <a:t>No</a:t>
                      </a:r>
                    </a:p>
                  </a:txBody>
                  <a:tcPr/>
                </a:tc>
                <a:tc>
                  <a:txBody>
                    <a:bodyPr/>
                    <a:lstStyle/>
                    <a:p>
                      <a:r>
                        <a:rPr lang="en-US" sz="1000" dirty="0"/>
                        <a:t>CAUS: corrosion, failed pipe, malfunction, etc. ; CAUSO: breakdown of CAUS; NARRATIVE</a:t>
                      </a:r>
                    </a:p>
                  </a:txBody>
                  <a:tcPr/>
                </a:tc>
                <a:extLst>
                  <a:ext uri="{0D108BD9-81ED-4DB2-BD59-A6C34878D82A}">
                    <a16:rowId xmlns:a16="http://schemas.microsoft.com/office/drawing/2014/main" val="2518064417"/>
                  </a:ext>
                </a:extLst>
              </a:tr>
              <a:tr h="0">
                <a:tc>
                  <a:txBody>
                    <a:bodyPr/>
                    <a:lstStyle/>
                    <a:p>
                      <a:r>
                        <a:rPr lang="en-US" sz="1000" dirty="0"/>
                        <a:t>E</a:t>
                      </a:r>
                    </a:p>
                  </a:txBody>
                  <a:tcPr/>
                </a:tc>
                <a:tc>
                  <a:txBody>
                    <a:bodyPr/>
                    <a:lstStyle/>
                    <a:p>
                      <a:r>
                        <a:rPr lang="en-US" sz="1000" dirty="0"/>
                        <a:t>Crude Oil, Crude Oil Heavy, Crude Oil Sour, Crude Oil / Location, and more</a:t>
                      </a:r>
                    </a:p>
                  </a:txBody>
                  <a:tcPr/>
                </a:tc>
                <a:tc>
                  <a:txBody>
                    <a:bodyPr/>
                    <a:lstStyle/>
                    <a:p>
                      <a:r>
                        <a:rPr lang="en-US" sz="1000" dirty="0"/>
                        <a:t>Not explicitly; can be roughly extrapolated</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000" dirty="0"/>
                        <a:t>Not explicitly; can be roughly extrapolated</a:t>
                      </a:r>
                    </a:p>
                  </a:txBody>
                  <a:tcPr/>
                </a:tc>
                <a:tc>
                  <a:txBody>
                    <a:bodyPr/>
                    <a:lstStyle/>
                    <a:p>
                      <a:r>
                        <a:rPr lang="en-US" sz="1000" dirty="0"/>
                        <a:t>Small spills: GEN_CAUSE (equipment, corrosion, etc.)</a:t>
                      </a:r>
                    </a:p>
                    <a:p>
                      <a:r>
                        <a:rPr lang="en-US" sz="1000" dirty="0"/>
                        <a:t>Big spills: CAUSE (more detailed than small spills); NARRATIVE</a:t>
                      </a:r>
                    </a:p>
                  </a:txBody>
                  <a:tcPr/>
                </a:tc>
                <a:extLst>
                  <a:ext uri="{0D108BD9-81ED-4DB2-BD59-A6C34878D82A}">
                    <a16:rowId xmlns:a16="http://schemas.microsoft.com/office/drawing/2014/main" val="964204434"/>
                  </a:ext>
                </a:extLst>
              </a:tr>
              <a:tr h="0">
                <a:tc>
                  <a:txBody>
                    <a:bodyPr/>
                    <a:lstStyle/>
                    <a:p>
                      <a:r>
                        <a:rPr lang="en-US" sz="1000" dirty="0"/>
                        <a:t>F</a:t>
                      </a:r>
                    </a:p>
                  </a:txBody>
                  <a:tcPr/>
                </a:tc>
                <a:tc>
                  <a:txBody>
                    <a:bodyPr/>
                    <a:lstStyle/>
                    <a:p>
                      <a:r>
                        <a:rPr lang="en-US" sz="1000" dirty="0"/>
                        <a:t>Crude Oil</a:t>
                      </a:r>
                    </a:p>
                  </a:txBody>
                  <a:tcPr/>
                </a:tc>
                <a:tc>
                  <a:txBody>
                    <a:bodyPr/>
                    <a:lstStyle/>
                    <a:p>
                      <a:r>
                        <a:rPr lang="en-US" sz="1000" dirty="0"/>
                        <a:t>No</a:t>
                      </a:r>
                    </a:p>
                  </a:txBody>
                  <a:tcPr/>
                </a:tc>
                <a:tc>
                  <a:txBody>
                    <a:bodyPr/>
                    <a:lstStyle/>
                    <a:p>
                      <a:r>
                        <a:rPr lang="en-US" sz="1000" dirty="0"/>
                        <a:t>No</a:t>
                      </a:r>
                    </a:p>
                  </a:txBody>
                  <a:tcPr/>
                </a:tc>
                <a:tc>
                  <a:txBody>
                    <a:bodyPr/>
                    <a:lstStyle/>
                    <a:p>
                      <a:r>
                        <a:rPr lang="en-US" sz="1000" dirty="0"/>
                        <a:t>CAUSE: corrosion, equipment, manual error, etc.</a:t>
                      </a:r>
                    </a:p>
                    <a:p>
                      <a:r>
                        <a:rPr lang="en-US" sz="1000" dirty="0"/>
                        <a:t>CAUSE_DETAILS: more detailed than above; NARRATIVE</a:t>
                      </a:r>
                    </a:p>
                  </a:txBody>
                  <a:tcPr/>
                </a:tc>
                <a:extLst>
                  <a:ext uri="{0D108BD9-81ED-4DB2-BD59-A6C34878D82A}">
                    <a16:rowId xmlns:a16="http://schemas.microsoft.com/office/drawing/2014/main" val="219358764"/>
                  </a:ext>
                </a:extLst>
              </a:tr>
              <a:tr h="128508">
                <a:tc>
                  <a:txBody>
                    <a:bodyPr/>
                    <a:lstStyle/>
                    <a:p>
                      <a:r>
                        <a:rPr lang="en-US" sz="1000" dirty="0"/>
                        <a:t>G</a:t>
                      </a:r>
                    </a:p>
                  </a:txBody>
                  <a:tcPr/>
                </a:tc>
                <a:tc>
                  <a:txBody>
                    <a:bodyPr/>
                    <a:lstStyle/>
                    <a:p>
                      <a:r>
                        <a:rPr lang="en-US" sz="1000" dirty="0"/>
                        <a:t>Crude Oil (Nothing else)</a:t>
                      </a:r>
                    </a:p>
                  </a:txBody>
                  <a:tcPr/>
                </a:tc>
                <a:tc>
                  <a:txBody>
                    <a:bodyPr/>
                    <a:lstStyle/>
                    <a:p>
                      <a:r>
                        <a:rPr lang="en-US" sz="1000" dirty="0"/>
                        <a:t>No</a:t>
                      </a:r>
                    </a:p>
                  </a:txBody>
                  <a:tcPr/>
                </a:tc>
                <a:tc>
                  <a:txBody>
                    <a:bodyPr/>
                    <a:lstStyle/>
                    <a:p>
                      <a:r>
                        <a:rPr lang="en-US" sz="1000" dirty="0"/>
                        <a:t>No</a:t>
                      </a:r>
                    </a:p>
                  </a:txBody>
                  <a:tcPr/>
                </a:tc>
                <a:tc>
                  <a:txBody>
                    <a:bodyPr/>
                    <a:lstStyle/>
                    <a:p>
                      <a:r>
                        <a:rPr lang="en-US" sz="1000" dirty="0"/>
                        <a:t>CAUSE: corrosion, equipment, manual error, etc.</a:t>
                      </a:r>
                    </a:p>
                    <a:p>
                      <a:r>
                        <a:rPr lang="en-US" sz="1000" dirty="0"/>
                        <a:t>CAUSE_DETAILS: more detailed than above; NARRATIVE</a:t>
                      </a:r>
                    </a:p>
                  </a:txBody>
                  <a:tcPr/>
                </a:tc>
                <a:extLst>
                  <a:ext uri="{0D108BD9-81ED-4DB2-BD59-A6C34878D82A}">
                    <a16:rowId xmlns:a16="http://schemas.microsoft.com/office/drawing/2014/main" val="99239900"/>
                  </a:ext>
                </a:extLst>
              </a:tr>
            </a:tbl>
          </a:graphicData>
        </a:graphic>
      </p:graphicFrame>
    </p:spTree>
    <p:extLst>
      <p:ext uri="{BB962C8B-B14F-4D97-AF65-F5344CB8AC3E}">
        <p14:creationId xmlns:p14="http://schemas.microsoft.com/office/powerpoint/2010/main" val="149253460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Analysis - Canada</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DA76F35-D9B8-C9A4-D281-3E7D21973AFB}"/>
              </a:ext>
            </a:extLst>
          </p:cNvPr>
          <p:cNvSpPr txBox="1"/>
          <p:nvPr/>
        </p:nvSpPr>
        <p:spPr>
          <a:xfrm>
            <a:off x="348343" y="1910250"/>
            <a:ext cx="10162903" cy="3785652"/>
          </a:xfrm>
          <a:prstGeom prst="rect">
            <a:avLst/>
          </a:prstGeom>
          <a:noFill/>
        </p:spPr>
        <p:txBody>
          <a:bodyPr wrap="square" rtlCol="0">
            <a:spAutoFit/>
          </a:bodyPr>
          <a:lstStyle/>
          <a:p>
            <a:r>
              <a:rPr lang="en-US" sz="1200" b="1" dirty="0"/>
              <a:t>Step 1  - crude oil vs. non-crude oil</a:t>
            </a:r>
          </a:p>
          <a:p>
            <a:r>
              <a:rPr lang="en-US" sz="1200" dirty="0"/>
              <a:t>- explored/performed initial investigation of data</a:t>
            </a:r>
          </a:p>
          <a:p>
            <a:r>
              <a:rPr lang="en-US" sz="1200" dirty="0"/>
              <a:t>	- observation: operating </a:t>
            </a:r>
            <a:r>
              <a:rPr lang="en-US" sz="1200" dirty="0" err="1"/>
              <a:t>kpa</a:t>
            </a:r>
            <a:r>
              <a:rPr lang="en-US" sz="1200" dirty="0"/>
              <a:t> difference</a:t>
            </a:r>
          </a:p>
          <a:p>
            <a:r>
              <a:rPr lang="en-US" sz="1200" dirty="0"/>
              <a:t>- performed logistic regression to see if you could determine crude vs. non-crude based on qualitative columns (that had the best data)</a:t>
            </a:r>
          </a:p>
          <a:p>
            <a:r>
              <a:rPr lang="en-US" sz="1200" dirty="0"/>
              <a:t>    - specifically, used "what happened" and "details of what happened" columns</a:t>
            </a:r>
          </a:p>
          <a:p>
            <a:r>
              <a:rPr lang="en-US" sz="1200" dirty="0"/>
              <a:t>    - unable to consistently predict; could be a result of more non-crude than crude or incomplete data</a:t>
            </a:r>
          </a:p>
          <a:p>
            <a:r>
              <a:rPr lang="en-US" sz="1200" dirty="0"/>
              <a:t>	- or simply because it’s hard to predict</a:t>
            </a:r>
          </a:p>
          <a:p>
            <a:r>
              <a:rPr lang="en-US" sz="1200" dirty="0"/>
              <a:t>- tried to rerun model by filtering for “what happened” that could be related to chemistry/substance – fire, frost, deterioration, cracking, … </a:t>
            </a:r>
          </a:p>
          <a:p>
            <a:r>
              <a:rPr lang="en-US" sz="1200" dirty="0"/>
              <a:t>- also tried playing around with dropping cols that are missing &gt;50% (or x threshold) of values</a:t>
            </a:r>
          </a:p>
          <a:p>
            <a:endParaRPr lang="en-US" sz="1200" dirty="0"/>
          </a:p>
          <a:p>
            <a:r>
              <a:rPr lang="en-US" sz="1200" dirty="0"/>
              <a:t>Process</a:t>
            </a:r>
          </a:p>
          <a:p>
            <a:r>
              <a:rPr lang="en-US" sz="1200" dirty="0"/>
              <a:t>- loaded and cleaned data</a:t>
            </a:r>
          </a:p>
          <a:p>
            <a:r>
              <a:rPr lang="en-US" sz="1200" dirty="0"/>
              <a:t>- filtered for relevant attributes – substance carried (crude vs. non crude), what happened, detailed what happened, and incident types</a:t>
            </a:r>
          </a:p>
          <a:p>
            <a:r>
              <a:rPr lang="en-US" sz="1200" dirty="0"/>
              <a:t>- expanded what happened columns into multiple binary columns (e.g., mapped “corrosion; damage to pipe” to corrosion = 1 and damage to pipe = 1)</a:t>
            </a:r>
          </a:p>
          <a:p>
            <a:r>
              <a:rPr lang="en-US" sz="1200" dirty="0"/>
              <a:t>- made correlation matrix and removed pairs &gt;0.8; dropped 1 of 2 cols in these pairs based on which occurred less</a:t>
            </a:r>
          </a:p>
          <a:p>
            <a:r>
              <a:rPr lang="en-US" sz="1200" dirty="0"/>
              <a:t>- ran regression model using </a:t>
            </a:r>
            <a:r>
              <a:rPr lang="en-US" sz="1200" dirty="0" err="1"/>
              <a:t>sklearn</a:t>
            </a:r>
            <a:endParaRPr lang="en-US" sz="1200" dirty="0"/>
          </a:p>
          <a:p>
            <a:r>
              <a:rPr lang="en-US" sz="1200" dirty="0"/>
              <a:t>- Results: able to predict non-crude well but this is probably because this category has a larger sample</a:t>
            </a:r>
          </a:p>
          <a:p>
            <a:endParaRPr lang="en-US" sz="1200" dirty="0"/>
          </a:p>
          <a:p>
            <a:r>
              <a:rPr lang="en-US" sz="1200" b="1" dirty="0"/>
              <a:t>Step 2 – Crude Only</a:t>
            </a:r>
          </a:p>
          <a:p>
            <a:r>
              <a:rPr lang="en-US" sz="1200" dirty="0"/>
              <a:t> - ….</a:t>
            </a:r>
          </a:p>
        </p:txBody>
      </p:sp>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682892" cy="369332"/>
          </a:xfrm>
          <a:prstGeom prst="rect">
            <a:avLst/>
          </a:prstGeom>
          <a:noFill/>
        </p:spPr>
        <p:txBody>
          <a:bodyPr wrap="square" rtlCol="0">
            <a:spAutoFit/>
          </a:bodyPr>
          <a:lstStyle/>
          <a:p>
            <a:r>
              <a:rPr lang="en-US" dirty="0"/>
              <a:t>Looking at Canada data in 2 steps</a:t>
            </a:r>
          </a:p>
        </p:txBody>
      </p:sp>
    </p:spTree>
    <p:extLst>
      <p:ext uri="{BB962C8B-B14F-4D97-AF65-F5344CB8AC3E}">
        <p14:creationId xmlns:p14="http://schemas.microsoft.com/office/powerpoint/2010/main" val="27247066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Analysis - USA</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682892" cy="369332"/>
          </a:xfrm>
          <a:prstGeom prst="rect">
            <a:avLst/>
          </a:prstGeom>
          <a:noFill/>
        </p:spPr>
        <p:txBody>
          <a:bodyPr wrap="square" rtlCol="0">
            <a:spAutoFit/>
          </a:bodyPr>
          <a:lstStyle/>
          <a:p>
            <a:r>
              <a:rPr lang="en-US" dirty="0"/>
              <a:t>Looking at … data in 2 steps</a:t>
            </a:r>
          </a:p>
        </p:txBody>
      </p:sp>
    </p:spTree>
    <p:extLst>
      <p:ext uri="{BB962C8B-B14F-4D97-AF65-F5344CB8AC3E}">
        <p14:creationId xmlns:p14="http://schemas.microsoft.com/office/powerpoint/2010/main" val="27744924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Conclusion</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682892" cy="369332"/>
          </a:xfrm>
          <a:prstGeom prst="rect">
            <a:avLst/>
          </a:prstGeom>
          <a:noFill/>
        </p:spPr>
        <p:txBody>
          <a:bodyPr wrap="square" rtlCol="0">
            <a:spAutoFit/>
          </a:bodyPr>
          <a:lstStyle/>
          <a:p>
            <a:r>
              <a:rPr lang="en-US" dirty="0"/>
              <a:t>Looking at … data in 2 steps</a:t>
            </a:r>
          </a:p>
        </p:txBody>
      </p:sp>
    </p:spTree>
    <p:extLst>
      <p:ext uri="{BB962C8B-B14F-4D97-AF65-F5344CB8AC3E}">
        <p14:creationId xmlns:p14="http://schemas.microsoft.com/office/powerpoint/2010/main" val="100242923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Regulations &amp; Implications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682892" cy="369332"/>
          </a:xfrm>
          <a:prstGeom prst="rect">
            <a:avLst/>
          </a:prstGeom>
          <a:noFill/>
        </p:spPr>
        <p:txBody>
          <a:bodyPr wrap="square" rtlCol="0">
            <a:spAutoFit/>
          </a:bodyPr>
          <a:lstStyle/>
          <a:p>
            <a:r>
              <a:rPr lang="en-US" dirty="0"/>
              <a:t>Looking at … data in 2 steps</a:t>
            </a:r>
          </a:p>
        </p:txBody>
      </p:sp>
    </p:spTree>
    <p:extLst>
      <p:ext uri="{BB962C8B-B14F-4D97-AF65-F5344CB8AC3E}">
        <p14:creationId xmlns:p14="http://schemas.microsoft.com/office/powerpoint/2010/main" val="3947416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9C5E69D8-2133-86C5-C478-359118968E16}"/>
              </a:ext>
            </a:extLst>
          </p:cNvPr>
          <p:cNvSpPr/>
          <p:nvPr/>
        </p:nvSpPr>
        <p:spPr>
          <a:xfrm>
            <a:off x="233183" y="304280"/>
            <a:ext cx="11523387" cy="61882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213442"/>
                </a:solidFill>
              </a:rPr>
              <a:t>references</a:t>
            </a:r>
          </a:p>
        </p:txBody>
      </p:sp>
      <p:pic>
        <p:nvPicPr>
          <p:cNvPr id="6" name="Picture 2" descr="Validere Acquires Regulatory Reporting Platform Clairifi - Validere">
            <a:extLst>
              <a:ext uri="{FF2B5EF4-FFF2-40B4-BE49-F238E27FC236}">
                <a16:creationId xmlns:a16="http://schemas.microsoft.com/office/drawing/2014/main" id="{5AE29AB1-08CB-3040-BAF6-3C28420849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6" y="6313712"/>
            <a:ext cx="2385518" cy="248400"/>
          </a:xfrm>
          <a:prstGeom prst="rect">
            <a:avLst/>
          </a:prstGeom>
          <a:noFill/>
          <a:extLst>
            <a:ext uri="{909E8E84-426E-40DD-AFC4-6F175D3DCCD1}">
              <a14:hiddenFill xmlns:a14="http://schemas.microsoft.com/office/drawing/2010/main">
                <a:solidFill>
                  <a:srgbClr val="FFFFFF"/>
                </a:solidFill>
              </a14:hiddenFill>
            </a:ext>
          </a:extLst>
        </p:spPr>
      </p:pic>
      <p:cxnSp>
        <p:nvCxnSpPr>
          <p:cNvPr id="8" name="Straight Connector 7">
            <a:extLst>
              <a:ext uri="{FF2B5EF4-FFF2-40B4-BE49-F238E27FC236}">
                <a16:creationId xmlns:a16="http://schemas.microsoft.com/office/drawing/2014/main" id="{367ED728-390F-3F8A-5857-EA1F707AD76B}"/>
              </a:ext>
            </a:extLst>
          </p:cNvPr>
          <p:cNvCxnSpPr>
            <a:cxnSpLocks/>
          </p:cNvCxnSpPr>
          <p:nvPr/>
        </p:nvCxnSpPr>
        <p:spPr>
          <a:xfrm>
            <a:off x="348343" y="923109"/>
            <a:ext cx="11625311" cy="0"/>
          </a:xfrm>
          <a:prstGeom prst="line">
            <a:avLst/>
          </a:prstGeom>
          <a:ln w="38100">
            <a:solidFill>
              <a:srgbClr val="213442"/>
            </a:solidFill>
          </a:ln>
        </p:spPr>
        <p:style>
          <a:lnRef idx="1">
            <a:schemeClr val="accent1"/>
          </a:lnRef>
          <a:fillRef idx="0">
            <a:schemeClr val="accent1"/>
          </a:fillRef>
          <a:effectRef idx="0">
            <a:schemeClr val="accent1"/>
          </a:effectRef>
          <a:fontRef idx="minor">
            <a:schemeClr val="tx1"/>
          </a:fontRef>
        </p:style>
      </p:cxnSp>
      <p:sp>
        <p:nvSpPr>
          <p:cNvPr id="2" name="TextBox 1">
            <a:extLst>
              <a:ext uri="{FF2B5EF4-FFF2-40B4-BE49-F238E27FC236}">
                <a16:creationId xmlns:a16="http://schemas.microsoft.com/office/drawing/2014/main" id="{8446A0DB-5D02-B35C-44C5-F05E5426C5DF}"/>
              </a:ext>
            </a:extLst>
          </p:cNvPr>
          <p:cNvSpPr txBox="1"/>
          <p:nvPr/>
        </p:nvSpPr>
        <p:spPr>
          <a:xfrm>
            <a:off x="290763" y="1047347"/>
            <a:ext cx="11682892" cy="1200329"/>
          </a:xfrm>
          <a:prstGeom prst="rect">
            <a:avLst/>
          </a:prstGeom>
          <a:noFill/>
        </p:spPr>
        <p:txBody>
          <a:bodyPr wrap="square" rtlCol="0">
            <a:spAutoFit/>
          </a:bodyPr>
          <a:lstStyle/>
          <a:p>
            <a:pPr marL="342900" indent="-342900">
              <a:buAutoNum type="arabicPeriod"/>
            </a:pPr>
            <a:r>
              <a:rPr lang="en-US" dirty="0"/>
              <a:t>TABLE - AFPM - Survey of Crude Oil Characteristics</a:t>
            </a:r>
          </a:p>
          <a:p>
            <a:pPr marL="342900" indent="-342900">
              <a:buAutoNum type="arabicPeriod"/>
            </a:pPr>
            <a:r>
              <a:rPr lang="en-US" dirty="0"/>
              <a:t>Types of crude oil – EPA</a:t>
            </a:r>
          </a:p>
          <a:p>
            <a:pPr marL="342900" indent="-342900">
              <a:buAutoNum type="arabicPeriod"/>
            </a:pPr>
            <a:r>
              <a:rPr lang="en-US" dirty="0"/>
              <a:t>Measurement of weight (API) for crude oil - </a:t>
            </a:r>
            <a:r>
              <a:rPr lang="en-US" dirty="0">
                <a:hlinkClick r:id="rId3"/>
              </a:rPr>
              <a:t>https://www.eia.gov/dnav/pet/TblDefs/pet_pnp_crq_tbldef2.asp</a:t>
            </a:r>
            <a:endParaRPr lang="en-US" dirty="0"/>
          </a:p>
          <a:p>
            <a:pPr marL="342900" indent="-342900">
              <a:buAutoNum type="arabicPeriod"/>
            </a:pPr>
            <a:r>
              <a:rPr lang="en-US" dirty="0"/>
              <a:t>Sweet vs. sour - https://</a:t>
            </a:r>
            <a:r>
              <a:rPr lang="en-US" dirty="0" err="1"/>
              <a:t>www.pipesearch.com</a:t>
            </a:r>
            <a:r>
              <a:rPr lang="en-US" dirty="0"/>
              <a:t>/blog/sweet-and-sour-crude-oil/136</a:t>
            </a:r>
          </a:p>
        </p:txBody>
      </p:sp>
    </p:spTree>
    <p:extLst>
      <p:ext uri="{BB962C8B-B14F-4D97-AF65-F5344CB8AC3E}">
        <p14:creationId xmlns:p14="http://schemas.microsoft.com/office/powerpoint/2010/main" val="20219745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2" descr="Validere Acquires Regulatory Reporting Platform Clairifi - Validere">
            <a:extLst>
              <a:ext uri="{FF2B5EF4-FFF2-40B4-BE49-F238E27FC236}">
                <a16:creationId xmlns:a16="http://schemas.microsoft.com/office/drawing/2014/main" id="{FB7EE65E-8925-81A8-2BFC-A529915986B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588137" y="6313713"/>
            <a:ext cx="2377441" cy="247559"/>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7F40E04-0FF0-4058-E5B2-051685ADDEDB}"/>
              </a:ext>
            </a:extLst>
          </p:cNvPr>
          <p:cNvSpPr/>
          <p:nvPr/>
        </p:nvSpPr>
        <p:spPr>
          <a:xfrm>
            <a:off x="0" y="7622"/>
            <a:ext cx="12192000" cy="12202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dirty="0">
                <a:solidFill>
                  <a:srgbClr val="1D2C33"/>
                </a:solidFill>
              </a:rPr>
              <a:t>Properties of Crude Oil Responsible for Pipeline Accidents</a:t>
            </a:r>
          </a:p>
        </p:txBody>
      </p:sp>
      <p:pic>
        <p:nvPicPr>
          <p:cNvPr id="7" name="Picture 4" descr="Validere expands market fundamentals team with key new hires - Validere">
            <a:extLst>
              <a:ext uri="{FF2B5EF4-FFF2-40B4-BE49-F238E27FC236}">
                <a16:creationId xmlns:a16="http://schemas.microsoft.com/office/drawing/2014/main" id="{8C793E36-BE88-9323-69E1-1A63865EF65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1227909"/>
            <a:ext cx="12192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2608998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descr="Validere Acquires Regulatory Reporting Platform Clairifi - Validere">
            <a:extLst>
              <a:ext uri="{FF2B5EF4-FFF2-40B4-BE49-F238E27FC236}">
                <a16:creationId xmlns:a16="http://schemas.microsoft.com/office/drawing/2014/main" id="{0FDE1F5C-16C5-8498-9DE0-2E46B12DF7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7622"/>
            <a:ext cx="12192000" cy="684275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Validere Acquires Regulatory Reporting Platform Clairifi - Validere">
            <a:extLst>
              <a:ext uri="{FF2B5EF4-FFF2-40B4-BE49-F238E27FC236}">
                <a16:creationId xmlns:a16="http://schemas.microsoft.com/office/drawing/2014/main" id="{FB7EE65E-8925-81A8-2BFC-A529915986B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588137" y="6313713"/>
            <a:ext cx="2377441" cy="247559"/>
          </a:xfrm>
          <a:prstGeom prst="rect">
            <a:avLst/>
          </a:prstGeom>
          <a:noFill/>
          <a:extLst>
            <a:ext uri="{909E8E84-426E-40DD-AFC4-6F175D3DCCD1}">
              <a14:hiddenFill xmlns:a14="http://schemas.microsoft.com/office/drawing/2010/main">
                <a:solidFill>
                  <a:srgbClr val="FFFFFF"/>
                </a:solidFill>
              </a14:hiddenFill>
            </a:ext>
          </a:extLst>
        </p:spPr>
      </p:pic>
      <p:sp>
        <p:nvSpPr>
          <p:cNvPr id="6" name="Rectangle 5">
            <a:extLst>
              <a:ext uri="{FF2B5EF4-FFF2-40B4-BE49-F238E27FC236}">
                <a16:creationId xmlns:a16="http://schemas.microsoft.com/office/drawing/2014/main" id="{07F40E04-0FF0-4058-E5B2-051685ADDEDB}"/>
              </a:ext>
            </a:extLst>
          </p:cNvPr>
          <p:cNvSpPr/>
          <p:nvPr/>
        </p:nvSpPr>
        <p:spPr>
          <a:xfrm>
            <a:off x="729573" y="1784737"/>
            <a:ext cx="6698838" cy="1220287"/>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3600" b="1" dirty="0">
                <a:solidFill>
                  <a:srgbClr val="1D2C33"/>
                </a:solidFill>
              </a:rPr>
              <a:t>Properties of Crude Oil Responsible for Pipeline Accidents</a:t>
            </a:r>
          </a:p>
        </p:txBody>
      </p:sp>
      <p:sp>
        <p:nvSpPr>
          <p:cNvPr id="3" name="Rectangle 2">
            <a:extLst>
              <a:ext uri="{FF2B5EF4-FFF2-40B4-BE49-F238E27FC236}">
                <a16:creationId xmlns:a16="http://schemas.microsoft.com/office/drawing/2014/main" id="{14363152-BE08-674D-0A2B-51E112F6E136}"/>
              </a:ext>
            </a:extLst>
          </p:cNvPr>
          <p:cNvSpPr/>
          <p:nvPr/>
        </p:nvSpPr>
        <p:spPr>
          <a:xfrm>
            <a:off x="729573" y="3491387"/>
            <a:ext cx="5969541" cy="36159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1D2C33"/>
                </a:solidFill>
              </a:rPr>
              <a:t>Date: January 29, 2023</a:t>
            </a:r>
          </a:p>
        </p:txBody>
      </p:sp>
      <p:sp>
        <p:nvSpPr>
          <p:cNvPr id="5" name="Rectangle 4">
            <a:extLst>
              <a:ext uri="{FF2B5EF4-FFF2-40B4-BE49-F238E27FC236}">
                <a16:creationId xmlns:a16="http://schemas.microsoft.com/office/drawing/2014/main" id="{98D019AC-5746-90F8-AAB6-A88FF770F305}"/>
              </a:ext>
            </a:extLst>
          </p:cNvPr>
          <p:cNvSpPr/>
          <p:nvPr/>
        </p:nvSpPr>
        <p:spPr>
          <a:xfrm>
            <a:off x="729573" y="3142478"/>
            <a:ext cx="5969541" cy="34890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1D2C33"/>
                </a:solidFill>
              </a:rPr>
              <a:t>Created By: Cameron MacKinnon</a:t>
            </a:r>
          </a:p>
        </p:txBody>
      </p:sp>
      <p:cxnSp>
        <p:nvCxnSpPr>
          <p:cNvPr id="9" name="Straight Connector 8">
            <a:extLst>
              <a:ext uri="{FF2B5EF4-FFF2-40B4-BE49-F238E27FC236}">
                <a16:creationId xmlns:a16="http://schemas.microsoft.com/office/drawing/2014/main" id="{8BA039D3-CD15-E1D4-2890-6F8AE3E7E0C4}"/>
              </a:ext>
            </a:extLst>
          </p:cNvPr>
          <p:cNvCxnSpPr/>
          <p:nvPr/>
        </p:nvCxnSpPr>
        <p:spPr>
          <a:xfrm>
            <a:off x="836023" y="3005024"/>
            <a:ext cx="10171611"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6083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368AD3-1A3E-3983-DB7C-39908780DADF}"/>
              </a:ext>
            </a:extLst>
          </p:cNvPr>
          <p:cNvSpPr>
            <a:spLocks noGrp="1"/>
          </p:cNvSpPr>
          <p:nvPr>
            <p:ph type="ctrTitle"/>
          </p:nvPr>
        </p:nvSpPr>
        <p:spPr/>
        <p:txBody>
          <a:bodyPr/>
          <a:lstStyle/>
          <a:p>
            <a:endParaRPr lang="en-US" dirty="0"/>
          </a:p>
        </p:txBody>
      </p:sp>
      <p:sp>
        <p:nvSpPr>
          <p:cNvPr id="3" name="Subtitle 2">
            <a:extLst>
              <a:ext uri="{FF2B5EF4-FFF2-40B4-BE49-F238E27FC236}">
                <a16:creationId xmlns:a16="http://schemas.microsoft.com/office/drawing/2014/main" id="{0E967C20-4815-8F96-756F-5E7B1F0C7657}"/>
              </a:ext>
            </a:extLst>
          </p:cNvPr>
          <p:cNvSpPr>
            <a:spLocks noGrp="1"/>
          </p:cNvSpPr>
          <p:nvPr>
            <p:ph type="subTitle" idx="1"/>
          </p:nvPr>
        </p:nvSpPr>
        <p:spPr/>
        <p:txBody>
          <a:bodyPr/>
          <a:lstStyle/>
          <a:p>
            <a:endParaRPr lang="en-US"/>
          </a:p>
        </p:txBody>
      </p:sp>
      <p:pic>
        <p:nvPicPr>
          <p:cNvPr id="3076" name="Picture 4" descr="Validere expands market fundamentals team with key new hires - Validere">
            <a:extLst>
              <a:ext uri="{FF2B5EF4-FFF2-40B4-BE49-F238E27FC236}">
                <a16:creationId xmlns:a16="http://schemas.microsoft.com/office/drawing/2014/main" id="{06A31D39-E681-EF0C-26B9-87D55E335D5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220788"/>
            <a:ext cx="12192000" cy="4762500"/>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descr="Validere Acquires Regulatory Reporting Platform Clairifi - Validere">
            <a:extLst>
              <a:ext uri="{FF2B5EF4-FFF2-40B4-BE49-F238E27FC236}">
                <a16:creationId xmlns:a16="http://schemas.microsoft.com/office/drawing/2014/main" id="{0146D473-672E-CB38-5452-62B26CE7CE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0629" y="6169404"/>
            <a:ext cx="4406537" cy="5399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29445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32ABF-1F14-9577-C4AB-228146EECC2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75D4244-2B4C-8733-FC75-6C7DD616B888}"/>
              </a:ext>
            </a:extLst>
          </p:cNvPr>
          <p:cNvSpPr>
            <a:spLocks noGrp="1"/>
          </p:cNvSpPr>
          <p:nvPr>
            <p:ph idx="1"/>
          </p:nvPr>
        </p:nvSpPr>
        <p:spPr/>
        <p:txBody>
          <a:bodyPr/>
          <a:lstStyle/>
          <a:p>
            <a:endParaRPr lang="en-US"/>
          </a:p>
        </p:txBody>
      </p:sp>
      <p:pic>
        <p:nvPicPr>
          <p:cNvPr id="4098" name="Picture 2" descr="ESG Is Not a Black Box - Validere">
            <a:extLst>
              <a:ext uri="{FF2B5EF4-FFF2-40B4-BE49-F238E27FC236}">
                <a16:creationId xmlns:a16="http://schemas.microsoft.com/office/drawing/2014/main" id="{83618BB5-8201-104C-3A20-0DB715B8D3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047750"/>
            <a:ext cx="12192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9901520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A56B82-0F79-D426-A7C1-F67CF9A8E1F7}"/>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046B585E-E41D-CC5E-BB42-CE86A6EC71B1}"/>
              </a:ext>
            </a:extLst>
          </p:cNvPr>
          <p:cNvSpPr>
            <a:spLocks noGrp="1"/>
          </p:cNvSpPr>
          <p:nvPr>
            <p:ph idx="1"/>
          </p:nvPr>
        </p:nvSpPr>
        <p:spPr/>
        <p:txBody>
          <a:bodyPr/>
          <a:lstStyle/>
          <a:p>
            <a:endParaRPr lang="en-US"/>
          </a:p>
        </p:txBody>
      </p:sp>
      <p:pic>
        <p:nvPicPr>
          <p:cNvPr id="5122" name="Picture 2" descr="Validere Acquires Regulatory Reporting Platform Clairifi - Validere">
            <a:extLst>
              <a:ext uri="{FF2B5EF4-FFF2-40B4-BE49-F238E27FC236}">
                <a16:creationId xmlns:a16="http://schemas.microsoft.com/office/drawing/2014/main" id="{7386BC02-A5BE-3C85-36B7-4EFF3FA207F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047750"/>
            <a:ext cx="12192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584441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C09BF-E58A-F9AB-F9BC-DD9F48FF555F}"/>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70CA3B42-232A-301C-A8F2-15984BF06504}"/>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2216246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2149</TotalTime>
  <Words>1896</Words>
  <Application>Microsoft Macintosh PowerPoint</Application>
  <PresentationFormat>Widescreen</PresentationFormat>
  <Paragraphs>295</Paragraphs>
  <Slides>22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Arial</vt:lpstr>
      <vt:lpstr>Calibri</vt:lpstr>
      <vt:lpstr>Calibri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Kiera Mcwatt</dc:creator>
  <cp:lastModifiedBy>Kiera Mcwatt</cp:lastModifiedBy>
  <cp:revision>9</cp:revision>
  <dcterms:created xsi:type="dcterms:W3CDTF">2024-01-23T17:24:49Z</dcterms:created>
  <dcterms:modified xsi:type="dcterms:W3CDTF">2024-01-27T03:28:11Z</dcterms:modified>
</cp:coreProperties>
</file>