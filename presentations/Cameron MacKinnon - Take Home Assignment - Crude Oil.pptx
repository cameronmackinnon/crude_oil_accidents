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60" r:id="rId2"/>
    <p:sldId id="256" r:id="rId3"/>
    <p:sldId id="265" r:id="rId4"/>
    <p:sldId id="264" r:id="rId5"/>
    <p:sldId id="266" r:id="rId6"/>
    <p:sldId id="278" r:id="rId7"/>
    <p:sldId id="279" r:id="rId8"/>
    <p:sldId id="288" r:id="rId9"/>
    <p:sldId id="271" r:id="rId10"/>
    <p:sldId id="283" r:id="rId11"/>
    <p:sldId id="289" r:id="rId12"/>
    <p:sldId id="286" r:id="rId13"/>
    <p:sldId id="290" r:id="rId14"/>
    <p:sldId id="291" r:id="rId15"/>
    <p:sldId id="274" r:id="rId16"/>
    <p:sldId id="292" r:id="rId17"/>
    <p:sldId id="263" r:id="rId18"/>
    <p:sldId id="277" r:id="rId19"/>
    <p:sldId id="287" r:id="rId20"/>
    <p:sldId id="28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2536"/>
    <a:srgbClr val="2DAAAF"/>
    <a:srgbClr val="175C61"/>
    <a:srgbClr val="F7F9FC"/>
    <a:srgbClr val="0A2636"/>
    <a:srgbClr val="FF0000"/>
    <a:srgbClr val="2CABAF"/>
    <a:srgbClr val="F6F9FB"/>
    <a:srgbClr val="36AAB0"/>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386"/>
    <p:restoredTop sz="94609"/>
  </p:normalViewPr>
  <p:slideViewPr>
    <p:cSldViewPr snapToGrid="0">
      <p:cViewPr varScale="1">
        <p:scale>
          <a:sx n="147" d="100"/>
          <a:sy n="147" d="100"/>
        </p:scale>
        <p:origin x="162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EE2377-3DBA-374A-A524-04C0678CA0C0}" type="datetimeFigureOut">
              <a:rPr lang="en-US" smtClean="0"/>
              <a:t>1/29/24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EDB367-7F98-D348-A87E-6855B8BF4B11}" type="slidenum">
              <a:rPr lang="en-US" smtClean="0"/>
              <a:t>‹#›</a:t>
            </a:fld>
            <a:endParaRPr lang="en-US"/>
          </a:p>
        </p:txBody>
      </p:sp>
    </p:spTree>
    <p:extLst>
      <p:ext uri="{BB962C8B-B14F-4D97-AF65-F5344CB8AC3E}">
        <p14:creationId xmlns:p14="http://schemas.microsoft.com/office/powerpoint/2010/main" val="2196928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DB367-7F98-D348-A87E-6855B8BF4B11}" type="slidenum">
              <a:rPr lang="en-US" smtClean="0"/>
              <a:t>13</a:t>
            </a:fld>
            <a:endParaRPr lang="en-US"/>
          </a:p>
        </p:txBody>
      </p:sp>
    </p:spTree>
    <p:extLst>
      <p:ext uri="{BB962C8B-B14F-4D97-AF65-F5344CB8AC3E}">
        <p14:creationId xmlns:p14="http://schemas.microsoft.com/office/powerpoint/2010/main" val="3267790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C4D0A-E1ED-5C57-0D99-B029F91DC5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6C0ADC-07C5-0123-1C9B-27AEC2EC11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A630FE-1D7B-7BB8-B07D-7B1179486125}"/>
              </a:ext>
            </a:extLst>
          </p:cNvPr>
          <p:cNvSpPr>
            <a:spLocks noGrp="1"/>
          </p:cNvSpPr>
          <p:nvPr>
            <p:ph type="dt" sz="half" idx="10"/>
          </p:nvPr>
        </p:nvSpPr>
        <p:spPr/>
        <p:txBody>
          <a:bodyPr/>
          <a:lstStyle/>
          <a:p>
            <a:fld id="{F2B6BF67-2978-CE4D-8D5C-6E816D1CE5DA}" type="datetimeFigureOut">
              <a:rPr lang="en-US" smtClean="0"/>
              <a:t>1/29/24</a:t>
            </a:fld>
            <a:endParaRPr lang="en-US"/>
          </a:p>
        </p:txBody>
      </p:sp>
      <p:sp>
        <p:nvSpPr>
          <p:cNvPr id="5" name="Footer Placeholder 4">
            <a:extLst>
              <a:ext uri="{FF2B5EF4-FFF2-40B4-BE49-F238E27FC236}">
                <a16:creationId xmlns:a16="http://schemas.microsoft.com/office/drawing/2014/main" id="{4552BF43-605E-560E-FA8D-DAB08F3F63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B871D0-8173-D3B6-6E66-9BB502CC18B1}"/>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1320172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E6529-5BE5-0AD8-CBC7-2ED6A8D099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D7B846-0CB8-C82A-05C5-7F9FC1D438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BDF5E7-DAEB-33D0-4684-D9719C6DEC7C}"/>
              </a:ext>
            </a:extLst>
          </p:cNvPr>
          <p:cNvSpPr>
            <a:spLocks noGrp="1"/>
          </p:cNvSpPr>
          <p:nvPr>
            <p:ph type="dt" sz="half" idx="10"/>
          </p:nvPr>
        </p:nvSpPr>
        <p:spPr/>
        <p:txBody>
          <a:bodyPr/>
          <a:lstStyle/>
          <a:p>
            <a:fld id="{F2B6BF67-2978-CE4D-8D5C-6E816D1CE5DA}" type="datetimeFigureOut">
              <a:rPr lang="en-US" smtClean="0"/>
              <a:t>1/29/24</a:t>
            </a:fld>
            <a:endParaRPr lang="en-US"/>
          </a:p>
        </p:txBody>
      </p:sp>
      <p:sp>
        <p:nvSpPr>
          <p:cNvPr id="5" name="Footer Placeholder 4">
            <a:extLst>
              <a:ext uri="{FF2B5EF4-FFF2-40B4-BE49-F238E27FC236}">
                <a16:creationId xmlns:a16="http://schemas.microsoft.com/office/drawing/2014/main" id="{ADDCB93A-7F23-4CEE-C8D4-7980371916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33780-3C2D-EEC4-59D0-90918FEF9383}"/>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2168175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1EC98-330C-CE06-0378-5C02F8B43E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B7DCBC-D9D3-9263-8DB2-3623EEA554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56E002-8F61-561F-86DB-40AB9AB570DB}"/>
              </a:ext>
            </a:extLst>
          </p:cNvPr>
          <p:cNvSpPr>
            <a:spLocks noGrp="1"/>
          </p:cNvSpPr>
          <p:nvPr>
            <p:ph type="dt" sz="half" idx="10"/>
          </p:nvPr>
        </p:nvSpPr>
        <p:spPr/>
        <p:txBody>
          <a:bodyPr/>
          <a:lstStyle/>
          <a:p>
            <a:fld id="{F2B6BF67-2978-CE4D-8D5C-6E816D1CE5DA}" type="datetimeFigureOut">
              <a:rPr lang="en-US" smtClean="0"/>
              <a:t>1/29/24</a:t>
            </a:fld>
            <a:endParaRPr lang="en-US"/>
          </a:p>
        </p:txBody>
      </p:sp>
      <p:sp>
        <p:nvSpPr>
          <p:cNvPr id="5" name="Footer Placeholder 4">
            <a:extLst>
              <a:ext uri="{FF2B5EF4-FFF2-40B4-BE49-F238E27FC236}">
                <a16:creationId xmlns:a16="http://schemas.microsoft.com/office/drawing/2014/main" id="{1DE34117-CEC8-40CA-0A61-8BBC67A79D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EF6604-EACD-042C-4A34-1527D979109B}"/>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130624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06DAB-6F3C-D3B6-F9C5-993AA5190E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590C6E-9CEA-B52A-E10C-D8D9B8FB6E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3D157F-A9B5-9703-AC0C-FB6D8E4602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9B00BB-4211-C4B9-C9F7-80BB246F6353}"/>
              </a:ext>
            </a:extLst>
          </p:cNvPr>
          <p:cNvSpPr>
            <a:spLocks noGrp="1"/>
          </p:cNvSpPr>
          <p:nvPr>
            <p:ph type="dt" sz="half" idx="10"/>
          </p:nvPr>
        </p:nvSpPr>
        <p:spPr/>
        <p:txBody>
          <a:bodyPr/>
          <a:lstStyle/>
          <a:p>
            <a:fld id="{F2B6BF67-2978-CE4D-8D5C-6E816D1CE5DA}" type="datetimeFigureOut">
              <a:rPr lang="en-US" smtClean="0"/>
              <a:t>1/29/24</a:t>
            </a:fld>
            <a:endParaRPr lang="en-US"/>
          </a:p>
        </p:txBody>
      </p:sp>
      <p:sp>
        <p:nvSpPr>
          <p:cNvPr id="6" name="Footer Placeholder 5">
            <a:extLst>
              <a:ext uri="{FF2B5EF4-FFF2-40B4-BE49-F238E27FC236}">
                <a16:creationId xmlns:a16="http://schemas.microsoft.com/office/drawing/2014/main" id="{470EB9D0-4D83-7ABA-F369-7C7189AADD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AF73CD-26B1-E97D-773B-6C7243EF6255}"/>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224791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18774-24C1-6B70-E733-A582313BA9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B8002E-7618-100E-EA3B-6CBF5CFCD9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591FFC-B8EC-FA38-4CF7-F2F1130C09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FF3533-EE77-981D-2105-259256E7C4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A876E7-62C5-18D1-BEED-B851930BC9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81756A-D127-74BD-A17A-B90B5EACA62C}"/>
              </a:ext>
            </a:extLst>
          </p:cNvPr>
          <p:cNvSpPr>
            <a:spLocks noGrp="1"/>
          </p:cNvSpPr>
          <p:nvPr>
            <p:ph type="dt" sz="half" idx="10"/>
          </p:nvPr>
        </p:nvSpPr>
        <p:spPr/>
        <p:txBody>
          <a:bodyPr/>
          <a:lstStyle/>
          <a:p>
            <a:fld id="{F2B6BF67-2978-CE4D-8D5C-6E816D1CE5DA}" type="datetimeFigureOut">
              <a:rPr lang="en-US" smtClean="0"/>
              <a:t>1/29/24</a:t>
            </a:fld>
            <a:endParaRPr lang="en-US"/>
          </a:p>
        </p:txBody>
      </p:sp>
      <p:sp>
        <p:nvSpPr>
          <p:cNvPr id="8" name="Footer Placeholder 7">
            <a:extLst>
              <a:ext uri="{FF2B5EF4-FFF2-40B4-BE49-F238E27FC236}">
                <a16:creationId xmlns:a16="http://schemas.microsoft.com/office/drawing/2014/main" id="{1055A8B8-86AF-1434-1CFE-7EF2D53B84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EFC9DB-C534-742D-6CD3-8420E29DD316}"/>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2174012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42785-F6CF-8AAF-64C1-5004BC1B0A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87C524-2E0E-CF5D-FD4B-D1AC319488CB}"/>
              </a:ext>
            </a:extLst>
          </p:cNvPr>
          <p:cNvSpPr>
            <a:spLocks noGrp="1"/>
          </p:cNvSpPr>
          <p:nvPr>
            <p:ph type="dt" sz="half" idx="10"/>
          </p:nvPr>
        </p:nvSpPr>
        <p:spPr/>
        <p:txBody>
          <a:bodyPr/>
          <a:lstStyle/>
          <a:p>
            <a:fld id="{F2B6BF67-2978-CE4D-8D5C-6E816D1CE5DA}" type="datetimeFigureOut">
              <a:rPr lang="en-US" smtClean="0"/>
              <a:t>1/29/24</a:t>
            </a:fld>
            <a:endParaRPr lang="en-US"/>
          </a:p>
        </p:txBody>
      </p:sp>
      <p:sp>
        <p:nvSpPr>
          <p:cNvPr id="4" name="Footer Placeholder 3">
            <a:extLst>
              <a:ext uri="{FF2B5EF4-FFF2-40B4-BE49-F238E27FC236}">
                <a16:creationId xmlns:a16="http://schemas.microsoft.com/office/drawing/2014/main" id="{2DEE261A-4E0F-06A8-1E4C-A798E42FB6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01D0BF-7E8D-D99E-BEF6-91D6645B8845}"/>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79496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A2D605-B790-F0D4-8378-2CEDFF2A74FE}"/>
              </a:ext>
            </a:extLst>
          </p:cNvPr>
          <p:cNvSpPr>
            <a:spLocks noGrp="1"/>
          </p:cNvSpPr>
          <p:nvPr>
            <p:ph type="dt" sz="half" idx="10"/>
          </p:nvPr>
        </p:nvSpPr>
        <p:spPr/>
        <p:txBody>
          <a:bodyPr/>
          <a:lstStyle/>
          <a:p>
            <a:fld id="{F2B6BF67-2978-CE4D-8D5C-6E816D1CE5DA}" type="datetimeFigureOut">
              <a:rPr lang="en-US" smtClean="0"/>
              <a:t>1/29/24</a:t>
            </a:fld>
            <a:endParaRPr lang="en-US"/>
          </a:p>
        </p:txBody>
      </p:sp>
      <p:sp>
        <p:nvSpPr>
          <p:cNvPr id="3" name="Footer Placeholder 2">
            <a:extLst>
              <a:ext uri="{FF2B5EF4-FFF2-40B4-BE49-F238E27FC236}">
                <a16:creationId xmlns:a16="http://schemas.microsoft.com/office/drawing/2014/main" id="{53238132-0A4F-03DF-58B1-94BF9128DF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6177E9-763D-2D5D-9D8C-97B20F8E4A7F}"/>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410957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F000-DE8A-CE9E-41F4-F694C6CBC1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E82CB7-DF53-D0A9-F02E-92927C209C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594C14-7299-956F-C961-BED0731CD3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009C1-E38C-C2A1-7912-337666758055}"/>
              </a:ext>
            </a:extLst>
          </p:cNvPr>
          <p:cNvSpPr>
            <a:spLocks noGrp="1"/>
          </p:cNvSpPr>
          <p:nvPr>
            <p:ph type="dt" sz="half" idx="10"/>
          </p:nvPr>
        </p:nvSpPr>
        <p:spPr/>
        <p:txBody>
          <a:bodyPr/>
          <a:lstStyle/>
          <a:p>
            <a:fld id="{F2B6BF67-2978-CE4D-8D5C-6E816D1CE5DA}" type="datetimeFigureOut">
              <a:rPr lang="en-US" smtClean="0"/>
              <a:t>1/29/24</a:t>
            </a:fld>
            <a:endParaRPr lang="en-US"/>
          </a:p>
        </p:txBody>
      </p:sp>
      <p:sp>
        <p:nvSpPr>
          <p:cNvPr id="6" name="Footer Placeholder 5">
            <a:extLst>
              <a:ext uri="{FF2B5EF4-FFF2-40B4-BE49-F238E27FC236}">
                <a16:creationId xmlns:a16="http://schemas.microsoft.com/office/drawing/2014/main" id="{E817D2FF-00E2-5DCA-C61F-695D851285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2D0CA8-769C-1161-F822-37861152E99E}"/>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3268242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42AE2-56A6-1953-1EC6-1C380A044A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07935E-DE29-E13C-2EFF-A731AE506F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573276-6F92-B28B-DFF6-B85B15CA0B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E0E02C-8F0E-0766-10B8-3D13F31EBC6D}"/>
              </a:ext>
            </a:extLst>
          </p:cNvPr>
          <p:cNvSpPr>
            <a:spLocks noGrp="1"/>
          </p:cNvSpPr>
          <p:nvPr>
            <p:ph type="dt" sz="half" idx="10"/>
          </p:nvPr>
        </p:nvSpPr>
        <p:spPr/>
        <p:txBody>
          <a:bodyPr/>
          <a:lstStyle/>
          <a:p>
            <a:fld id="{F2B6BF67-2978-CE4D-8D5C-6E816D1CE5DA}" type="datetimeFigureOut">
              <a:rPr lang="en-US" smtClean="0"/>
              <a:t>1/29/24</a:t>
            </a:fld>
            <a:endParaRPr lang="en-US"/>
          </a:p>
        </p:txBody>
      </p:sp>
      <p:sp>
        <p:nvSpPr>
          <p:cNvPr id="6" name="Footer Placeholder 5">
            <a:extLst>
              <a:ext uri="{FF2B5EF4-FFF2-40B4-BE49-F238E27FC236}">
                <a16:creationId xmlns:a16="http://schemas.microsoft.com/office/drawing/2014/main" id="{39382496-98D3-8388-AD22-0F4E4D699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F996A0-FC2B-88E3-5E35-2293932622B5}"/>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1158459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6E25-C21D-D50B-12F1-31691B1134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38063E-5F85-1778-60EC-43CE288313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4A609A-6CF0-65DD-7EB1-6AACF166AC98}"/>
              </a:ext>
            </a:extLst>
          </p:cNvPr>
          <p:cNvSpPr>
            <a:spLocks noGrp="1"/>
          </p:cNvSpPr>
          <p:nvPr>
            <p:ph type="dt" sz="half" idx="10"/>
          </p:nvPr>
        </p:nvSpPr>
        <p:spPr/>
        <p:txBody>
          <a:bodyPr/>
          <a:lstStyle/>
          <a:p>
            <a:fld id="{F2B6BF67-2978-CE4D-8D5C-6E816D1CE5DA}" type="datetimeFigureOut">
              <a:rPr lang="en-US" smtClean="0"/>
              <a:t>1/29/24</a:t>
            </a:fld>
            <a:endParaRPr lang="en-US"/>
          </a:p>
        </p:txBody>
      </p:sp>
      <p:sp>
        <p:nvSpPr>
          <p:cNvPr id="5" name="Footer Placeholder 4">
            <a:extLst>
              <a:ext uri="{FF2B5EF4-FFF2-40B4-BE49-F238E27FC236}">
                <a16:creationId xmlns:a16="http://schemas.microsoft.com/office/drawing/2014/main" id="{0C48029D-4661-8072-483E-2EDA5A220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99EDA1-A260-41E2-9E3A-54A9E1629DAA}"/>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2081663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117EE9-2527-9EAC-DEDA-46B849C1D0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E14748-244C-0064-4007-8F59163AEA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82F76A-A9E6-D00E-72F6-74D78A1A8B43}"/>
              </a:ext>
            </a:extLst>
          </p:cNvPr>
          <p:cNvSpPr>
            <a:spLocks noGrp="1"/>
          </p:cNvSpPr>
          <p:nvPr>
            <p:ph type="dt" sz="half" idx="10"/>
          </p:nvPr>
        </p:nvSpPr>
        <p:spPr/>
        <p:txBody>
          <a:bodyPr/>
          <a:lstStyle/>
          <a:p>
            <a:fld id="{F2B6BF67-2978-CE4D-8D5C-6E816D1CE5DA}" type="datetimeFigureOut">
              <a:rPr lang="en-US" smtClean="0"/>
              <a:t>1/29/24</a:t>
            </a:fld>
            <a:endParaRPr lang="en-US"/>
          </a:p>
        </p:txBody>
      </p:sp>
      <p:sp>
        <p:nvSpPr>
          <p:cNvPr id="5" name="Footer Placeholder 4">
            <a:extLst>
              <a:ext uri="{FF2B5EF4-FFF2-40B4-BE49-F238E27FC236}">
                <a16:creationId xmlns:a16="http://schemas.microsoft.com/office/drawing/2014/main" id="{288FDC10-B7C5-1653-745E-520E93224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A00E2E-4D15-2875-D036-3FB9C012BBAC}"/>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140224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0EE122-A685-2B1F-28CC-3E492A8655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FF6834F-F1AC-C207-8881-5AA24912A8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0FF414-9283-03A5-C327-17E5CB0EFD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B6BF67-2978-CE4D-8D5C-6E816D1CE5DA}" type="datetimeFigureOut">
              <a:rPr lang="en-US" smtClean="0"/>
              <a:t>1/29/24</a:t>
            </a:fld>
            <a:endParaRPr lang="en-US"/>
          </a:p>
        </p:txBody>
      </p:sp>
      <p:sp>
        <p:nvSpPr>
          <p:cNvPr id="5" name="Footer Placeholder 4">
            <a:extLst>
              <a:ext uri="{FF2B5EF4-FFF2-40B4-BE49-F238E27FC236}">
                <a16:creationId xmlns:a16="http://schemas.microsoft.com/office/drawing/2014/main" id="{0258DD94-17DC-117C-0836-3192D08ACE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F6908EB-6321-127E-2E17-10E2F54E60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330F7D-D613-E24A-9838-C4B5C3515E0D}" type="slidenum">
              <a:rPr lang="en-US" smtClean="0"/>
              <a:t>‹#›</a:t>
            </a:fld>
            <a:endParaRPr lang="en-US"/>
          </a:p>
        </p:txBody>
      </p:sp>
    </p:spTree>
    <p:extLst>
      <p:ext uri="{BB962C8B-B14F-4D97-AF65-F5344CB8AC3E}">
        <p14:creationId xmlns:p14="http://schemas.microsoft.com/office/powerpoint/2010/main" val="1450351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www.phmsa.dot.gov/regulations" TargetMode="External"/><Relationship Id="rId3" Type="http://schemas.openxmlformats.org/officeDocument/2006/relationships/hyperlink" Target="https://www.epa.gov/emergency-response/types-crude-oil" TargetMode="External"/><Relationship Id="rId7" Type="http://schemas.openxmlformats.org/officeDocument/2006/relationships/hyperlink" Target="https://natural-resources.canada.ca/our-natural-resources/energy-sources-distribution/fossil-fuels/pipelines/faqs-federally-regulated-petroleum-pipelines-canada/5893#h-4-1" TargetMode="Externa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hyperlink" Target="https://www.phmsa.dot.gov/incident-reporting/accident-investigation-division/pipeline-failure-causes" TargetMode="External"/><Relationship Id="rId5" Type="http://schemas.openxmlformats.org/officeDocument/2006/relationships/hyperlink" Target="https://www.pipesearch.com/blog/sweet-and-sour-crude-oil/136" TargetMode="External"/><Relationship Id="rId10" Type="http://schemas.openxmlformats.org/officeDocument/2006/relationships/hyperlink" Target="https://www.phmsa.dot.gov/safe-transportation-energy-products/safe-transportation-energy-products-overview" TargetMode="External"/><Relationship Id="rId4" Type="http://schemas.openxmlformats.org/officeDocument/2006/relationships/hyperlink" Target="https://www.eia.gov/dnav/pet/TblDefs/pet_pnp_crq_tbldef2.asp" TargetMode="External"/><Relationship Id="rId9" Type="http://schemas.openxmlformats.org/officeDocument/2006/relationships/hyperlink" Target="https://www.tsb.gc.ca/eng/stats/pipeline/data-2.html"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141E8-7A77-B683-CBCA-B721AC37DB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2D54F5-96FD-BFB9-21CC-0BD88CE6E898}"/>
              </a:ext>
            </a:extLst>
          </p:cNvPr>
          <p:cNvSpPr>
            <a:spLocks noGrp="1"/>
          </p:cNvSpPr>
          <p:nvPr>
            <p:ph idx="1"/>
          </p:nvPr>
        </p:nvSpPr>
        <p:spPr/>
        <p:txBody>
          <a:bodyPr/>
          <a:lstStyle/>
          <a:p>
            <a:endParaRPr lang="en-US"/>
          </a:p>
        </p:txBody>
      </p:sp>
      <p:pic>
        <p:nvPicPr>
          <p:cNvPr id="6146" name="Picture 2" descr="Why Is Validere a Great Place to Work? - Validere">
            <a:extLst>
              <a:ext uri="{FF2B5EF4-FFF2-40B4-BE49-F238E27FC236}">
                <a16:creationId xmlns:a16="http://schemas.microsoft.com/office/drawing/2014/main" id="{D4130606-64FB-7738-40AD-DD2BE50BA0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556"/>
          <a:stretch/>
        </p:blipFill>
        <p:spPr bwMode="auto">
          <a:xfrm flipH="1" flipV="1">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DB5877E-665B-64F8-9EF0-1F08DC10C61F}"/>
              </a:ext>
            </a:extLst>
          </p:cNvPr>
          <p:cNvSpPr/>
          <p:nvPr/>
        </p:nvSpPr>
        <p:spPr>
          <a:xfrm>
            <a:off x="729573" y="1784737"/>
            <a:ext cx="6698838" cy="12202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chemeClr val="bg1"/>
                </a:solidFill>
                <a:latin typeface="Spectral" panose="02020502060000000000" pitchFamily="18" charset="77"/>
              </a:rPr>
              <a:t>Properties of Crude Oil Responsible for Pipeline Accidents</a:t>
            </a:r>
          </a:p>
        </p:txBody>
      </p:sp>
      <p:sp>
        <p:nvSpPr>
          <p:cNvPr id="5" name="Rectangle 4">
            <a:extLst>
              <a:ext uri="{FF2B5EF4-FFF2-40B4-BE49-F238E27FC236}">
                <a16:creationId xmlns:a16="http://schemas.microsoft.com/office/drawing/2014/main" id="{88A1459F-5616-25FF-A46F-2D925E859077}"/>
              </a:ext>
            </a:extLst>
          </p:cNvPr>
          <p:cNvSpPr/>
          <p:nvPr/>
        </p:nvSpPr>
        <p:spPr>
          <a:xfrm>
            <a:off x="729573" y="3769767"/>
            <a:ext cx="5969541" cy="3615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IBM Plex Sans Condensed" panose="020B0506050203000203" pitchFamily="34" charset="77"/>
              </a:rPr>
              <a:t>Date: January 29, 2023</a:t>
            </a:r>
          </a:p>
        </p:txBody>
      </p:sp>
      <p:sp>
        <p:nvSpPr>
          <p:cNvPr id="6" name="Rectangle 5">
            <a:extLst>
              <a:ext uri="{FF2B5EF4-FFF2-40B4-BE49-F238E27FC236}">
                <a16:creationId xmlns:a16="http://schemas.microsoft.com/office/drawing/2014/main" id="{479A94D8-104F-A669-9211-52C5BED1D9DE}"/>
              </a:ext>
            </a:extLst>
          </p:cNvPr>
          <p:cNvSpPr/>
          <p:nvPr/>
        </p:nvSpPr>
        <p:spPr>
          <a:xfrm>
            <a:off x="729573" y="3420858"/>
            <a:ext cx="5969541" cy="3489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IBM Plex Sans Condensed" panose="020B0506050203000203" pitchFamily="34" charset="77"/>
              </a:rPr>
              <a:t>Created By: Cameron MacKinnon</a:t>
            </a:r>
          </a:p>
        </p:txBody>
      </p:sp>
      <p:cxnSp>
        <p:nvCxnSpPr>
          <p:cNvPr id="7" name="Straight Connector 6">
            <a:extLst>
              <a:ext uri="{FF2B5EF4-FFF2-40B4-BE49-F238E27FC236}">
                <a16:creationId xmlns:a16="http://schemas.microsoft.com/office/drawing/2014/main" id="{FE3C0BFB-6277-8E26-2255-59D04F6A73B4}"/>
              </a:ext>
            </a:extLst>
          </p:cNvPr>
          <p:cNvCxnSpPr>
            <a:cxnSpLocks/>
          </p:cNvCxnSpPr>
          <p:nvPr/>
        </p:nvCxnSpPr>
        <p:spPr>
          <a:xfrm>
            <a:off x="836023" y="3283404"/>
            <a:ext cx="6731726" cy="0"/>
          </a:xfrm>
          <a:prstGeom prst="line">
            <a:avLst/>
          </a:prstGeom>
          <a:ln w="28575">
            <a:solidFill>
              <a:srgbClr val="D6DBDD"/>
            </a:solidFill>
          </a:ln>
        </p:spPr>
        <p:style>
          <a:lnRef idx="1">
            <a:schemeClr val="accent1"/>
          </a:lnRef>
          <a:fillRef idx="0">
            <a:schemeClr val="accent1"/>
          </a:fillRef>
          <a:effectRef idx="0">
            <a:schemeClr val="accent1"/>
          </a:effectRef>
          <a:fontRef idx="minor">
            <a:schemeClr val="tx1"/>
          </a:fontRef>
        </p:style>
      </p:cxnSp>
      <p:pic>
        <p:nvPicPr>
          <p:cNvPr id="8" name="Picture 2" descr="Validere Acquires Regulatory Reporting Platform Clairifi - Validere">
            <a:extLst>
              <a:ext uri="{FF2B5EF4-FFF2-40B4-BE49-F238E27FC236}">
                <a16:creationId xmlns:a16="http://schemas.microsoft.com/office/drawing/2014/main" id="{3BF0D8B9-1BB4-7CC2-EDF9-838BE3BCC4B7}"/>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4224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Table of Contents</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DA76F35-D9B8-C9A4-D281-3E7D21973AFB}"/>
              </a:ext>
            </a:extLst>
          </p:cNvPr>
          <p:cNvSpPr txBox="1"/>
          <p:nvPr/>
        </p:nvSpPr>
        <p:spPr>
          <a:xfrm>
            <a:off x="348343" y="1489166"/>
            <a:ext cx="10162903" cy="4247317"/>
          </a:xfrm>
          <a:prstGeom prst="rect">
            <a:avLst/>
          </a:prstGeom>
          <a:noFill/>
        </p:spPr>
        <p:txBody>
          <a:bodyPr wrap="square" rtlCol="0">
            <a:spAutoFit/>
          </a:bodyPr>
          <a:lstStyle/>
          <a:p>
            <a:r>
              <a:rPr lang="en-US" dirty="0">
                <a:latin typeface="IBM Plex Sans Condensed" panose="020B0506050203000203" pitchFamily="34" charset="77"/>
              </a:rPr>
              <a:t>Problem Statement</a:t>
            </a:r>
          </a:p>
          <a:p>
            <a:r>
              <a:rPr lang="en-US" dirty="0">
                <a:latin typeface="IBM Plex Sans Condensed" panose="020B0506050203000203" pitchFamily="34" charset="77"/>
              </a:rPr>
              <a:t>Part A</a:t>
            </a:r>
          </a:p>
          <a:p>
            <a:pPr marL="742950" lvl="1" indent="-285750">
              <a:buFont typeface="Arial" panose="020B0604020202020204" pitchFamily="34" charset="0"/>
              <a:buChar char="•"/>
            </a:pPr>
            <a:r>
              <a:rPr lang="en-US" dirty="0">
                <a:latin typeface="IBM Plex Sans Condensed" panose="020B0506050203000203" pitchFamily="34" charset="77"/>
              </a:rPr>
              <a:t>Crude Oil</a:t>
            </a:r>
          </a:p>
          <a:p>
            <a:pPr marL="742950" lvl="1" indent="-285750">
              <a:buFont typeface="Arial" panose="020B0604020202020204" pitchFamily="34" charset="0"/>
              <a:buChar char="•"/>
            </a:pPr>
            <a:r>
              <a:rPr lang="en-US" dirty="0">
                <a:latin typeface="IBM Plex Sans Condensed" panose="020B0506050203000203" pitchFamily="34" charset="77"/>
              </a:rPr>
              <a:t>Pipeline Accidents</a:t>
            </a:r>
          </a:p>
          <a:p>
            <a:pPr marL="742950" lvl="1" indent="-285750">
              <a:buFont typeface="Arial" panose="020B0604020202020204" pitchFamily="34" charset="0"/>
              <a:buChar char="•"/>
            </a:pPr>
            <a:r>
              <a:rPr lang="en-US" dirty="0">
                <a:latin typeface="IBM Plex Sans Condensed" panose="020B0506050203000203" pitchFamily="34" charset="77"/>
              </a:rPr>
              <a:t>Dataset Collection</a:t>
            </a:r>
          </a:p>
          <a:p>
            <a:pPr marL="742950" lvl="1" indent="-285750">
              <a:buFont typeface="Arial" panose="020B0604020202020204" pitchFamily="34" charset="0"/>
              <a:buChar char="•"/>
            </a:pPr>
            <a:r>
              <a:rPr lang="en-US" dirty="0">
                <a:latin typeface="IBM Plex Sans Condensed" panose="020B0506050203000203" pitchFamily="34" charset="77"/>
              </a:rPr>
              <a:t>Approach</a:t>
            </a:r>
          </a:p>
          <a:p>
            <a:pPr marL="742950" lvl="1" indent="-285750">
              <a:buFont typeface="Arial" panose="020B0604020202020204" pitchFamily="34" charset="0"/>
              <a:buChar char="•"/>
            </a:pPr>
            <a:r>
              <a:rPr lang="en-US" dirty="0">
                <a:latin typeface="IBM Plex Sans Condensed" panose="020B0506050203000203" pitchFamily="34" charset="77"/>
              </a:rPr>
              <a:t>Analysis</a:t>
            </a:r>
          </a:p>
          <a:p>
            <a:pPr marL="742950" lvl="1" indent="-285750">
              <a:buFont typeface="Arial" panose="020B0604020202020204" pitchFamily="34" charset="0"/>
              <a:buChar char="•"/>
            </a:pPr>
            <a:r>
              <a:rPr lang="en-US" dirty="0">
                <a:latin typeface="IBM Plex Sans Condensed" panose="020B0506050203000203" pitchFamily="34" charset="77"/>
              </a:rPr>
              <a:t>Results</a:t>
            </a:r>
          </a:p>
          <a:p>
            <a:pPr marL="742950" lvl="1" indent="-285750">
              <a:buFont typeface="Arial" panose="020B0604020202020204" pitchFamily="34" charset="0"/>
              <a:buChar char="•"/>
            </a:pPr>
            <a:r>
              <a:rPr lang="en-US" dirty="0">
                <a:latin typeface="IBM Plex Sans Condensed" panose="020B0506050203000203" pitchFamily="34" charset="77"/>
              </a:rPr>
              <a:t>Conclusion &amp; Suggested Next Steps</a:t>
            </a:r>
          </a:p>
          <a:p>
            <a:r>
              <a:rPr lang="en-US" dirty="0">
                <a:latin typeface="IBM Plex Sans Condensed" panose="020B0506050203000203" pitchFamily="34" charset="77"/>
              </a:rPr>
              <a:t>Part B</a:t>
            </a:r>
          </a:p>
          <a:p>
            <a:pPr marL="742950" lvl="1" indent="-285750">
              <a:buFont typeface="Arial" panose="020B0604020202020204" pitchFamily="34" charset="0"/>
              <a:buChar char="•"/>
            </a:pPr>
            <a:r>
              <a:rPr lang="en-US" dirty="0">
                <a:latin typeface="IBM Plex Sans Condensed" panose="020B0506050203000203" pitchFamily="34" charset="77"/>
              </a:rPr>
              <a:t>Current &amp; Proposed Regulations</a:t>
            </a:r>
          </a:p>
          <a:p>
            <a:pPr marL="742950" lvl="1" indent="-285750">
              <a:buFont typeface="Arial" panose="020B0604020202020204" pitchFamily="34" charset="0"/>
              <a:buChar char="•"/>
            </a:pPr>
            <a:r>
              <a:rPr lang="en-US" dirty="0">
                <a:latin typeface="IBM Plex Sans Condensed" panose="020B0506050203000203" pitchFamily="34" charset="77"/>
              </a:rPr>
              <a:t>Quantifying Success &amp; Market Implications</a:t>
            </a:r>
          </a:p>
          <a:p>
            <a:r>
              <a:rPr lang="en-US" dirty="0">
                <a:latin typeface="IBM Plex Sans Condensed" panose="020B0506050203000203" pitchFamily="34" charset="77"/>
              </a:rPr>
              <a:t>References</a:t>
            </a:r>
          </a:p>
          <a:p>
            <a:r>
              <a:rPr lang="en-US" dirty="0">
                <a:latin typeface="IBM Plex Sans Condensed" panose="020B0506050203000203" pitchFamily="34" charset="77"/>
              </a:rPr>
              <a:t>Appendix</a:t>
            </a:r>
          </a:p>
          <a:p>
            <a:pPr marL="342900" indent="-342900">
              <a:buFont typeface="Arial" panose="020B0604020202020204" pitchFamily="34" charset="0"/>
              <a:buChar char="•"/>
            </a:pPr>
            <a:endParaRPr lang="en-US" dirty="0">
              <a:latin typeface="IBM Plex Sans Condensed" panose="020B0506050203000203" pitchFamily="34" charset="77"/>
            </a:endParaRPr>
          </a:p>
        </p:txBody>
      </p:sp>
      <p:cxnSp>
        <p:nvCxnSpPr>
          <p:cNvPr id="8" name="Straight Connector 7">
            <a:extLst>
              <a:ext uri="{FF2B5EF4-FFF2-40B4-BE49-F238E27FC236}">
                <a16:creationId xmlns:a16="http://schemas.microsoft.com/office/drawing/2014/main" id="{367ED728-390F-3F8A-5857-EA1F707AD76B}"/>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48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Problem Statement</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446A0DB-5D02-B35C-44C5-F05E5426C5DF}"/>
              </a:ext>
            </a:extLst>
          </p:cNvPr>
          <p:cNvSpPr txBox="1"/>
          <p:nvPr/>
        </p:nvSpPr>
        <p:spPr>
          <a:xfrm>
            <a:off x="348343" y="1047347"/>
            <a:ext cx="11325495" cy="307777"/>
          </a:xfrm>
          <a:prstGeom prst="rect">
            <a:avLst/>
          </a:prstGeom>
          <a:noFill/>
        </p:spPr>
        <p:txBody>
          <a:bodyPr wrap="square" rtlCol="0">
            <a:spAutoFit/>
          </a:bodyPr>
          <a:lstStyle/>
          <a:p>
            <a:r>
              <a:rPr lang="en-US" sz="1400" dirty="0">
                <a:latin typeface="IBM Plex Sans Condensed" panose="020B0506050203000203" pitchFamily="34" charset="77"/>
              </a:rPr>
              <a:t>What qualities of crude oil lead to pipeline accidents and what are the related regulations?  </a:t>
            </a:r>
          </a:p>
        </p:txBody>
      </p:sp>
      <p:sp>
        <p:nvSpPr>
          <p:cNvPr id="3" name="Rectangle 2">
            <a:extLst>
              <a:ext uri="{FF2B5EF4-FFF2-40B4-BE49-F238E27FC236}">
                <a16:creationId xmlns:a16="http://schemas.microsoft.com/office/drawing/2014/main" id="{3AE8F328-242B-CA62-B910-BC5A7CA5CCB1}"/>
              </a:ext>
            </a:extLst>
          </p:cNvPr>
          <p:cNvSpPr/>
          <p:nvPr/>
        </p:nvSpPr>
        <p:spPr>
          <a:xfrm>
            <a:off x="431075" y="1802089"/>
            <a:ext cx="11325495" cy="489857"/>
          </a:xfrm>
          <a:prstGeom prst="rect">
            <a:avLst/>
          </a:prstGeom>
          <a:solidFill>
            <a:srgbClr val="0A26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Spectral" panose="02020502060000000000" pitchFamily="18" charset="77"/>
              </a:rPr>
              <a:t>Part A</a:t>
            </a:r>
          </a:p>
        </p:txBody>
      </p:sp>
      <p:sp>
        <p:nvSpPr>
          <p:cNvPr id="5" name="Rectangle 4">
            <a:extLst>
              <a:ext uri="{FF2B5EF4-FFF2-40B4-BE49-F238E27FC236}">
                <a16:creationId xmlns:a16="http://schemas.microsoft.com/office/drawing/2014/main" id="{BE1D5ACF-9C1F-29AA-A958-C9A2470EADB8}"/>
              </a:ext>
            </a:extLst>
          </p:cNvPr>
          <p:cNvSpPr/>
          <p:nvPr/>
        </p:nvSpPr>
        <p:spPr>
          <a:xfrm>
            <a:off x="431075" y="3473696"/>
            <a:ext cx="11325495" cy="489857"/>
          </a:xfrm>
          <a:prstGeom prst="rect">
            <a:avLst/>
          </a:prstGeom>
          <a:solidFill>
            <a:srgbClr val="0A26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Spectral" panose="02020502060000000000" pitchFamily="18" charset="77"/>
              </a:rPr>
              <a:t>Part B – Regulations &amp; Implications</a:t>
            </a:r>
          </a:p>
        </p:txBody>
      </p:sp>
      <p:sp>
        <p:nvSpPr>
          <p:cNvPr id="9" name="Rectangle 8">
            <a:extLst>
              <a:ext uri="{FF2B5EF4-FFF2-40B4-BE49-F238E27FC236}">
                <a16:creationId xmlns:a16="http://schemas.microsoft.com/office/drawing/2014/main" id="{C3EE2856-0C0B-F380-15D8-332C8F627E12}"/>
              </a:ext>
            </a:extLst>
          </p:cNvPr>
          <p:cNvSpPr/>
          <p:nvPr/>
        </p:nvSpPr>
        <p:spPr>
          <a:xfrm>
            <a:off x="431075" y="2291946"/>
            <a:ext cx="11325495" cy="4898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IBM Plex Sans Condensed" panose="020B0506050203000203" pitchFamily="34" charset="77"/>
              </a:rPr>
              <a:t>What physical or chemical properties of crude oil could be responsible for pipeline accidents?</a:t>
            </a:r>
          </a:p>
        </p:txBody>
      </p:sp>
      <p:sp>
        <p:nvSpPr>
          <p:cNvPr id="10" name="Rectangle 9">
            <a:extLst>
              <a:ext uri="{FF2B5EF4-FFF2-40B4-BE49-F238E27FC236}">
                <a16:creationId xmlns:a16="http://schemas.microsoft.com/office/drawing/2014/main" id="{4BD953D9-371A-5C60-4681-88D91CACE5C3}"/>
              </a:ext>
            </a:extLst>
          </p:cNvPr>
          <p:cNvSpPr/>
          <p:nvPr/>
        </p:nvSpPr>
        <p:spPr>
          <a:xfrm>
            <a:off x="431075" y="3963554"/>
            <a:ext cx="11325495" cy="9234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IBM Plex Sans Condensed" panose="020B0506050203000203" pitchFamily="34" charset="77"/>
              </a:rPr>
              <a:t>- What regulations on those properties would you recommend?</a:t>
            </a:r>
          </a:p>
          <a:p>
            <a:r>
              <a:rPr lang="en-US" sz="1400" dirty="0">
                <a:solidFill>
                  <a:schemeClr val="tx1"/>
                </a:solidFill>
                <a:latin typeface="IBM Plex Sans Condensed" panose="020B0506050203000203" pitchFamily="34" charset="77"/>
              </a:rPr>
              <a:t>- Have we gotten better at regulating those properties over time?</a:t>
            </a:r>
          </a:p>
          <a:p>
            <a:r>
              <a:rPr lang="en-US" sz="1400" dirty="0">
                <a:solidFill>
                  <a:schemeClr val="tx1"/>
                </a:solidFill>
                <a:latin typeface="IBM Plex Sans Condensed" panose="020B0506050203000203" pitchFamily="34" charset="77"/>
              </a:rPr>
              <a:t>- What implications on the oil market would these regulations have? </a:t>
            </a:r>
          </a:p>
          <a:p>
            <a:r>
              <a:rPr lang="en-US" sz="1400" dirty="0">
                <a:solidFill>
                  <a:schemeClr val="tx1"/>
                </a:solidFill>
                <a:latin typeface="IBM Plex Sans Condensed" panose="020B0506050203000203" pitchFamily="34" charset="77"/>
              </a:rPr>
              <a:t>- How can success of these regulations be quantified in the short term and long term? </a:t>
            </a:r>
          </a:p>
        </p:txBody>
      </p:sp>
      <p:cxnSp>
        <p:nvCxnSpPr>
          <p:cNvPr id="7" name="Straight Connector 6">
            <a:extLst>
              <a:ext uri="{FF2B5EF4-FFF2-40B4-BE49-F238E27FC236}">
                <a16:creationId xmlns:a16="http://schemas.microsoft.com/office/drawing/2014/main" id="{B72CE26C-5458-3228-D8C6-D4D8D57F8BCE}"/>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674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ESG Is Not a Black Box - Validere">
            <a:extLst>
              <a:ext uri="{FF2B5EF4-FFF2-40B4-BE49-F238E27FC236}">
                <a16:creationId xmlns:a16="http://schemas.microsoft.com/office/drawing/2014/main" id="{EA3C2ED1-6235-120F-BB67-8B382C3EA5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7F40E04-0FF0-4058-E5B2-051685ADDEDB}"/>
              </a:ext>
            </a:extLst>
          </p:cNvPr>
          <p:cNvSpPr/>
          <p:nvPr/>
        </p:nvSpPr>
        <p:spPr>
          <a:xfrm>
            <a:off x="729573" y="2208713"/>
            <a:ext cx="6698838" cy="12202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bg1"/>
                </a:solidFill>
                <a:latin typeface="Spectral" panose="02020502060000000000" pitchFamily="18" charset="77"/>
              </a:rPr>
              <a:t>Part A – Physical or Chemical Properties of Crude Oil that could be Responsible for Pipeline Accidents </a:t>
            </a:r>
          </a:p>
        </p:txBody>
      </p:sp>
      <p:pic>
        <p:nvPicPr>
          <p:cNvPr id="4" name="Picture 2" descr="Validere Acquires Regulatory Reporting Platform Clairifi - Validere">
            <a:extLst>
              <a:ext uri="{FF2B5EF4-FFF2-40B4-BE49-F238E27FC236}">
                <a16:creationId xmlns:a16="http://schemas.microsoft.com/office/drawing/2014/main" id="{FB7EE65E-8925-81A8-2BFC-A52991598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8137" y="6313713"/>
            <a:ext cx="2377441" cy="247559"/>
          </a:xfrm>
          <a:prstGeom prst="rect">
            <a:avLst/>
          </a:prstGeom>
          <a:noFill/>
          <a:extLst>
            <a:ext uri="{909E8E84-426E-40DD-AFC4-6F175D3DCCD1}">
              <a14:hiddenFill xmlns:a14="http://schemas.microsoft.com/office/drawing/2010/main">
                <a:solidFill>
                  <a:srgbClr val="FFFFFF"/>
                </a:solidFill>
              </a14:hiddenFill>
            </a:ext>
          </a:extLst>
        </p:spPr>
      </p:pic>
      <p:cxnSp>
        <p:nvCxnSpPr>
          <p:cNvPr id="2" name="Straight Connector 1">
            <a:extLst>
              <a:ext uri="{FF2B5EF4-FFF2-40B4-BE49-F238E27FC236}">
                <a16:creationId xmlns:a16="http://schemas.microsoft.com/office/drawing/2014/main" id="{3B597046-2C0C-F03C-1EBC-7E510934E079}"/>
              </a:ext>
            </a:extLst>
          </p:cNvPr>
          <p:cNvCxnSpPr>
            <a:cxnSpLocks/>
          </p:cNvCxnSpPr>
          <p:nvPr/>
        </p:nvCxnSpPr>
        <p:spPr>
          <a:xfrm>
            <a:off x="827314" y="3579789"/>
            <a:ext cx="6731726" cy="0"/>
          </a:xfrm>
          <a:prstGeom prst="line">
            <a:avLst/>
          </a:prstGeom>
          <a:ln w="28575">
            <a:solidFill>
              <a:srgbClr val="D6DBD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1639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Crude Oil</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2" name="Rounded Rectangle 21">
            <a:extLst>
              <a:ext uri="{FF2B5EF4-FFF2-40B4-BE49-F238E27FC236}">
                <a16:creationId xmlns:a16="http://schemas.microsoft.com/office/drawing/2014/main" id="{931CF134-3B7B-7650-80AD-962A8EAEF00A}"/>
              </a:ext>
            </a:extLst>
          </p:cNvPr>
          <p:cNvSpPr/>
          <p:nvPr/>
        </p:nvSpPr>
        <p:spPr>
          <a:xfrm>
            <a:off x="348341" y="2687053"/>
            <a:ext cx="7589505" cy="461550"/>
          </a:xfrm>
          <a:prstGeom prst="roundRect">
            <a:avLst/>
          </a:prstGeom>
          <a:solidFill>
            <a:srgbClr val="1D2C3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Spectral" panose="02020502060000000000" pitchFamily="18" charset="77"/>
              </a:rPr>
              <a:t>Physical Properties</a:t>
            </a:r>
          </a:p>
        </p:txBody>
      </p:sp>
      <p:sp>
        <p:nvSpPr>
          <p:cNvPr id="23" name="Rectangle 22">
            <a:extLst>
              <a:ext uri="{FF2B5EF4-FFF2-40B4-BE49-F238E27FC236}">
                <a16:creationId xmlns:a16="http://schemas.microsoft.com/office/drawing/2014/main" id="{4DC245F1-BD6C-B40D-D10E-8BF1FCF2A1E5}"/>
              </a:ext>
            </a:extLst>
          </p:cNvPr>
          <p:cNvSpPr/>
          <p:nvPr/>
        </p:nvSpPr>
        <p:spPr>
          <a:xfrm>
            <a:off x="2524920" y="3272423"/>
            <a:ext cx="2432595" cy="2136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2CABAF"/>
                </a:solidFill>
                <a:latin typeface="IBM Plex Sans Condensed" panose="020B0506050203000203" pitchFamily="34" charset="77"/>
              </a:rPr>
              <a:t>CLASS A: LIGHT, VOLATILE OILS [2]</a:t>
            </a:r>
          </a:p>
        </p:txBody>
      </p:sp>
      <p:sp>
        <p:nvSpPr>
          <p:cNvPr id="24" name="Rectangle 23">
            <a:extLst>
              <a:ext uri="{FF2B5EF4-FFF2-40B4-BE49-F238E27FC236}">
                <a16:creationId xmlns:a16="http://schemas.microsoft.com/office/drawing/2014/main" id="{6F991887-4F70-54B3-1E4C-724330DDE77F}"/>
              </a:ext>
            </a:extLst>
          </p:cNvPr>
          <p:cNvSpPr/>
          <p:nvPr/>
        </p:nvSpPr>
        <p:spPr>
          <a:xfrm>
            <a:off x="5156171" y="3272423"/>
            <a:ext cx="2354218" cy="2136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2CABAF"/>
                </a:solidFill>
                <a:latin typeface="IBM Plex Sans Condensed" panose="020B0506050203000203" pitchFamily="34" charset="77"/>
              </a:rPr>
              <a:t>CLASS B: NON-STICKY OILS</a:t>
            </a:r>
          </a:p>
        </p:txBody>
      </p:sp>
      <p:sp>
        <p:nvSpPr>
          <p:cNvPr id="27" name="Rectangle 26">
            <a:extLst>
              <a:ext uri="{FF2B5EF4-FFF2-40B4-BE49-F238E27FC236}">
                <a16:creationId xmlns:a16="http://schemas.microsoft.com/office/drawing/2014/main" id="{2C1BD15A-2798-62AE-DFDA-FFE460ECC393}"/>
              </a:ext>
            </a:extLst>
          </p:cNvPr>
          <p:cNvSpPr/>
          <p:nvPr/>
        </p:nvSpPr>
        <p:spPr>
          <a:xfrm>
            <a:off x="2603296" y="3486046"/>
            <a:ext cx="2354219" cy="12591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Highly fluid</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Often clear</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Spread rapidly on solid or water surfaces</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Have a strong odor</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High evaporation rate</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Usually flammable</a:t>
            </a:r>
          </a:p>
        </p:txBody>
      </p:sp>
      <p:sp>
        <p:nvSpPr>
          <p:cNvPr id="28" name="Rectangle 27">
            <a:extLst>
              <a:ext uri="{FF2B5EF4-FFF2-40B4-BE49-F238E27FC236}">
                <a16:creationId xmlns:a16="http://schemas.microsoft.com/office/drawing/2014/main" id="{9B82BC63-92A6-BAD7-FCAE-E227149A0273}"/>
              </a:ext>
            </a:extLst>
          </p:cNvPr>
          <p:cNvSpPr/>
          <p:nvPr/>
        </p:nvSpPr>
        <p:spPr>
          <a:xfrm>
            <a:off x="5212778" y="3529701"/>
            <a:ext cx="2354219" cy="8736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Waxy or oily</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Less toxic</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Penetrate porous substances</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Evaporation of volatiles leads to Class C or D residue</a:t>
            </a:r>
          </a:p>
        </p:txBody>
      </p:sp>
      <p:sp>
        <p:nvSpPr>
          <p:cNvPr id="32" name="Rectangle 31">
            <a:extLst>
              <a:ext uri="{FF2B5EF4-FFF2-40B4-BE49-F238E27FC236}">
                <a16:creationId xmlns:a16="http://schemas.microsoft.com/office/drawing/2014/main" id="{EAD76F7A-6529-9CBD-E072-A32C5FC52596}"/>
              </a:ext>
            </a:extLst>
          </p:cNvPr>
          <p:cNvSpPr/>
          <p:nvPr/>
        </p:nvSpPr>
        <p:spPr>
          <a:xfrm>
            <a:off x="2524920" y="4942165"/>
            <a:ext cx="2354218" cy="2136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2CABAF"/>
                </a:solidFill>
                <a:latin typeface="IBM Plex Sans Condensed" panose="020B0506050203000203" pitchFamily="34" charset="77"/>
              </a:rPr>
              <a:t>CLASS C: HEAVY, STICKY OILS</a:t>
            </a:r>
          </a:p>
        </p:txBody>
      </p:sp>
      <p:sp>
        <p:nvSpPr>
          <p:cNvPr id="33" name="Rectangle 32">
            <a:extLst>
              <a:ext uri="{FF2B5EF4-FFF2-40B4-BE49-F238E27FC236}">
                <a16:creationId xmlns:a16="http://schemas.microsoft.com/office/drawing/2014/main" id="{A3482493-CBB1-0892-F82B-E77BB0377AA3}"/>
              </a:ext>
            </a:extLst>
          </p:cNvPr>
          <p:cNvSpPr/>
          <p:nvPr/>
        </p:nvSpPr>
        <p:spPr>
          <a:xfrm>
            <a:off x="2617089" y="5199443"/>
            <a:ext cx="2354219" cy="4885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Viscous</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Sticky or tarry</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Brown or black</a:t>
            </a:r>
          </a:p>
        </p:txBody>
      </p:sp>
      <p:sp>
        <p:nvSpPr>
          <p:cNvPr id="38" name="Rectangle 37">
            <a:extLst>
              <a:ext uri="{FF2B5EF4-FFF2-40B4-BE49-F238E27FC236}">
                <a16:creationId xmlns:a16="http://schemas.microsoft.com/office/drawing/2014/main" id="{BE0A8636-50D8-8BCA-BD06-E24328315222}"/>
              </a:ext>
            </a:extLst>
          </p:cNvPr>
          <p:cNvSpPr/>
          <p:nvPr/>
        </p:nvSpPr>
        <p:spPr>
          <a:xfrm>
            <a:off x="5156171" y="4905644"/>
            <a:ext cx="2354218" cy="2136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2CABAF"/>
                </a:solidFill>
                <a:latin typeface="IBM Plex Sans Condensed" panose="020B0506050203000203" pitchFamily="34" charset="77"/>
              </a:rPr>
              <a:t>CLASS D: NON-FLUID OILS</a:t>
            </a:r>
          </a:p>
        </p:txBody>
      </p:sp>
      <p:sp>
        <p:nvSpPr>
          <p:cNvPr id="39" name="Rectangle 38">
            <a:extLst>
              <a:ext uri="{FF2B5EF4-FFF2-40B4-BE49-F238E27FC236}">
                <a16:creationId xmlns:a16="http://schemas.microsoft.com/office/drawing/2014/main" id="{45CB12EF-39C5-C1EA-E6D2-4AD38E8E2400}"/>
              </a:ext>
            </a:extLst>
          </p:cNvPr>
          <p:cNvSpPr/>
          <p:nvPr/>
        </p:nvSpPr>
        <p:spPr>
          <a:xfrm>
            <a:off x="5212778" y="5129445"/>
            <a:ext cx="2354219" cy="5585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Relatively non-toxic</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Do not penetrate porous substances</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Black or dark brown</a:t>
            </a:r>
          </a:p>
        </p:txBody>
      </p:sp>
      <p:sp>
        <p:nvSpPr>
          <p:cNvPr id="43" name="TextBox 42">
            <a:extLst>
              <a:ext uri="{FF2B5EF4-FFF2-40B4-BE49-F238E27FC236}">
                <a16:creationId xmlns:a16="http://schemas.microsoft.com/office/drawing/2014/main" id="{AFFB841C-5C20-E60C-EE55-8F36671D336B}"/>
              </a:ext>
            </a:extLst>
          </p:cNvPr>
          <p:cNvSpPr txBox="1"/>
          <p:nvPr/>
        </p:nvSpPr>
        <p:spPr>
          <a:xfrm>
            <a:off x="348342" y="1047347"/>
            <a:ext cx="11408227" cy="523220"/>
          </a:xfrm>
          <a:prstGeom prst="rect">
            <a:avLst/>
          </a:prstGeom>
          <a:noFill/>
        </p:spPr>
        <p:txBody>
          <a:bodyPr wrap="square" rtlCol="0">
            <a:spAutoFit/>
          </a:bodyPr>
          <a:lstStyle/>
          <a:p>
            <a:r>
              <a:rPr lang="en-US" sz="1400" dirty="0">
                <a:latin typeface="IBM Plex Sans Condensed" panose="020B0506050203000203" pitchFamily="34" charset="77"/>
              </a:rPr>
              <a:t>To determine what underlying properties of crude oil could be contributing to pipeline accidents, we need to first understand the composition of crude oil. This includes its chemical composition, its physical properties, and any additional qualities that could be related to pipeline incidents. </a:t>
            </a:r>
          </a:p>
        </p:txBody>
      </p:sp>
      <p:sp>
        <p:nvSpPr>
          <p:cNvPr id="44" name="Rectangle 43">
            <a:extLst>
              <a:ext uri="{FF2B5EF4-FFF2-40B4-BE49-F238E27FC236}">
                <a16:creationId xmlns:a16="http://schemas.microsoft.com/office/drawing/2014/main" id="{A7BC24F4-A733-EE42-36D2-6F38A6418BE4}"/>
              </a:ext>
            </a:extLst>
          </p:cNvPr>
          <p:cNvSpPr/>
          <p:nvPr/>
        </p:nvSpPr>
        <p:spPr>
          <a:xfrm>
            <a:off x="435395" y="3272423"/>
            <a:ext cx="1719937" cy="1772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latin typeface="IBM Plex Sans Condensed" panose="020B0506050203000203" pitchFamily="34" charset="77"/>
              </a:rPr>
              <a:t>The weight of crude oils is measured on an arbitrary scale based on their relative gravity/density to water, where water has 10 API gravity. Heavy crudes have an API of 22 or below, lighter crudes generally exceed 38 API. [3]</a:t>
            </a:r>
          </a:p>
        </p:txBody>
      </p:sp>
      <p:sp>
        <p:nvSpPr>
          <p:cNvPr id="45" name="Rounded Rectangle 44">
            <a:extLst>
              <a:ext uri="{FF2B5EF4-FFF2-40B4-BE49-F238E27FC236}">
                <a16:creationId xmlns:a16="http://schemas.microsoft.com/office/drawing/2014/main" id="{694DB9D0-D312-B8AA-E32A-4F32A40D98D3}"/>
              </a:ext>
            </a:extLst>
          </p:cNvPr>
          <p:cNvSpPr/>
          <p:nvPr/>
        </p:nvSpPr>
        <p:spPr>
          <a:xfrm>
            <a:off x="8057613" y="2687053"/>
            <a:ext cx="3713828" cy="461550"/>
          </a:xfrm>
          <a:prstGeom prst="roundRect">
            <a:avLst/>
          </a:prstGeom>
          <a:solidFill>
            <a:srgbClr val="1D2C3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Spectral" panose="02020502060000000000" pitchFamily="18" charset="77"/>
              </a:rPr>
              <a:t>Chemical Properties</a:t>
            </a:r>
          </a:p>
        </p:txBody>
      </p:sp>
      <p:sp>
        <p:nvSpPr>
          <p:cNvPr id="46" name="Rectangle 45">
            <a:extLst>
              <a:ext uri="{FF2B5EF4-FFF2-40B4-BE49-F238E27FC236}">
                <a16:creationId xmlns:a16="http://schemas.microsoft.com/office/drawing/2014/main" id="{85C717E0-6867-EA79-8DA1-6F3460CE9E1A}"/>
              </a:ext>
            </a:extLst>
          </p:cNvPr>
          <p:cNvSpPr/>
          <p:nvPr/>
        </p:nvSpPr>
        <p:spPr>
          <a:xfrm>
            <a:off x="8014961" y="3272423"/>
            <a:ext cx="3713828" cy="5943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latin typeface="IBM Plex Sans Condensed" panose="020B0506050203000203" pitchFamily="34" charset="77"/>
              </a:rPr>
              <a:t>Crude Oil is also known for containing varying concentrations of sulfur.</a:t>
            </a:r>
          </a:p>
        </p:txBody>
      </p:sp>
      <p:sp>
        <p:nvSpPr>
          <p:cNvPr id="47" name="Rectangle 46">
            <a:extLst>
              <a:ext uri="{FF2B5EF4-FFF2-40B4-BE49-F238E27FC236}">
                <a16:creationId xmlns:a16="http://schemas.microsoft.com/office/drawing/2014/main" id="{3677D8AB-7D27-B849-6DFE-2264A5BC024C}"/>
              </a:ext>
            </a:extLst>
          </p:cNvPr>
          <p:cNvSpPr/>
          <p:nvPr/>
        </p:nvSpPr>
        <p:spPr>
          <a:xfrm>
            <a:off x="8990513" y="4231088"/>
            <a:ext cx="1953617" cy="2819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rgbClr val="2CABAF"/>
                </a:solidFill>
                <a:latin typeface="IBM Plex Sans Condensed" panose="020B0506050203000203" pitchFamily="34" charset="77"/>
              </a:rPr>
              <a:t>SOUR:</a:t>
            </a:r>
            <a:r>
              <a:rPr lang="en-US" sz="1100" b="1" dirty="0">
                <a:solidFill>
                  <a:srgbClr val="2CABAF"/>
                </a:solidFill>
                <a:latin typeface="IBM Plex Sans Condensed" panose="020B0506050203000203" pitchFamily="34" charset="77"/>
              </a:rPr>
              <a:t> </a:t>
            </a:r>
            <a:r>
              <a:rPr lang="en-US" sz="1100" dirty="0">
                <a:solidFill>
                  <a:schemeClr val="tx1"/>
                </a:solidFill>
                <a:latin typeface="IBM Plex Sans Condensed" panose="020B0506050203000203" pitchFamily="34" charset="77"/>
              </a:rPr>
              <a:t>&gt;=0.5% sulfur content </a:t>
            </a:r>
          </a:p>
        </p:txBody>
      </p:sp>
      <p:sp>
        <p:nvSpPr>
          <p:cNvPr id="53" name="Rounded Rectangle 52">
            <a:extLst>
              <a:ext uri="{FF2B5EF4-FFF2-40B4-BE49-F238E27FC236}">
                <a16:creationId xmlns:a16="http://schemas.microsoft.com/office/drawing/2014/main" id="{BEB6DF96-3E5E-8BA4-6E9A-4CBEC1C4FC2B}"/>
              </a:ext>
            </a:extLst>
          </p:cNvPr>
          <p:cNvSpPr/>
          <p:nvPr/>
        </p:nvSpPr>
        <p:spPr>
          <a:xfrm>
            <a:off x="348341" y="1669256"/>
            <a:ext cx="11408227" cy="853598"/>
          </a:xfrm>
          <a:prstGeom prst="roundRect">
            <a:avLst/>
          </a:prstGeom>
          <a:solidFill>
            <a:srgbClr val="F6F9FB"/>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0A2636"/>
                </a:solidFill>
                <a:latin typeface="Spectral" panose="02020502060000000000" pitchFamily="18" charset="77"/>
              </a:rPr>
              <a:t>General </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Crude oil is an unrefined petroleum-based product that is primarily composed of hydrocarbon gases and liquids. A sample breakdown of Bakken crude oil, considered a light crude oil, is given in Appendix A [1]. The classifications of crude oil’s physical and chemical properties can be seen below. Crude oil is refined into a variety of products, such as gasoline, kerosene, asphalt, or plastics.  </a:t>
            </a:r>
            <a:endParaRPr lang="en-US" sz="1100" dirty="0">
              <a:solidFill>
                <a:schemeClr val="tx1"/>
              </a:solidFill>
              <a:highlight>
                <a:srgbClr val="FFFF00"/>
              </a:highlight>
              <a:latin typeface="IBM Plex Sans Condensed" panose="020B0506050203000203" pitchFamily="34" charset="77"/>
            </a:endParaRPr>
          </a:p>
        </p:txBody>
      </p:sp>
      <p:sp>
        <p:nvSpPr>
          <p:cNvPr id="50" name="Rectangle 49">
            <a:extLst>
              <a:ext uri="{FF2B5EF4-FFF2-40B4-BE49-F238E27FC236}">
                <a16:creationId xmlns:a16="http://schemas.microsoft.com/office/drawing/2014/main" id="{3120FFF6-8CAD-A2BF-1EB7-99B7624328D6}"/>
              </a:ext>
            </a:extLst>
          </p:cNvPr>
          <p:cNvSpPr/>
          <p:nvPr/>
        </p:nvSpPr>
        <p:spPr>
          <a:xfrm>
            <a:off x="8977443" y="3980781"/>
            <a:ext cx="1874168" cy="2819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rgbClr val="2CABAF"/>
                </a:solidFill>
                <a:latin typeface="IBM Plex Sans Condensed" panose="020B0506050203000203" pitchFamily="34" charset="77"/>
              </a:rPr>
              <a:t>SWEET: </a:t>
            </a:r>
            <a:r>
              <a:rPr lang="en-US" sz="1100" dirty="0">
                <a:solidFill>
                  <a:schemeClr val="tx1"/>
                </a:solidFill>
                <a:latin typeface="IBM Plex Sans Condensed" panose="020B0506050203000203" pitchFamily="34" charset="77"/>
              </a:rPr>
              <a:t>&lt;0.5% sulfur content</a:t>
            </a:r>
          </a:p>
        </p:txBody>
      </p:sp>
      <p:cxnSp>
        <p:nvCxnSpPr>
          <p:cNvPr id="2" name="Straight Connector 1">
            <a:extLst>
              <a:ext uri="{FF2B5EF4-FFF2-40B4-BE49-F238E27FC236}">
                <a16:creationId xmlns:a16="http://schemas.microsoft.com/office/drawing/2014/main" id="{CA24A5D1-B41C-6EE6-2F1E-5D71E93BD29B}"/>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8951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Pipeline Accidents</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446A0DB-5D02-B35C-44C5-F05E5426C5DF}"/>
              </a:ext>
            </a:extLst>
          </p:cNvPr>
          <p:cNvSpPr txBox="1"/>
          <p:nvPr/>
        </p:nvSpPr>
        <p:spPr>
          <a:xfrm>
            <a:off x="348342" y="1047347"/>
            <a:ext cx="11408227" cy="523220"/>
          </a:xfrm>
          <a:prstGeom prst="rect">
            <a:avLst/>
          </a:prstGeom>
          <a:noFill/>
        </p:spPr>
        <p:txBody>
          <a:bodyPr wrap="square" rtlCol="0">
            <a:spAutoFit/>
          </a:bodyPr>
          <a:lstStyle/>
          <a:p>
            <a:r>
              <a:rPr lang="en-US" sz="1400" dirty="0">
                <a:latin typeface="IBM Plex Sans Condensed" panose="020B0506050203000203" pitchFamily="34" charset="77"/>
              </a:rPr>
              <a:t>The PHMSA lists 10 unique causes for pipeline failures along with notable characteristics and what percentage they make up of total pipeline incidents [5]. Given these failure types, we want to determine which could be potentially relevant to our analysis so that we can filter our data accordingly.  </a:t>
            </a:r>
          </a:p>
        </p:txBody>
      </p:sp>
      <p:graphicFrame>
        <p:nvGraphicFramePr>
          <p:cNvPr id="24" name="Table 23">
            <a:extLst>
              <a:ext uri="{FF2B5EF4-FFF2-40B4-BE49-F238E27FC236}">
                <a16:creationId xmlns:a16="http://schemas.microsoft.com/office/drawing/2014/main" id="{A199F87B-86AF-4F3F-A7D3-7F396998EB84}"/>
              </a:ext>
            </a:extLst>
          </p:cNvPr>
          <p:cNvGraphicFramePr>
            <a:graphicFrameLocks noGrp="1"/>
          </p:cNvGraphicFramePr>
          <p:nvPr>
            <p:extLst>
              <p:ext uri="{D42A27DB-BD31-4B8C-83A1-F6EECF244321}">
                <p14:modId xmlns:p14="http://schemas.microsoft.com/office/powerpoint/2010/main" val="4252036993"/>
              </p:ext>
            </p:extLst>
          </p:nvPr>
        </p:nvGraphicFramePr>
        <p:xfrm>
          <a:off x="348342" y="1909213"/>
          <a:ext cx="8534401" cy="4053840"/>
        </p:xfrm>
        <a:graphic>
          <a:graphicData uri="http://schemas.openxmlformats.org/drawingml/2006/table">
            <a:tbl>
              <a:tblPr firstRow="1" bandRow="1">
                <a:tableStyleId>{5C22544A-7EE6-4342-B048-85BDC9FD1C3A}</a:tableStyleId>
              </a:tblPr>
              <a:tblGrid>
                <a:gridCol w="1341121">
                  <a:extLst>
                    <a:ext uri="{9D8B030D-6E8A-4147-A177-3AD203B41FA5}">
                      <a16:colId xmlns:a16="http://schemas.microsoft.com/office/drawing/2014/main" val="2774616000"/>
                    </a:ext>
                  </a:extLst>
                </a:gridCol>
                <a:gridCol w="3361508">
                  <a:extLst>
                    <a:ext uri="{9D8B030D-6E8A-4147-A177-3AD203B41FA5}">
                      <a16:colId xmlns:a16="http://schemas.microsoft.com/office/drawing/2014/main" val="3179188171"/>
                    </a:ext>
                  </a:extLst>
                </a:gridCol>
                <a:gridCol w="1645920">
                  <a:extLst>
                    <a:ext uri="{9D8B030D-6E8A-4147-A177-3AD203B41FA5}">
                      <a16:colId xmlns:a16="http://schemas.microsoft.com/office/drawing/2014/main" val="3542846944"/>
                    </a:ext>
                  </a:extLst>
                </a:gridCol>
                <a:gridCol w="975360">
                  <a:extLst>
                    <a:ext uri="{9D8B030D-6E8A-4147-A177-3AD203B41FA5}">
                      <a16:colId xmlns:a16="http://schemas.microsoft.com/office/drawing/2014/main" val="47899730"/>
                    </a:ext>
                  </a:extLst>
                </a:gridCol>
                <a:gridCol w="1210492">
                  <a:extLst>
                    <a:ext uri="{9D8B030D-6E8A-4147-A177-3AD203B41FA5}">
                      <a16:colId xmlns:a16="http://schemas.microsoft.com/office/drawing/2014/main" val="2679204528"/>
                    </a:ext>
                  </a:extLst>
                </a:gridCol>
              </a:tblGrid>
              <a:tr h="234734">
                <a:tc>
                  <a:txBody>
                    <a:bodyPr/>
                    <a:lstStyle/>
                    <a:p>
                      <a:pPr algn="l"/>
                      <a:r>
                        <a:rPr lang="en-US" sz="1000" b="0" dirty="0">
                          <a:solidFill>
                            <a:schemeClr val="bg1"/>
                          </a:solidFill>
                          <a:latin typeface="IBM Plex Sans Condensed" panose="020B0506050203000203" pitchFamily="34" charset="77"/>
                        </a:rPr>
                        <a:t>Pipeline Failure Cause</a:t>
                      </a:r>
                    </a:p>
                  </a:txBody>
                  <a:tcPr anchor="ctr">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A2636"/>
                    </a:solidFill>
                  </a:tcPr>
                </a:tc>
                <a:tc>
                  <a:txBody>
                    <a:bodyPr/>
                    <a:lstStyle/>
                    <a:p>
                      <a:pPr algn="l"/>
                      <a:r>
                        <a:rPr lang="en-US" sz="1000" b="0" dirty="0">
                          <a:solidFill>
                            <a:schemeClr val="bg1"/>
                          </a:solidFill>
                          <a:latin typeface="IBM Plex Sans Condensed" panose="020B0506050203000203" pitchFamily="34" charset="77"/>
                        </a:rPr>
                        <a:t>Description</a:t>
                      </a:r>
                    </a:p>
                  </a:txBody>
                  <a:tcPr anchor="ctr">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A2636"/>
                    </a:solidFill>
                  </a:tcPr>
                </a:tc>
                <a:tc>
                  <a:txBody>
                    <a:bodyPr/>
                    <a:lstStyle/>
                    <a:p>
                      <a:pPr algn="ctr"/>
                      <a:r>
                        <a:rPr lang="en-US" sz="1000" b="0" dirty="0">
                          <a:solidFill>
                            <a:schemeClr val="bg1"/>
                          </a:solidFill>
                          <a:latin typeface="IBM Plex Sans Condensed" panose="020B0506050203000203" pitchFamily="34" charset="77"/>
                        </a:rPr>
                        <a:t>1998-2017 Percentage Pipeline Accidents</a:t>
                      </a:r>
                    </a:p>
                  </a:txBody>
                  <a:tcPr anchor="ctr">
                    <a:lnL w="12700" cmpd="sng">
                      <a:noFill/>
                    </a:lnL>
                    <a:lnR w="6350" cap="flat" cmpd="sng" algn="ctr">
                      <a:solidFill>
                        <a:schemeClr val="tx1"/>
                      </a:solidFill>
                      <a:prstDash val="dash"/>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A2636"/>
                    </a:solidFill>
                  </a:tcPr>
                </a:tc>
                <a:tc>
                  <a:txBody>
                    <a:bodyPr/>
                    <a:lstStyle/>
                    <a:p>
                      <a:pPr algn="ctr"/>
                      <a:r>
                        <a:rPr lang="en-US" sz="1000" b="0" dirty="0">
                          <a:solidFill>
                            <a:schemeClr val="bg1"/>
                          </a:solidFill>
                          <a:latin typeface="IBM Plex Sans Condensed" panose="020B0506050203000203" pitchFamily="34" charset="77"/>
                        </a:rPr>
                        <a:t>Weight-relevant?</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A2636"/>
                    </a:solidFill>
                  </a:tcPr>
                </a:tc>
                <a:tc>
                  <a:txBody>
                    <a:bodyPr/>
                    <a:lstStyle/>
                    <a:p>
                      <a:pPr algn="ctr"/>
                      <a:r>
                        <a:rPr lang="en-US" sz="1000" b="0" dirty="0">
                          <a:solidFill>
                            <a:schemeClr val="bg1"/>
                          </a:solidFill>
                          <a:latin typeface="IBM Plex Sans Condensed" panose="020B0506050203000203" pitchFamily="34" charset="77"/>
                        </a:rPr>
                        <a:t>Sulfur-relevant?</a:t>
                      </a:r>
                    </a:p>
                  </a:txBody>
                  <a:tcPr anchor="ctr">
                    <a:lnL w="28575" cap="flat" cmpd="sng" algn="ctr">
                      <a:noFill/>
                      <a:prstDash val="dash"/>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A2636"/>
                    </a:solidFill>
                  </a:tcPr>
                </a:tc>
                <a:extLst>
                  <a:ext uri="{0D108BD9-81ED-4DB2-BD59-A6C34878D82A}">
                    <a16:rowId xmlns:a16="http://schemas.microsoft.com/office/drawing/2014/main" val="3241934697"/>
                  </a:ext>
                </a:extLst>
              </a:tr>
              <a:tr h="234734">
                <a:tc>
                  <a:txBody>
                    <a:bodyPr/>
                    <a:lstStyle/>
                    <a:p>
                      <a:pPr algn="l"/>
                      <a:r>
                        <a:rPr lang="en-US" sz="1000" dirty="0">
                          <a:solidFill>
                            <a:schemeClr val="tx1"/>
                          </a:solidFill>
                          <a:latin typeface="IBM Plex Sans Condensed" panose="020B0506050203000203" pitchFamily="34" charset="77"/>
                        </a:rPr>
                        <a:t>External Corrosion</a:t>
                      </a:r>
                    </a:p>
                  </a:txBody>
                  <a:tcPr anchor="ct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Due to environmental conditions on the outside of the pipe</a:t>
                      </a:r>
                    </a:p>
                  </a:txBody>
                  <a:tcPr anchor="ct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8 %</a:t>
                      </a:r>
                    </a:p>
                  </a:txBody>
                  <a:tcPr anchor="ctr">
                    <a:lnL w="12700" cmpd="sng">
                      <a:noFill/>
                    </a:lnL>
                    <a:lnR w="6350" cap="flat" cmpd="sng" algn="ctr">
                      <a:solidFill>
                        <a:schemeClr val="tx1"/>
                      </a:solidFill>
                      <a:prstDash val="dash"/>
                      <a:round/>
                      <a:headEnd type="none" w="med" len="med"/>
                      <a:tailEnd type="none" w="med" len="med"/>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28575" cap="flat" cmpd="sng" algn="ctr">
                      <a:noFill/>
                      <a:prstDash val="dash"/>
                      <a:round/>
                      <a:headEnd type="none" w="med" len="med"/>
                      <a:tailEnd type="none" w="med" len="med"/>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79457090"/>
                  </a:ext>
                </a:extLst>
              </a:tr>
              <a:tr h="234734">
                <a:tc>
                  <a:txBody>
                    <a:bodyPr/>
                    <a:lstStyle/>
                    <a:p>
                      <a:pPr algn="l"/>
                      <a:r>
                        <a:rPr lang="en-US" sz="1000" dirty="0">
                          <a:solidFill>
                            <a:schemeClr val="tx1"/>
                          </a:solidFill>
                          <a:latin typeface="IBM Plex Sans Condensed" panose="020B0506050203000203" pitchFamily="34" charset="77"/>
                        </a:rPr>
                        <a:t>Internal Corrosion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Contaminants naturally contained within the transported commodity, such as hydrogen sulfide, carbon dioxide, or other chemicals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12 %</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Yes</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43196518"/>
                  </a:ext>
                </a:extLst>
              </a:tr>
              <a:tr h="234734">
                <a:tc>
                  <a:txBody>
                    <a:bodyPr/>
                    <a:lstStyle/>
                    <a:p>
                      <a:pPr algn="l"/>
                      <a:r>
                        <a:rPr lang="en-US" sz="1000" dirty="0">
                          <a:solidFill>
                            <a:schemeClr val="tx1"/>
                          </a:solidFill>
                          <a:latin typeface="IBM Plex Sans Condensed" panose="020B0506050203000203" pitchFamily="34" charset="77"/>
                        </a:rPr>
                        <a:t>Stress Corrosion Cracking</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Environmentally-assisted cracking that reduces the pressure-carrying capability of the pipe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1 %</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Maybe</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000" dirty="0">
                          <a:solidFill>
                            <a:schemeClr val="tx1"/>
                          </a:solidFill>
                          <a:latin typeface="IBM Plex Sans Condensed" panose="020B0506050203000203" pitchFamily="34" charset="77"/>
                        </a:rPr>
                        <a:t>Maybe</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94841422"/>
                  </a:ext>
                </a:extLst>
              </a:tr>
              <a:tr h="234734">
                <a:tc>
                  <a:txBody>
                    <a:bodyPr/>
                    <a:lstStyle/>
                    <a:p>
                      <a:pPr algn="l"/>
                      <a:r>
                        <a:rPr lang="en-US" sz="1000" dirty="0">
                          <a:solidFill>
                            <a:schemeClr val="tx1"/>
                          </a:solidFill>
                          <a:latin typeface="IBM Plex Sans Condensed" panose="020B0506050203000203" pitchFamily="34" charset="77"/>
                        </a:rPr>
                        <a:t>Selective Seam Corrosion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Localized corrosion along specific welding points. Generally, has been fixed since 1970 due to upgrade in materials.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1 %</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43164737"/>
                  </a:ext>
                </a:extLst>
              </a:tr>
              <a:tr h="234734">
                <a:tc>
                  <a:txBody>
                    <a:bodyPr/>
                    <a:lstStyle/>
                    <a:p>
                      <a:pPr algn="l"/>
                      <a:r>
                        <a:rPr lang="en-US" sz="1000" dirty="0">
                          <a:solidFill>
                            <a:schemeClr val="tx1"/>
                          </a:solidFill>
                          <a:latin typeface="IBM Plex Sans Condensed" panose="020B0506050203000203" pitchFamily="34" charset="77"/>
                        </a:rPr>
                        <a:t>Excavation Damage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Excavator damaging exterior of pipeline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15 %</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3626185"/>
                  </a:ext>
                </a:extLst>
              </a:tr>
              <a:tr h="234734">
                <a:tc>
                  <a:txBody>
                    <a:bodyPr/>
                    <a:lstStyle/>
                    <a:p>
                      <a:pPr algn="l"/>
                      <a:r>
                        <a:rPr lang="en-US" sz="1000" dirty="0">
                          <a:solidFill>
                            <a:schemeClr val="tx1"/>
                          </a:solidFill>
                          <a:latin typeface="IBM Plex Sans Condensed" panose="020B0506050203000203" pitchFamily="34" charset="77"/>
                        </a:rPr>
                        <a:t>Natural Force Damage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Naturally occurring events, such as earth movement or heavy rains.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9 %</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5625405"/>
                  </a:ext>
                </a:extLst>
              </a:tr>
              <a:tr h="234734">
                <a:tc>
                  <a:txBody>
                    <a:bodyPr/>
                    <a:lstStyle/>
                    <a:p>
                      <a:pPr algn="l"/>
                      <a:r>
                        <a:rPr lang="en-US" sz="1000" dirty="0">
                          <a:solidFill>
                            <a:schemeClr val="tx1"/>
                          </a:solidFill>
                          <a:latin typeface="IBM Plex Sans Condensed" panose="020B0506050203000203" pitchFamily="34" charset="77"/>
                        </a:rPr>
                        <a:t>Other Outside Force Damage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Vehicle or equipment contact; vandalism; damage caused by accidents, etc.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&lt;1</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53680749"/>
                  </a:ext>
                </a:extLst>
              </a:tr>
              <a:tr h="234734">
                <a:tc>
                  <a:txBody>
                    <a:bodyPr/>
                    <a:lstStyle/>
                    <a:p>
                      <a:pPr algn="l"/>
                      <a:r>
                        <a:rPr lang="en-US" sz="1000" dirty="0">
                          <a:solidFill>
                            <a:schemeClr val="tx1"/>
                          </a:solidFill>
                          <a:latin typeface="IBM Plex Sans Condensed" panose="020B0506050203000203" pitchFamily="34" charset="77"/>
                        </a:rPr>
                        <a:t>Material/Weld Failure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Impurities remaining in the molten steel upon manufacturing.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Not Provided</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Maybe</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000" dirty="0">
                          <a:solidFill>
                            <a:schemeClr val="tx1"/>
                          </a:solidFill>
                          <a:latin typeface="IBM Plex Sans Condensed" panose="020B0506050203000203" pitchFamily="34" charset="77"/>
                        </a:rPr>
                        <a:t>Maybe</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457711238"/>
                  </a:ext>
                </a:extLst>
              </a:tr>
              <a:tr h="234734">
                <a:tc>
                  <a:txBody>
                    <a:bodyPr/>
                    <a:lstStyle/>
                    <a:p>
                      <a:pPr algn="l"/>
                      <a:r>
                        <a:rPr lang="en-US" sz="1000" dirty="0">
                          <a:solidFill>
                            <a:schemeClr val="tx1"/>
                          </a:solidFill>
                          <a:latin typeface="IBM Plex Sans Condensed" panose="020B0506050203000203" pitchFamily="34" charset="77"/>
                        </a:rPr>
                        <a:t>Equipment Failure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Pipeline component other than the pipe. E.g., pumps and compressors, meters and metering equipment, valves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Not Provided</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Yes</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sz="1000" dirty="0">
                          <a:solidFill>
                            <a:schemeClr val="tx1"/>
                          </a:solidFill>
                          <a:latin typeface="IBM Plex Sans Condensed" panose="020B0506050203000203" pitchFamily="34" charset="77"/>
                        </a:rPr>
                        <a:t>Maybe</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354135380"/>
                  </a:ext>
                </a:extLst>
              </a:tr>
              <a:tr h="234734">
                <a:tc>
                  <a:txBody>
                    <a:bodyPr/>
                    <a:lstStyle/>
                    <a:p>
                      <a:pPr algn="l"/>
                      <a:r>
                        <a:rPr lang="en-US" sz="1000" dirty="0">
                          <a:solidFill>
                            <a:schemeClr val="tx1"/>
                          </a:solidFill>
                          <a:latin typeface="IBM Plex Sans Condensed" panose="020B0506050203000203" pitchFamily="34" charset="77"/>
                        </a:rPr>
                        <a:t>Incorrect Operation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Direct or indirect cause of a pipeline failure; e.g., wrong valve open, overfilling a tank, over-pressuring a piece of equipment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Not Provided</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8458305"/>
                  </a:ext>
                </a:extLst>
              </a:tr>
            </a:tbl>
          </a:graphicData>
        </a:graphic>
      </p:graphicFrame>
      <p:sp>
        <p:nvSpPr>
          <p:cNvPr id="26" name="Rounded Rectangle 25">
            <a:extLst>
              <a:ext uri="{FF2B5EF4-FFF2-40B4-BE49-F238E27FC236}">
                <a16:creationId xmlns:a16="http://schemas.microsoft.com/office/drawing/2014/main" id="{288012E2-37BF-D378-E9E6-08972EB3C34E}"/>
              </a:ext>
            </a:extLst>
          </p:cNvPr>
          <p:cNvSpPr/>
          <p:nvPr/>
        </p:nvSpPr>
        <p:spPr>
          <a:xfrm>
            <a:off x="9448800" y="2098766"/>
            <a:ext cx="2159726" cy="357051"/>
          </a:xfrm>
          <a:prstGeom prst="roundRect">
            <a:avLst/>
          </a:prstGeom>
          <a:solidFill>
            <a:srgbClr val="21344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Spectral" panose="02020502060000000000" pitchFamily="18" charset="77"/>
              </a:rPr>
              <a:t>Key Takeaways</a:t>
            </a:r>
          </a:p>
        </p:txBody>
      </p:sp>
      <p:sp>
        <p:nvSpPr>
          <p:cNvPr id="27" name="Rounded Rectangle 26">
            <a:extLst>
              <a:ext uri="{FF2B5EF4-FFF2-40B4-BE49-F238E27FC236}">
                <a16:creationId xmlns:a16="http://schemas.microsoft.com/office/drawing/2014/main" id="{AE372507-7327-9467-631A-68204B2106EF}"/>
              </a:ext>
            </a:extLst>
          </p:cNvPr>
          <p:cNvSpPr/>
          <p:nvPr/>
        </p:nvSpPr>
        <p:spPr>
          <a:xfrm>
            <a:off x="9448800" y="2626965"/>
            <a:ext cx="2159726" cy="130060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rgbClr val="2CABAF"/>
                </a:solidFill>
                <a:latin typeface="IBM Plex Sans Condensed" panose="020B0506050203000203" pitchFamily="34" charset="77"/>
              </a:rPr>
              <a:t>PHYSICAL PROPERTIES</a:t>
            </a:r>
          </a:p>
          <a:p>
            <a:r>
              <a:rPr lang="en-US" sz="1100" dirty="0">
                <a:solidFill>
                  <a:schemeClr val="tx1"/>
                </a:solidFill>
                <a:latin typeface="IBM Plex Sans Condensed" panose="020B0506050203000203" pitchFamily="34" charset="77"/>
              </a:rPr>
              <a:t>Focus on accidents in which the weight of the substance could have exacerbated stress corrosion, or material/equipment failure.</a:t>
            </a:r>
          </a:p>
        </p:txBody>
      </p:sp>
      <p:sp>
        <p:nvSpPr>
          <p:cNvPr id="28" name="Rounded Rectangle 27">
            <a:extLst>
              <a:ext uri="{FF2B5EF4-FFF2-40B4-BE49-F238E27FC236}">
                <a16:creationId xmlns:a16="http://schemas.microsoft.com/office/drawing/2014/main" id="{055FB232-17B8-0D0D-FBD8-B081FFF982D2}"/>
              </a:ext>
            </a:extLst>
          </p:cNvPr>
          <p:cNvSpPr/>
          <p:nvPr/>
        </p:nvSpPr>
        <p:spPr>
          <a:xfrm>
            <a:off x="9448800" y="4002920"/>
            <a:ext cx="2159726" cy="1600058"/>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rgbClr val="2CABAF"/>
                </a:solidFill>
                <a:latin typeface="IBM Plex Sans Condensed" panose="020B0506050203000203" pitchFamily="34" charset="77"/>
              </a:rPr>
              <a:t>CHEMICAL PROPERTIES</a:t>
            </a:r>
          </a:p>
          <a:p>
            <a:r>
              <a:rPr lang="en-US" sz="1100" dirty="0">
                <a:solidFill>
                  <a:schemeClr val="tx1"/>
                </a:solidFill>
                <a:latin typeface="IBM Plex Sans Condensed" panose="020B0506050203000203" pitchFamily="34" charset="77"/>
              </a:rPr>
              <a:t>Focus on incidents in which internal corrosion occurred, or material failures where the substance could have deteriorated the performance of the equipment/system. </a:t>
            </a:r>
          </a:p>
        </p:txBody>
      </p:sp>
      <p:cxnSp>
        <p:nvCxnSpPr>
          <p:cNvPr id="3" name="Straight Connector 2">
            <a:extLst>
              <a:ext uri="{FF2B5EF4-FFF2-40B4-BE49-F238E27FC236}">
                <a16:creationId xmlns:a16="http://schemas.microsoft.com/office/drawing/2014/main" id="{D3DA9930-B04A-FF47-40A0-13F7DDE24AC7}"/>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350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Dataset Collection</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B26CFC8-9196-77DE-28B4-BD7F7CB3C76A}"/>
              </a:ext>
            </a:extLst>
          </p:cNvPr>
          <p:cNvSpPr txBox="1"/>
          <p:nvPr/>
        </p:nvSpPr>
        <p:spPr>
          <a:xfrm>
            <a:off x="348342" y="1047347"/>
            <a:ext cx="11408227" cy="523220"/>
          </a:xfrm>
          <a:prstGeom prst="rect">
            <a:avLst/>
          </a:prstGeom>
          <a:noFill/>
        </p:spPr>
        <p:txBody>
          <a:bodyPr wrap="square" rtlCol="0">
            <a:spAutoFit/>
          </a:bodyPr>
          <a:lstStyle/>
          <a:p>
            <a:r>
              <a:rPr lang="en-US" sz="1400" dirty="0">
                <a:latin typeface="IBM Plex Sans Condensed" panose="020B0506050203000203" pitchFamily="34" charset="77"/>
              </a:rPr>
              <a:t>We need to source data that contains information on pipeline incidents. The ideal dataset will contain detailed information on the substances that are being transported and the cause of the accident. Additional information about pipeline specifications could be valuable. </a:t>
            </a:r>
          </a:p>
        </p:txBody>
      </p:sp>
      <p:sp>
        <p:nvSpPr>
          <p:cNvPr id="5" name="TextBox 4">
            <a:extLst>
              <a:ext uri="{FF2B5EF4-FFF2-40B4-BE49-F238E27FC236}">
                <a16:creationId xmlns:a16="http://schemas.microsoft.com/office/drawing/2014/main" id="{04D9FF41-E4C7-367E-B017-FB5F1E06DF59}"/>
              </a:ext>
            </a:extLst>
          </p:cNvPr>
          <p:cNvSpPr txBox="1"/>
          <p:nvPr/>
        </p:nvSpPr>
        <p:spPr>
          <a:xfrm>
            <a:off x="348341" y="2091357"/>
            <a:ext cx="2272940" cy="1954381"/>
          </a:xfrm>
          <a:prstGeom prst="rect">
            <a:avLst/>
          </a:prstGeom>
          <a:noFill/>
        </p:spPr>
        <p:txBody>
          <a:bodyPr wrap="square" rtlCol="0">
            <a:spAutoFit/>
          </a:bodyPr>
          <a:lstStyle/>
          <a:p>
            <a:r>
              <a:rPr lang="en-US" sz="1100" dirty="0">
                <a:latin typeface="IBM Plex Sans Condensed" panose="020B0506050203000203" pitchFamily="34" charset="77"/>
              </a:rPr>
              <a:t>The Canada Energy Regulator (CER) (formally the National Energy Board) regulates pipelines that cross inter-provincial or international boundaries; pipelines that are intra-provincial are regulated by each individual province [6]. The Onshore Pipeline Regulations (OPR) were created by the CER to ensure companies are meeting pipeline safety requirements.</a:t>
            </a:r>
          </a:p>
        </p:txBody>
      </p:sp>
      <p:graphicFrame>
        <p:nvGraphicFramePr>
          <p:cNvPr id="9" name="Table 8">
            <a:extLst>
              <a:ext uri="{FF2B5EF4-FFF2-40B4-BE49-F238E27FC236}">
                <a16:creationId xmlns:a16="http://schemas.microsoft.com/office/drawing/2014/main" id="{36E4C231-EE62-F6F4-7E1B-F4F91A77BFD5}"/>
              </a:ext>
            </a:extLst>
          </p:cNvPr>
          <p:cNvGraphicFramePr>
            <a:graphicFrameLocks noGrp="1"/>
          </p:cNvGraphicFramePr>
          <p:nvPr>
            <p:extLst>
              <p:ext uri="{D42A27DB-BD31-4B8C-83A1-F6EECF244321}">
                <p14:modId xmlns:p14="http://schemas.microsoft.com/office/powerpoint/2010/main" val="227003431"/>
              </p:ext>
            </p:extLst>
          </p:nvPr>
        </p:nvGraphicFramePr>
        <p:xfrm>
          <a:off x="2943496" y="1694467"/>
          <a:ext cx="8813073" cy="4358640"/>
        </p:xfrm>
        <a:graphic>
          <a:graphicData uri="http://schemas.openxmlformats.org/drawingml/2006/table">
            <a:tbl>
              <a:tblPr firstRow="1" bandRow="1">
                <a:tableStyleId>{5C22544A-7EE6-4342-B048-85BDC9FD1C3A}</a:tableStyleId>
              </a:tblPr>
              <a:tblGrid>
                <a:gridCol w="480428">
                  <a:extLst>
                    <a:ext uri="{9D8B030D-6E8A-4147-A177-3AD203B41FA5}">
                      <a16:colId xmlns:a16="http://schemas.microsoft.com/office/drawing/2014/main" val="4109172394"/>
                    </a:ext>
                  </a:extLst>
                </a:gridCol>
                <a:gridCol w="1043573">
                  <a:extLst>
                    <a:ext uri="{9D8B030D-6E8A-4147-A177-3AD203B41FA5}">
                      <a16:colId xmlns:a16="http://schemas.microsoft.com/office/drawing/2014/main" val="1864110391"/>
                    </a:ext>
                  </a:extLst>
                </a:gridCol>
                <a:gridCol w="1314994">
                  <a:extLst>
                    <a:ext uri="{9D8B030D-6E8A-4147-A177-3AD203B41FA5}">
                      <a16:colId xmlns:a16="http://schemas.microsoft.com/office/drawing/2014/main" val="2570560924"/>
                    </a:ext>
                  </a:extLst>
                </a:gridCol>
                <a:gridCol w="792480">
                  <a:extLst>
                    <a:ext uri="{9D8B030D-6E8A-4147-A177-3AD203B41FA5}">
                      <a16:colId xmlns:a16="http://schemas.microsoft.com/office/drawing/2014/main" val="2579643522"/>
                    </a:ext>
                  </a:extLst>
                </a:gridCol>
                <a:gridCol w="731520">
                  <a:extLst>
                    <a:ext uri="{9D8B030D-6E8A-4147-A177-3AD203B41FA5}">
                      <a16:colId xmlns:a16="http://schemas.microsoft.com/office/drawing/2014/main" val="1114013748"/>
                    </a:ext>
                  </a:extLst>
                </a:gridCol>
                <a:gridCol w="1001486">
                  <a:extLst>
                    <a:ext uri="{9D8B030D-6E8A-4147-A177-3AD203B41FA5}">
                      <a16:colId xmlns:a16="http://schemas.microsoft.com/office/drawing/2014/main" val="1117030240"/>
                    </a:ext>
                  </a:extLst>
                </a:gridCol>
                <a:gridCol w="801189">
                  <a:extLst>
                    <a:ext uri="{9D8B030D-6E8A-4147-A177-3AD203B41FA5}">
                      <a16:colId xmlns:a16="http://schemas.microsoft.com/office/drawing/2014/main" val="1794540429"/>
                    </a:ext>
                  </a:extLst>
                </a:gridCol>
                <a:gridCol w="853440">
                  <a:extLst>
                    <a:ext uri="{9D8B030D-6E8A-4147-A177-3AD203B41FA5}">
                      <a16:colId xmlns:a16="http://schemas.microsoft.com/office/drawing/2014/main" val="3983182840"/>
                    </a:ext>
                  </a:extLst>
                </a:gridCol>
                <a:gridCol w="1793963">
                  <a:extLst>
                    <a:ext uri="{9D8B030D-6E8A-4147-A177-3AD203B41FA5}">
                      <a16:colId xmlns:a16="http://schemas.microsoft.com/office/drawing/2014/main" val="4117142743"/>
                    </a:ext>
                  </a:extLst>
                </a:gridCol>
              </a:tblGrid>
              <a:tr h="248019">
                <a:tc>
                  <a:txBody>
                    <a:bodyPr/>
                    <a:lstStyle/>
                    <a:p>
                      <a:pPr algn="ctr"/>
                      <a:r>
                        <a:rPr lang="en-US" sz="1000" b="0" dirty="0">
                          <a:solidFill>
                            <a:schemeClr val="bg1"/>
                          </a:solidFill>
                          <a:latin typeface="IBM Plex Sans Condensed" panose="020B0506050203000203" pitchFamily="34" charset="77"/>
                        </a:rPr>
                        <a:t>Label</a:t>
                      </a:r>
                    </a:p>
                  </a:txBody>
                  <a:tcPr anchor="ctr">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Dataset Name</a:t>
                      </a:r>
                    </a:p>
                  </a:txBody>
                  <a:tcPr anchor="ctr">
                    <a:lnL w="63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Description</a:t>
                      </a:r>
                    </a:p>
                  </a:txBody>
                  <a:tcPr anchor="ct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Date Range</a:t>
                      </a:r>
                    </a:p>
                  </a:txBody>
                  <a:tcPr anchor="ct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 Records</a:t>
                      </a:r>
                    </a:p>
                  </a:txBody>
                  <a:tcPr anchor="ct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Crude Oil Types</a:t>
                      </a:r>
                    </a:p>
                  </a:txBody>
                  <a:tcPr anchor="ct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Weight-specific info?</a:t>
                      </a:r>
                    </a:p>
                  </a:txBody>
                  <a:tcPr anchor="ct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Sulfur-specific info? </a:t>
                      </a:r>
                    </a:p>
                  </a:txBody>
                  <a:tcPr anchor="ct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Accident-specific info</a:t>
                      </a:r>
                    </a:p>
                  </a:txBody>
                  <a:tcPr anchor="ctr">
                    <a:lnB w="6350" cap="flat" cmpd="sng" algn="ctr">
                      <a:solidFill>
                        <a:schemeClr val="tx1"/>
                      </a:solidFill>
                      <a:prstDash val="solid"/>
                      <a:round/>
                      <a:headEnd type="none" w="med" len="med"/>
                      <a:tailEnd type="none" w="med" len="med"/>
                    </a:lnB>
                    <a:solidFill>
                      <a:srgbClr val="0A2636"/>
                    </a:solidFill>
                  </a:tcPr>
                </a:tc>
                <a:extLst>
                  <a:ext uri="{0D108BD9-81ED-4DB2-BD59-A6C34878D82A}">
                    <a16:rowId xmlns:a16="http://schemas.microsoft.com/office/drawing/2014/main" val="2343394472"/>
                  </a:ext>
                </a:extLst>
              </a:tr>
              <a:tr h="337324">
                <a:tc>
                  <a:txBody>
                    <a:bodyPr/>
                    <a:lstStyle/>
                    <a:p>
                      <a:pPr algn="ctr"/>
                      <a:r>
                        <a:rPr lang="en-US" sz="1000" dirty="0">
                          <a:solidFill>
                            <a:schemeClr val="bg1"/>
                          </a:solidFill>
                          <a:latin typeface="IBM Plex Sans Condensed" panose="020B0506050203000203" pitchFamily="34" charset="77"/>
                        </a:rPr>
                        <a:t>A</a:t>
                      </a:r>
                    </a:p>
                  </a:txBody>
                  <a:tcPr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solidFill>
                      <a:srgbClr val="2DAAAF"/>
                    </a:solidFill>
                  </a:tcPr>
                </a:tc>
                <a:tc>
                  <a:txBody>
                    <a:bodyPr/>
                    <a:lstStyle/>
                    <a:p>
                      <a:r>
                        <a:rPr lang="en-US" sz="800" dirty="0">
                          <a:solidFill>
                            <a:schemeClr val="tx1"/>
                          </a:solidFill>
                          <a:latin typeface="IBM Plex Sans Condensed" panose="020B0506050203000203" pitchFamily="34" charset="77"/>
                        </a:rPr>
                        <a:t>Pipeline-incidents-comprehensive-</a:t>
                      </a:r>
                      <a:r>
                        <a:rPr lang="en-US" sz="800" dirty="0" err="1">
                          <a:solidFill>
                            <a:schemeClr val="tx1"/>
                          </a:solidFill>
                          <a:latin typeface="IBM Plex Sans Condensed" panose="020B0506050203000203" pitchFamily="34" charset="77"/>
                        </a:rPr>
                        <a:t>data.csv</a:t>
                      </a:r>
                      <a:endParaRPr lang="en-US" sz="800" dirty="0">
                        <a:solidFill>
                          <a:schemeClr val="tx1"/>
                        </a:solidFill>
                        <a:latin typeface="IBM Plex Sans Condensed" panose="020B0506050203000203" pitchFamily="34" charset="77"/>
                      </a:endParaRPr>
                    </a:p>
                  </a:txBody>
                  <a:tcPr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tc>
                  <a:txBody>
                    <a:bodyPr/>
                    <a:lstStyle/>
                    <a:p>
                      <a:r>
                        <a:rPr lang="en-US" sz="800" dirty="0">
                          <a:solidFill>
                            <a:schemeClr val="tx1"/>
                          </a:solidFill>
                          <a:latin typeface="IBM Plex Sans Condensed" panose="020B0506050203000203" pitchFamily="34" charset="77"/>
                        </a:rPr>
                        <a:t>Pipeline incidents as defined by OPR and Processing Plant regulations</a:t>
                      </a:r>
                    </a:p>
                  </a:txBody>
                  <a:tcPr anchor="ctr">
                    <a:lnT w="6350" cap="flat" cmpd="sng" algn="ctr">
                      <a:solidFill>
                        <a:schemeClr val="tx1"/>
                      </a:solidFill>
                      <a:prstDash val="solid"/>
                      <a:round/>
                      <a:headEnd type="none" w="med" len="med"/>
                      <a:tailEnd type="none" w="med" len="med"/>
                    </a:lnT>
                    <a:noFill/>
                  </a:tcPr>
                </a:tc>
                <a:tc>
                  <a:txBody>
                    <a:bodyPr/>
                    <a:lstStyle/>
                    <a:p>
                      <a:r>
                        <a:rPr lang="en-US" sz="800" dirty="0">
                          <a:solidFill>
                            <a:schemeClr val="tx1"/>
                          </a:solidFill>
                          <a:latin typeface="IBM Plex Sans Condensed" panose="020B0506050203000203" pitchFamily="34" charset="77"/>
                        </a:rPr>
                        <a:t>2008 to Present</a:t>
                      </a:r>
                    </a:p>
                  </a:txBody>
                  <a:tcPr anchor="ctr">
                    <a:lnT w="6350" cap="flat" cmpd="sng" algn="ctr">
                      <a:solidFill>
                        <a:schemeClr val="tx1"/>
                      </a:solidFill>
                      <a:prstDash val="solid"/>
                      <a:round/>
                      <a:headEnd type="none" w="med" len="med"/>
                      <a:tailEnd type="none" w="med" len="med"/>
                    </a:lnT>
                    <a:noFill/>
                  </a:tcPr>
                </a:tc>
                <a:tc>
                  <a:txBody>
                    <a:bodyPr/>
                    <a:lstStyle/>
                    <a:p>
                      <a:r>
                        <a:rPr lang="en-US" sz="800" dirty="0">
                          <a:solidFill>
                            <a:schemeClr val="tx1"/>
                          </a:solidFill>
                          <a:latin typeface="IBM Plex Sans Condensed" panose="020B0506050203000203" pitchFamily="34" charset="77"/>
                        </a:rPr>
                        <a:t>1856</a:t>
                      </a:r>
                    </a:p>
                  </a:txBody>
                  <a:tcPr anchor="ctr">
                    <a:lnT w="6350" cap="flat" cmpd="sng" algn="ctr">
                      <a:solidFill>
                        <a:schemeClr val="tx1"/>
                      </a:solidFill>
                      <a:prstDash val="solid"/>
                      <a:round/>
                      <a:headEnd type="none" w="med" len="med"/>
                      <a:tailEnd type="none" w="med" len="med"/>
                    </a:lnT>
                    <a:noFill/>
                  </a:tcPr>
                </a:tc>
                <a:tc>
                  <a:txBody>
                    <a:bodyPr/>
                    <a:lstStyle/>
                    <a:p>
                      <a:r>
                        <a:rPr lang="en-US" sz="800" dirty="0">
                          <a:solidFill>
                            <a:schemeClr val="tx1"/>
                          </a:solidFill>
                          <a:latin typeface="IBM Plex Sans Condensed" panose="020B0506050203000203" pitchFamily="34" charset="77"/>
                        </a:rPr>
                        <a:t>Crude Oil, Crude Oil (Heavy, Light, Sour, and Sweet)</a:t>
                      </a:r>
                    </a:p>
                  </a:txBody>
                  <a:tcPr anchor="ctr">
                    <a:lnT w="6350" cap="flat" cmpd="sng" algn="ctr">
                      <a:solidFill>
                        <a:schemeClr val="tx1"/>
                      </a:solidFill>
                      <a:prstDash val="solid"/>
                      <a:round/>
                      <a:headEnd type="none" w="med" len="med"/>
                      <a:tailEnd type="none" w="med" len="med"/>
                    </a:lnT>
                    <a:noFill/>
                  </a:tcPr>
                </a:tc>
                <a:tc>
                  <a:txBody>
                    <a:bodyPr/>
                    <a:lstStyle/>
                    <a:p>
                      <a:r>
                        <a:rPr lang="en-US" sz="800" dirty="0">
                          <a:solidFill>
                            <a:schemeClr val="tx1"/>
                          </a:solidFill>
                          <a:latin typeface="IBM Plex Sans Condensed" panose="020B0506050203000203" pitchFamily="34" charset="77"/>
                        </a:rPr>
                        <a:t>No</a:t>
                      </a:r>
                    </a:p>
                  </a:txBody>
                  <a:tcPr anchor="ctr">
                    <a:lnT w="6350" cap="flat" cmpd="sng" algn="ctr">
                      <a:solidFill>
                        <a:schemeClr val="tx1"/>
                      </a:solidFill>
                      <a:prstDash val="solid"/>
                      <a:round/>
                      <a:headEnd type="none" w="med" len="med"/>
                      <a:tailEnd type="none" w="med" len="med"/>
                    </a:lnT>
                    <a:solidFill>
                      <a:srgbClr val="FF0000">
                        <a:alpha val="20000"/>
                      </a:srgbClr>
                    </a:solidFill>
                  </a:tcPr>
                </a:tc>
                <a:tc>
                  <a:txBody>
                    <a:bodyPr/>
                    <a:lstStyle/>
                    <a:p>
                      <a:r>
                        <a:rPr lang="en-US" sz="800" dirty="0">
                          <a:solidFill>
                            <a:schemeClr val="tx1"/>
                          </a:solidFill>
                          <a:latin typeface="IBM Plex Sans Condensed" panose="020B0506050203000203" pitchFamily="34" charset="77"/>
                        </a:rPr>
                        <a:t>No – grouped together</a:t>
                      </a:r>
                    </a:p>
                  </a:txBody>
                  <a:tcPr anchor="ctr">
                    <a:lnT w="6350" cap="flat" cmpd="sng" algn="ctr">
                      <a:solidFill>
                        <a:schemeClr val="tx1"/>
                      </a:solidFill>
                      <a:prstDash val="solid"/>
                      <a:round/>
                      <a:headEnd type="none" w="med" len="med"/>
                      <a:tailEnd type="none" w="med" len="med"/>
                    </a:lnT>
                    <a:solidFill>
                      <a:srgbClr val="FF0000">
                        <a:alpha val="20000"/>
                      </a:srgbClr>
                    </a:solidFill>
                  </a:tcPr>
                </a:tc>
                <a:tc>
                  <a:txBody>
                    <a:bodyPr/>
                    <a:lstStyle/>
                    <a:p>
                      <a:r>
                        <a:rPr lang="en-US" sz="800" b="1" i="0" dirty="0">
                          <a:solidFill>
                            <a:schemeClr val="tx1"/>
                          </a:solidFill>
                          <a:latin typeface="IBM Plex Sans Condensed" panose="020B0506050203000203" pitchFamily="34" charset="77"/>
                        </a:rPr>
                        <a:t>What happened</a:t>
                      </a:r>
                      <a:r>
                        <a:rPr lang="en-US" sz="800" i="1" dirty="0">
                          <a:solidFill>
                            <a:schemeClr val="tx1"/>
                          </a:solidFill>
                          <a:latin typeface="IBM Plex Sans Condensed" panose="020B0506050203000203" pitchFamily="34" charset="77"/>
                        </a:rPr>
                        <a:t>: </a:t>
                      </a:r>
                      <a:r>
                        <a:rPr lang="en-US" sz="800" dirty="0">
                          <a:solidFill>
                            <a:schemeClr val="tx1"/>
                          </a:solidFill>
                          <a:latin typeface="IBM Plex Sans Condensed" panose="020B0506050203000203" pitchFamily="34" charset="77"/>
                        </a:rPr>
                        <a:t>damage, deterioration, construction, etc.; </a:t>
                      </a:r>
                      <a:r>
                        <a:rPr lang="en-US" sz="800" b="1" i="0" dirty="0">
                          <a:solidFill>
                            <a:schemeClr val="tx1"/>
                          </a:solidFill>
                          <a:latin typeface="IBM Plex Sans Condensed" panose="020B0506050203000203" pitchFamily="34" charset="77"/>
                        </a:rPr>
                        <a:t>Incident type:</a:t>
                      </a:r>
                      <a:r>
                        <a:rPr lang="en-US" sz="800" i="1" dirty="0">
                          <a:solidFill>
                            <a:schemeClr val="tx1"/>
                          </a:solidFill>
                          <a:latin typeface="IBM Plex Sans Condensed" panose="020B0506050203000203" pitchFamily="34" charset="77"/>
                        </a:rPr>
                        <a:t> </a:t>
                      </a:r>
                      <a:r>
                        <a:rPr lang="en-US" sz="800" dirty="0">
                          <a:solidFill>
                            <a:schemeClr val="tx1"/>
                          </a:solidFill>
                          <a:latin typeface="IBM Plex Sans Condensed" panose="020B0506050203000203" pitchFamily="34" charset="77"/>
                        </a:rPr>
                        <a:t>fire, release of substance, etc.</a:t>
                      </a:r>
                    </a:p>
                  </a:txBody>
                  <a:tcPr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861430521"/>
                  </a:ext>
                </a:extLst>
              </a:tr>
              <a:tr h="248019">
                <a:tc>
                  <a:txBody>
                    <a:bodyPr/>
                    <a:lstStyle/>
                    <a:p>
                      <a:pPr algn="ctr"/>
                      <a:r>
                        <a:rPr lang="en-US" sz="1000" dirty="0">
                          <a:solidFill>
                            <a:schemeClr val="bg1"/>
                          </a:solidFill>
                          <a:latin typeface="IBM Plex Sans Condensed" panose="020B0506050203000203" pitchFamily="34" charset="77"/>
                        </a:rPr>
                        <a:t>B</a:t>
                      </a:r>
                    </a:p>
                  </a:txBody>
                  <a:tcPr anchor="ctr">
                    <a:lnR w="6350" cap="flat" cmpd="sng" algn="ctr">
                      <a:solidFill>
                        <a:schemeClr val="tx1"/>
                      </a:solidFill>
                      <a:prstDash val="solid"/>
                      <a:round/>
                      <a:headEnd type="none" w="med" len="med"/>
                      <a:tailEnd type="none" w="med" len="med"/>
                    </a:lnR>
                    <a:solidFill>
                      <a:srgbClr val="2DAAAF"/>
                    </a:solidFill>
                  </a:tcPr>
                </a:tc>
                <a:tc>
                  <a:txBody>
                    <a:bodyPr/>
                    <a:lstStyle/>
                    <a:p>
                      <a:r>
                        <a:rPr lang="en-US" sz="800" dirty="0" err="1">
                          <a:solidFill>
                            <a:schemeClr val="tx1"/>
                          </a:solidFill>
                          <a:latin typeface="IBM Plex Sans Condensed" panose="020B0506050203000203" pitchFamily="34" charset="77"/>
                        </a:rPr>
                        <a:t>PODSdb_MDOTW_VW_OCCURRENCE_PUBLIC.csv</a:t>
                      </a:r>
                      <a:endParaRPr lang="en-US" sz="800" dirty="0">
                        <a:solidFill>
                          <a:schemeClr val="tx1"/>
                        </a:solidFill>
                        <a:latin typeface="IBM Plex Sans Condensed" panose="020B0506050203000203" pitchFamily="34" charset="77"/>
                      </a:endParaRPr>
                    </a:p>
                  </a:txBody>
                  <a:tcPr anchor="ctr">
                    <a:lnL w="6350" cap="flat" cmpd="sng" algn="ctr">
                      <a:solidFill>
                        <a:schemeClr val="tx1"/>
                      </a:solidFill>
                      <a:prstDash val="solid"/>
                      <a:round/>
                      <a:headEnd type="none" w="med" len="med"/>
                      <a:tailEnd type="none" w="med" len="med"/>
                    </a:lnL>
                    <a:noFill/>
                  </a:tcPr>
                </a:tc>
                <a:tc>
                  <a:txBody>
                    <a:bodyPr/>
                    <a:lstStyle/>
                    <a:p>
                      <a:r>
                        <a:rPr lang="en-US" sz="800" dirty="0">
                          <a:solidFill>
                            <a:schemeClr val="tx1"/>
                          </a:solidFill>
                          <a:latin typeface="IBM Plex Sans Condensed" panose="020B0506050203000203" pitchFamily="34" charset="77"/>
                        </a:rPr>
                        <a:t>Incidents at CER-regulated pipelines </a:t>
                      </a:r>
                      <a:r>
                        <a:rPr lang="en-US" sz="800" b="1" dirty="0">
                          <a:solidFill>
                            <a:schemeClr val="tx1"/>
                          </a:solidFill>
                          <a:latin typeface="IBM Plex Sans Condensed" panose="020B0506050203000203" pitchFamily="34" charset="77"/>
                        </a:rPr>
                        <a:t>and facilities </a:t>
                      </a:r>
                      <a:r>
                        <a:rPr lang="en-US" sz="800" dirty="0">
                          <a:solidFill>
                            <a:schemeClr val="tx1"/>
                          </a:solidFill>
                          <a:latin typeface="IBM Plex Sans Condensed" panose="020B0506050203000203" pitchFamily="34" charset="77"/>
                        </a:rPr>
                        <a:t>as defined by OPR </a:t>
                      </a:r>
                    </a:p>
                  </a:txBody>
                  <a:tcPr anchor="ctr">
                    <a:noFill/>
                  </a:tcPr>
                </a:tc>
                <a:tc>
                  <a:txBody>
                    <a:bodyPr/>
                    <a:lstStyle/>
                    <a:p>
                      <a:r>
                        <a:rPr lang="en-US" sz="800" dirty="0">
                          <a:solidFill>
                            <a:schemeClr val="tx1"/>
                          </a:solidFill>
                          <a:latin typeface="IBM Plex Sans Condensed" panose="020B0506050203000203" pitchFamily="34" charset="77"/>
                        </a:rPr>
                        <a:t>2008 to current</a:t>
                      </a:r>
                    </a:p>
                  </a:txBody>
                  <a:tcPr anchor="ctr">
                    <a:noFill/>
                  </a:tcPr>
                </a:tc>
                <a:tc>
                  <a:txBody>
                    <a:bodyPr/>
                    <a:lstStyle/>
                    <a:p>
                      <a:r>
                        <a:rPr lang="en-US" sz="800" dirty="0">
                          <a:solidFill>
                            <a:schemeClr val="tx1"/>
                          </a:solidFill>
                          <a:latin typeface="IBM Plex Sans Condensed" panose="020B0506050203000203" pitchFamily="34" charset="77"/>
                        </a:rPr>
                        <a:t>3265</a:t>
                      </a:r>
                    </a:p>
                  </a:txBody>
                  <a:tcPr anchor="ctr">
                    <a:noFill/>
                  </a:tcPr>
                </a:tc>
                <a:tc>
                  <a:txBody>
                    <a:bodyPr/>
                    <a:lstStyle/>
                    <a:p>
                      <a:r>
                        <a:rPr lang="en-US" sz="800" dirty="0">
                          <a:solidFill>
                            <a:schemeClr val="tx1"/>
                          </a:solidFill>
                          <a:latin typeface="IBM Plex Sans Condensed" panose="020B0506050203000203" pitchFamily="34" charset="77"/>
                        </a:rPr>
                        <a:t>Crude Oil, Crude Oil-Sour</a:t>
                      </a:r>
                    </a:p>
                  </a:txBody>
                  <a:tcPr anchor="ctr">
                    <a:noFill/>
                  </a:tcPr>
                </a:tc>
                <a:tc>
                  <a:txBody>
                    <a:bodyPr/>
                    <a:lstStyle/>
                    <a:p>
                      <a:r>
                        <a:rPr lang="en-US" sz="800" dirty="0">
                          <a:solidFill>
                            <a:schemeClr val="tx1"/>
                          </a:solidFill>
                          <a:latin typeface="IBM Plex Sans Condensed" panose="020B0506050203000203" pitchFamily="34" charset="77"/>
                        </a:rPr>
                        <a:t>No</a:t>
                      </a:r>
                    </a:p>
                  </a:txBody>
                  <a:tcPr anchor="ctr">
                    <a:solidFill>
                      <a:srgbClr val="FF0000">
                        <a:alpha val="20000"/>
                      </a:srgbClr>
                    </a:solidFill>
                  </a:tcPr>
                </a:tc>
                <a:tc>
                  <a:txBody>
                    <a:bodyPr/>
                    <a:lstStyle/>
                    <a:p>
                      <a:r>
                        <a:rPr lang="en-US" sz="800" dirty="0">
                          <a:solidFill>
                            <a:schemeClr val="tx1"/>
                          </a:solidFill>
                          <a:latin typeface="IBM Plex Sans Condensed" panose="020B0506050203000203" pitchFamily="34" charset="77"/>
                        </a:rPr>
                        <a:t>Sour vs. not sour</a:t>
                      </a:r>
                    </a:p>
                  </a:txBody>
                  <a:tcPr anchor="ctr">
                    <a:solidFill>
                      <a:schemeClr val="accent4">
                        <a:lumMod val="20000"/>
                        <a:lumOff val="80000"/>
                        <a:alpha val="49804"/>
                      </a:schemeClr>
                    </a:solidFill>
                  </a:tcPr>
                </a:tc>
                <a:tc>
                  <a:txBody>
                    <a:bodyPr/>
                    <a:lstStyle/>
                    <a:p>
                      <a:r>
                        <a:rPr lang="en-US" sz="800" b="1" i="0" dirty="0">
                          <a:solidFill>
                            <a:schemeClr val="tx1"/>
                          </a:solidFill>
                          <a:latin typeface="IBM Plex Sans Condensed" panose="020B0506050203000203" pitchFamily="34" charset="77"/>
                        </a:rPr>
                        <a:t>Classification of Occurrence </a:t>
                      </a:r>
                      <a:r>
                        <a:rPr lang="en-US" sz="800" dirty="0">
                          <a:solidFill>
                            <a:schemeClr val="tx1"/>
                          </a:solidFill>
                          <a:latin typeface="IBM Plex Sans Condensed" panose="020B0506050203000203" pitchFamily="34" charset="77"/>
                        </a:rPr>
                        <a:t>(encoded); </a:t>
                      </a:r>
                      <a:r>
                        <a:rPr lang="en-US" sz="800" b="1" i="0" dirty="0">
                          <a:solidFill>
                            <a:schemeClr val="tx1"/>
                          </a:solidFill>
                          <a:latin typeface="IBM Plex Sans Condensed" panose="020B0506050203000203" pitchFamily="34" charset="77"/>
                        </a:rPr>
                        <a:t>occurrence summary</a:t>
                      </a:r>
                    </a:p>
                  </a:txBody>
                  <a:tcPr anchor="ctr">
                    <a:noFill/>
                  </a:tcPr>
                </a:tc>
                <a:extLst>
                  <a:ext uri="{0D108BD9-81ED-4DB2-BD59-A6C34878D82A}">
                    <a16:rowId xmlns:a16="http://schemas.microsoft.com/office/drawing/2014/main" val="3984137333"/>
                  </a:ext>
                </a:extLst>
              </a:tr>
              <a:tr h="248019">
                <a:tc>
                  <a:txBody>
                    <a:bodyPr/>
                    <a:lstStyle/>
                    <a:p>
                      <a:pPr algn="ctr"/>
                      <a:r>
                        <a:rPr lang="en-US" sz="1000" dirty="0">
                          <a:solidFill>
                            <a:schemeClr val="bg1"/>
                          </a:solidFill>
                          <a:latin typeface="IBM Plex Sans Condensed" panose="020B0506050203000203" pitchFamily="34" charset="77"/>
                        </a:rPr>
                        <a:t>C</a:t>
                      </a:r>
                    </a:p>
                  </a:txBody>
                  <a:tcPr anchor="ctr">
                    <a:lnR w="6350" cap="flat" cmpd="sng" algn="ctr">
                      <a:solidFill>
                        <a:schemeClr val="tx1"/>
                      </a:solidFill>
                      <a:prstDash val="solid"/>
                      <a:round/>
                      <a:headEnd type="none" w="med" len="med"/>
                      <a:tailEnd type="none" w="med" len="med"/>
                    </a:lnR>
                    <a:solidFill>
                      <a:srgbClr val="175C61"/>
                    </a:solidFill>
                  </a:tcPr>
                </a:tc>
                <a:tc>
                  <a:txBody>
                    <a:bodyPr/>
                    <a:lstStyle/>
                    <a:p>
                      <a:r>
                        <a:rPr lang="en-US" sz="800" dirty="0">
                          <a:latin typeface="IBM Plex Sans Condensed" panose="020B0506050203000203" pitchFamily="34" charset="77"/>
                        </a:rPr>
                        <a:t>Accident_hazardous_liquid_pre1986.txt</a:t>
                      </a:r>
                    </a:p>
                  </a:txBody>
                  <a:tcPr anchor="ctr">
                    <a:lnL w="6350" cap="flat" cmpd="sng" algn="ctr">
                      <a:solidFill>
                        <a:schemeClr val="tx1"/>
                      </a:solidFill>
                      <a:prstDash val="solid"/>
                      <a:round/>
                      <a:headEnd type="none" w="med" len="med"/>
                      <a:tailEnd type="none" w="med" len="med"/>
                    </a:lnL>
                    <a:noFill/>
                  </a:tcPr>
                </a:tc>
                <a:tc>
                  <a:txBody>
                    <a:bodyPr/>
                    <a:lstStyle/>
                    <a:p>
                      <a:r>
                        <a:rPr lang="en-US" sz="800" dirty="0">
                          <a:latin typeface="IBM Plex Sans Condensed" panose="020B0506050203000203" pitchFamily="34" charset="77"/>
                        </a:rPr>
                        <a:t>Incidents within Hazardous Liquid and Carbon Dioxide Pipelines from 1968 to 1985</a:t>
                      </a:r>
                    </a:p>
                  </a:txBody>
                  <a:tcPr anchor="ctr">
                    <a:noFill/>
                  </a:tcPr>
                </a:tc>
                <a:tc>
                  <a:txBody>
                    <a:bodyPr/>
                    <a:lstStyle/>
                    <a:p>
                      <a:r>
                        <a:rPr lang="en-US" sz="800" dirty="0">
                          <a:latin typeface="IBM Plex Sans Condensed" panose="020B0506050203000203" pitchFamily="34" charset="77"/>
                        </a:rPr>
                        <a:t>1968 to 1985</a:t>
                      </a:r>
                    </a:p>
                  </a:txBody>
                  <a:tcPr anchor="ctr">
                    <a:noFill/>
                  </a:tcPr>
                </a:tc>
                <a:tc>
                  <a:txBody>
                    <a:bodyPr/>
                    <a:lstStyle/>
                    <a:p>
                      <a:r>
                        <a:rPr lang="en-US" sz="800" dirty="0">
                          <a:latin typeface="IBM Plex Sans Condensed" panose="020B0506050203000203" pitchFamily="34" charset="77"/>
                        </a:rPr>
                        <a:t>4734</a:t>
                      </a:r>
                    </a:p>
                  </a:txBody>
                  <a:tcPr anchor="ctr">
                    <a:noFill/>
                  </a:tcPr>
                </a:tc>
                <a:tc>
                  <a:txBody>
                    <a:bodyPr/>
                    <a:lstStyle/>
                    <a:p>
                      <a:r>
                        <a:rPr lang="en-US" sz="800" dirty="0">
                          <a:latin typeface="IBM Plex Sans Condensed" panose="020B0506050203000203" pitchFamily="34" charset="77"/>
                        </a:rPr>
                        <a:t>Crude Oil</a:t>
                      </a:r>
                    </a:p>
                  </a:txBody>
                  <a:tcPr anchor="ctr">
                    <a:no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b="1" i="0" dirty="0">
                          <a:latin typeface="IBM Plex Sans Condensed" panose="020B0506050203000203" pitchFamily="34" charset="77"/>
                        </a:rPr>
                        <a:t>PRIMARY_CAUSE: </a:t>
                      </a:r>
                      <a:r>
                        <a:rPr lang="en-US" sz="800" dirty="0">
                          <a:latin typeface="IBM Plex Sans Condensed" panose="020B0506050203000203" pitchFamily="34" charset="77"/>
                        </a:rPr>
                        <a:t>corrosion, equipment, defective pipe, etc.</a:t>
                      </a:r>
                    </a:p>
                  </a:txBody>
                  <a:tcPr anchor="ctr">
                    <a:noFill/>
                  </a:tcPr>
                </a:tc>
                <a:extLst>
                  <a:ext uri="{0D108BD9-81ED-4DB2-BD59-A6C34878D82A}">
                    <a16:rowId xmlns:a16="http://schemas.microsoft.com/office/drawing/2014/main" val="3479032449"/>
                  </a:ext>
                </a:extLst>
              </a:tr>
              <a:tr h="248019">
                <a:tc>
                  <a:txBody>
                    <a:bodyPr/>
                    <a:lstStyle/>
                    <a:p>
                      <a:pPr algn="ctr"/>
                      <a:r>
                        <a:rPr lang="en-US" sz="1000" dirty="0">
                          <a:solidFill>
                            <a:schemeClr val="bg1"/>
                          </a:solidFill>
                          <a:latin typeface="IBM Plex Sans Condensed" panose="020B0506050203000203" pitchFamily="34" charset="77"/>
                        </a:rPr>
                        <a:t>D</a:t>
                      </a:r>
                    </a:p>
                  </a:txBody>
                  <a:tcPr anchor="ctr">
                    <a:lnR w="6350" cap="flat" cmpd="sng" algn="ctr">
                      <a:solidFill>
                        <a:schemeClr val="tx1"/>
                      </a:solidFill>
                      <a:prstDash val="solid"/>
                      <a:round/>
                      <a:headEnd type="none" w="med" len="med"/>
                      <a:tailEnd type="none" w="med" len="med"/>
                    </a:lnR>
                    <a:solidFill>
                      <a:srgbClr val="175C61"/>
                    </a:solidFill>
                  </a:tcPr>
                </a:tc>
                <a:tc>
                  <a:txBody>
                    <a:bodyPr/>
                    <a:lstStyle/>
                    <a:p>
                      <a:r>
                        <a:rPr lang="en-US" sz="800" dirty="0">
                          <a:latin typeface="IBM Plex Sans Condensed" panose="020B0506050203000203" pitchFamily="34" charset="77"/>
                        </a:rPr>
                        <a:t>Accident_hazardous_liquid_1986_jan2002.txt</a:t>
                      </a:r>
                    </a:p>
                  </a:txBody>
                  <a:tcPr anchor="ctr">
                    <a:lnL w="6350" cap="flat" cmpd="sng" algn="ctr">
                      <a:solidFill>
                        <a:schemeClr val="tx1"/>
                      </a:solidFill>
                      <a:prstDash val="solid"/>
                      <a:round/>
                      <a:headEnd type="none" w="med" len="med"/>
                      <a:tailEnd type="none" w="med" len="med"/>
                    </a:lnL>
                    <a:noFill/>
                  </a:tcPr>
                </a:tc>
                <a:tc>
                  <a:txBody>
                    <a:bodyPr/>
                    <a:lstStyle/>
                    <a:p>
                      <a:r>
                        <a:rPr lang="en-US" sz="800" dirty="0">
                          <a:latin typeface="IBM Plex Sans Condensed" panose="020B0506050203000203" pitchFamily="34" charset="77"/>
                        </a:rPr>
                        <a:t>^ [1986:2002]</a:t>
                      </a:r>
                    </a:p>
                  </a:txBody>
                  <a:tcPr anchor="ctr">
                    <a:noFill/>
                  </a:tcPr>
                </a:tc>
                <a:tc>
                  <a:txBody>
                    <a:bodyPr/>
                    <a:lstStyle/>
                    <a:p>
                      <a:r>
                        <a:rPr lang="en-US" sz="800" dirty="0">
                          <a:latin typeface="IBM Plex Sans Condensed" panose="020B0506050203000203" pitchFamily="34" charset="77"/>
                        </a:rPr>
                        <a:t>1986 to 2002</a:t>
                      </a:r>
                    </a:p>
                  </a:txBody>
                  <a:tcPr anchor="ctr">
                    <a:noFill/>
                  </a:tcPr>
                </a:tc>
                <a:tc>
                  <a:txBody>
                    <a:bodyPr/>
                    <a:lstStyle/>
                    <a:p>
                      <a:r>
                        <a:rPr lang="en-US" sz="800" dirty="0">
                          <a:latin typeface="IBM Plex Sans Condensed" panose="020B0506050203000203" pitchFamily="34" charset="77"/>
                        </a:rPr>
                        <a:t>3095</a:t>
                      </a:r>
                    </a:p>
                  </a:txBody>
                  <a:tcPr anchor="ctr">
                    <a:noFill/>
                  </a:tcPr>
                </a:tc>
                <a:tc>
                  <a:txBody>
                    <a:bodyPr/>
                    <a:lstStyle/>
                    <a:p>
                      <a:r>
                        <a:rPr lang="en-US" sz="800" dirty="0">
                          <a:latin typeface="IBM Plex Sans Condensed" panose="020B0506050203000203" pitchFamily="34" charset="77"/>
                        </a:rPr>
                        <a:t>Crude Oil</a:t>
                      </a:r>
                    </a:p>
                  </a:txBody>
                  <a:tcPr anchor="ctr">
                    <a:no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b="1" dirty="0">
                          <a:latin typeface="IBM Plex Sans Condensed" panose="020B0506050203000203" pitchFamily="34" charset="77"/>
                        </a:rPr>
                        <a:t>CAUS: </a:t>
                      </a:r>
                      <a:r>
                        <a:rPr lang="en-US" sz="800" dirty="0">
                          <a:latin typeface="IBM Plex Sans Condensed" panose="020B0506050203000203" pitchFamily="34" charset="77"/>
                        </a:rPr>
                        <a:t>corrosion, failed pipe, malfunction, etc. ; </a:t>
                      </a:r>
                      <a:r>
                        <a:rPr lang="en-US" sz="800" b="1" dirty="0">
                          <a:latin typeface="IBM Plex Sans Condensed" panose="020B0506050203000203" pitchFamily="34" charset="77"/>
                        </a:rPr>
                        <a:t>CAUSO:</a:t>
                      </a:r>
                      <a:r>
                        <a:rPr lang="en-US" sz="800" dirty="0">
                          <a:latin typeface="IBM Plex Sans Condensed" panose="020B0506050203000203" pitchFamily="34" charset="77"/>
                        </a:rPr>
                        <a:t> breakdown of CAUS; </a:t>
                      </a:r>
                      <a:r>
                        <a:rPr lang="en-US" sz="800" b="1" dirty="0">
                          <a:latin typeface="IBM Plex Sans Condensed" panose="020B0506050203000203" pitchFamily="34" charset="77"/>
                        </a:rPr>
                        <a:t>NARRATIVE</a:t>
                      </a:r>
                    </a:p>
                  </a:txBody>
                  <a:tcPr anchor="ctr">
                    <a:noFill/>
                  </a:tcPr>
                </a:tc>
                <a:extLst>
                  <a:ext uri="{0D108BD9-81ED-4DB2-BD59-A6C34878D82A}">
                    <a16:rowId xmlns:a16="http://schemas.microsoft.com/office/drawing/2014/main" val="2307539387"/>
                  </a:ext>
                </a:extLst>
              </a:tr>
              <a:tr h="248019">
                <a:tc>
                  <a:txBody>
                    <a:bodyPr/>
                    <a:lstStyle/>
                    <a:p>
                      <a:pPr algn="ctr"/>
                      <a:r>
                        <a:rPr lang="en-US" sz="1000" dirty="0">
                          <a:solidFill>
                            <a:schemeClr val="bg1"/>
                          </a:solidFill>
                          <a:latin typeface="IBM Plex Sans Condensed" panose="020B0506050203000203" pitchFamily="34" charset="77"/>
                        </a:rPr>
                        <a:t>E</a:t>
                      </a:r>
                    </a:p>
                  </a:txBody>
                  <a:tcPr anchor="ctr">
                    <a:lnR w="6350" cap="flat" cmpd="sng" algn="ctr">
                      <a:solidFill>
                        <a:schemeClr val="tx1"/>
                      </a:solidFill>
                      <a:prstDash val="solid"/>
                      <a:round/>
                      <a:headEnd type="none" w="med" len="med"/>
                      <a:tailEnd type="none" w="med" len="med"/>
                    </a:lnR>
                    <a:solidFill>
                      <a:srgbClr val="175C61"/>
                    </a:solidFill>
                  </a:tcPr>
                </a:tc>
                <a:tc>
                  <a:txBody>
                    <a:bodyPr/>
                    <a:lstStyle/>
                    <a:p>
                      <a:r>
                        <a:rPr lang="en-US" sz="800" dirty="0">
                          <a:latin typeface="IBM Plex Sans Condensed" panose="020B0506050203000203" pitchFamily="34" charset="77"/>
                        </a:rPr>
                        <a:t>Accident_hazardous_liquid_jan2002_dec2009</a:t>
                      </a:r>
                    </a:p>
                  </a:txBody>
                  <a:tcPr anchor="ctr">
                    <a:lnL w="6350" cap="flat" cmpd="sng" algn="ctr">
                      <a:solidFill>
                        <a:schemeClr val="tx1"/>
                      </a:solidFill>
                      <a:prstDash val="solid"/>
                      <a:round/>
                      <a:headEnd type="none" w="med" len="med"/>
                      <a:tailEnd type="none" w="med" len="med"/>
                    </a:lnL>
                    <a:noFill/>
                  </a:tcPr>
                </a:tc>
                <a:tc>
                  <a:txBody>
                    <a:bodyPr/>
                    <a:lstStyle/>
                    <a:p>
                      <a:r>
                        <a:rPr lang="en-US" sz="800" dirty="0">
                          <a:latin typeface="IBM Plex Sans Condensed" panose="020B0506050203000203" pitchFamily="34" charset="77"/>
                        </a:rPr>
                        <a:t>^ [2002:2009]</a:t>
                      </a:r>
                    </a:p>
                  </a:txBody>
                  <a:tcPr anchor="ctr">
                    <a:noFill/>
                  </a:tcPr>
                </a:tc>
                <a:tc>
                  <a:txBody>
                    <a:bodyPr/>
                    <a:lstStyle/>
                    <a:p>
                      <a:r>
                        <a:rPr lang="en-US" sz="800" dirty="0">
                          <a:latin typeface="IBM Plex Sans Condensed" panose="020B0506050203000203" pitchFamily="34" charset="77"/>
                        </a:rPr>
                        <a:t>2002 to 2009</a:t>
                      </a:r>
                    </a:p>
                  </a:txBody>
                  <a:tcPr anchor="ctr">
                    <a:noFill/>
                  </a:tcPr>
                </a:tc>
                <a:tc>
                  <a:txBody>
                    <a:bodyPr/>
                    <a:lstStyle/>
                    <a:p>
                      <a:r>
                        <a:rPr lang="en-US" sz="800" dirty="0">
                          <a:latin typeface="IBM Plex Sans Condensed" panose="020B0506050203000203" pitchFamily="34" charset="77"/>
                        </a:rPr>
                        <a:t>3031</a:t>
                      </a:r>
                    </a:p>
                  </a:txBody>
                  <a:tcPr anchor="ctr">
                    <a:noFill/>
                  </a:tcPr>
                </a:tc>
                <a:tc>
                  <a:txBody>
                    <a:bodyPr/>
                    <a:lstStyle/>
                    <a:p>
                      <a:r>
                        <a:rPr lang="en-US" sz="800" dirty="0">
                          <a:latin typeface="IBM Plex Sans Condensed" panose="020B0506050203000203" pitchFamily="34" charset="77"/>
                        </a:rPr>
                        <a:t>Crude Oil, Crude Oil Heavy, Crude Oil Sour, Crude Oil / Location, and more</a:t>
                      </a:r>
                    </a:p>
                  </a:txBody>
                  <a:tcPr anchor="ctr">
                    <a:noFill/>
                  </a:tcPr>
                </a:tc>
                <a:tc>
                  <a:txBody>
                    <a:bodyPr/>
                    <a:lstStyle/>
                    <a:p>
                      <a:r>
                        <a:rPr lang="en-US" sz="800" dirty="0">
                          <a:latin typeface="IBM Plex Sans Condensed" panose="020B0506050203000203" pitchFamily="34" charset="77"/>
                        </a:rPr>
                        <a:t>Not explicitly; can be roughly extrapolated</a:t>
                      </a:r>
                    </a:p>
                  </a:txBody>
                  <a:tcPr anchor="ctr">
                    <a:solidFill>
                      <a:schemeClr val="accent4">
                        <a:lumMod val="20000"/>
                        <a:lumOff val="80000"/>
                        <a:alpha val="50588"/>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latin typeface="IBM Plex Sans Condensed" panose="020B0506050203000203" pitchFamily="34" charset="77"/>
                        </a:rPr>
                        <a:t>Not explicitly; can be roughly extrapolated</a:t>
                      </a:r>
                    </a:p>
                  </a:txBody>
                  <a:tcPr anchor="ctr">
                    <a:solidFill>
                      <a:schemeClr val="accent4">
                        <a:lumMod val="20000"/>
                        <a:lumOff val="80000"/>
                        <a:alpha val="50588"/>
                      </a:schemeClr>
                    </a:solidFill>
                  </a:tcPr>
                </a:tc>
                <a:tc>
                  <a:txBody>
                    <a:bodyPr/>
                    <a:lstStyle/>
                    <a:p>
                      <a:r>
                        <a:rPr lang="en-US" sz="800" dirty="0">
                          <a:latin typeface="IBM Plex Sans Condensed" panose="020B0506050203000203" pitchFamily="34" charset="77"/>
                        </a:rPr>
                        <a:t>Small spills: </a:t>
                      </a:r>
                      <a:r>
                        <a:rPr lang="en-US" sz="800" b="1" dirty="0">
                          <a:latin typeface="IBM Plex Sans Condensed" panose="020B0506050203000203" pitchFamily="34" charset="77"/>
                        </a:rPr>
                        <a:t>GEN_CAUSE </a:t>
                      </a:r>
                      <a:r>
                        <a:rPr lang="en-US" sz="800" dirty="0">
                          <a:latin typeface="IBM Plex Sans Condensed" panose="020B0506050203000203" pitchFamily="34" charset="77"/>
                        </a:rPr>
                        <a:t>(equipment, corrosion, etc.)</a:t>
                      </a:r>
                    </a:p>
                    <a:p>
                      <a:r>
                        <a:rPr lang="en-US" sz="800" dirty="0">
                          <a:latin typeface="IBM Plex Sans Condensed" panose="020B0506050203000203" pitchFamily="34" charset="77"/>
                        </a:rPr>
                        <a:t>Big spills: </a:t>
                      </a:r>
                      <a:r>
                        <a:rPr lang="en-US" sz="800" b="1" dirty="0">
                          <a:latin typeface="IBM Plex Sans Condensed" panose="020B0506050203000203" pitchFamily="34" charset="77"/>
                        </a:rPr>
                        <a:t>CAUSE </a:t>
                      </a:r>
                      <a:r>
                        <a:rPr lang="en-US" sz="800" dirty="0">
                          <a:latin typeface="IBM Plex Sans Condensed" panose="020B0506050203000203" pitchFamily="34" charset="77"/>
                        </a:rPr>
                        <a:t>(more detailed than small spills); </a:t>
                      </a:r>
                      <a:r>
                        <a:rPr lang="en-US" sz="800" b="1" dirty="0">
                          <a:latin typeface="IBM Plex Sans Condensed" panose="020B0506050203000203" pitchFamily="34" charset="77"/>
                        </a:rPr>
                        <a:t>NARRATIVE</a:t>
                      </a:r>
                    </a:p>
                  </a:txBody>
                  <a:tcPr anchor="ctr">
                    <a:noFill/>
                  </a:tcPr>
                </a:tc>
                <a:extLst>
                  <a:ext uri="{0D108BD9-81ED-4DB2-BD59-A6C34878D82A}">
                    <a16:rowId xmlns:a16="http://schemas.microsoft.com/office/drawing/2014/main" val="1771338020"/>
                  </a:ext>
                </a:extLst>
              </a:tr>
              <a:tr h="248019">
                <a:tc>
                  <a:txBody>
                    <a:bodyPr/>
                    <a:lstStyle/>
                    <a:p>
                      <a:pPr algn="ctr"/>
                      <a:r>
                        <a:rPr lang="en-US" sz="1000" dirty="0">
                          <a:solidFill>
                            <a:schemeClr val="bg1"/>
                          </a:solidFill>
                          <a:latin typeface="IBM Plex Sans Condensed" panose="020B0506050203000203" pitchFamily="34" charset="77"/>
                        </a:rPr>
                        <a:t>F</a:t>
                      </a:r>
                    </a:p>
                  </a:txBody>
                  <a:tcPr anchor="ctr">
                    <a:lnR w="6350" cap="flat" cmpd="sng" algn="ctr">
                      <a:solidFill>
                        <a:schemeClr val="tx1"/>
                      </a:solidFill>
                      <a:prstDash val="solid"/>
                      <a:round/>
                      <a:headEnd type="none" w="med" len="med"/>
                      <a:tailEnd type="none" w="med" len="med"/>
                    </a:lnR>
                    <a:solidFill>
                      <a:srgbClr val="175C61"/>
                    </a:solidFill>
                  </a:tcPr>
                </a:tc>
                <a:tc>
                  <a:txBody>
                    <a:bodyPr/>
                    <a:lstStyle/>
                    <a:p>
                      <a:r>
                        <a:rPr lang="en-US" sz="800" dirty="0">
                          <a:latin typeface="IBM Plex Sans Condensed" panose="020B0506050203000203" pitchFamily="34" charset="77"/>
                        </a:rPr>
                        <a:t>Accident_hazardous_liquid_jan2010_present</a:t>
                      </a:r>
                    </a:p>
                  </a:txBody>
                  <a:tcPr anchor="ctr">
                    <a:lnL w="6350" cap="flat" cmpd="sng" algn="ctr">
                      <a:solidFill>
                        <a:schemeClr val="tx1"/>
                      </a:solidFill>
                      <a:prstDash val="solid"/>
                      <a:round/>
                      <a:headEnd type="none" w="med" len="med"/>
                      <a:tailEnd type="none" w="med" len="med"/>
                    </a:lnL>
                    <a:noFill/>
                  </a:tcPr>
                </a:tc>
                <a:tc>
                  <a:txBody>
                    <a:bodyPr/>
                    <a:lstStyle/>
                    <a:p>
                      <a:r>
                        <a:rPr lang="en-US" sz="800" dirty="0">
                          <a:latin typeface="IBM Plex Sans Condensed" panose="020B0506050203000203" pitchFamily="34" charset="77"/>
                        </a:rPr>
                        <a:t>^ [2010:2023]</a:t>
                      </a:r>
                    </a:p>
                  </a:txBody>
                  <a:tcPr anchor="ctr">
                    <a:noFill/>
                  </a:tcPr>
                </a:tc>
                <a:tc>
                  <a:txBody>
                    <a:bodyPr/>
                    <a:lstStyle/>
                    <a:p>
                      <a:r>
                        <a:rPr lang="en-US" sz="800" dirty="0">
                          <a:latin typeface="IBM Plex Sans Condensed" panose="020B0506050203000203" pitchFamily="34" charset="77"/>
                        </a:rPr>
                        <a:t>2010 to 2023</a:t>
                      </a:r>
                    </a:p>
                  </a:txBody>
                  <a:tcPr anchor="ctr">
                    <a:noFill/>
                  </a:tcPr>
                </a:tc>
                <a:tc>
                  <a:txBody>
                    <a:bodyPr/>
                    <a:lstStyle/>
                    <a:p>
                      <a:r>
                        <a:rPr lang="en-US" sz="800" dirty="0">
                          <a:latin typeface="IBM Plex Sans Condensed" panose="020B0506050203000203" pitchFamily="34" charset="77"/>
                        </a:rPr>
                        <a:t>5248</a:t>
                      </a:r>
                    </a:p>
                  </a:txBody>
                  <a:tcPr anchor="ctr">
                    <a:noFill/>
                  </a:tcPr>
                </a:tc>
                <a:tc>
                  <a:txBody>
                    <a:bodyPr/>
                    <a:lstStyle/>
                    <a:p>
                      <a:r>
                        <a:rPr lang="en-US" sz="800" dirty="0">
                          <a:latin typeface="IBM Plex Sans Condensed" panose="020B0506050203000203" pitchFamily="34" charset="77"/>
                        </a:rPr>
                        <a:t>Crude Oil</a:t>
                      </a:r>
                    </a:p>
                  </a:txBody>
                  <a:tcPr anchor="ctr">
                    <a:no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b="1" dirty="0">
                          <a:latin typeface="IBM Plex Sans Condensed" panose="020B0506050203000203" pitchFamily="34" charset="77"/>
                        </a:rPr>
                        <a:t>CAUSE:</a:t>
                      </a:r>
                      <a:r>
                        <a:rPr lang="en-US" sz="800" dirty="0">
                          <a:latin typeface="IBM Plex Sans Condensed" panose="020B0506050203000203" pitchFamily="34" charset="77"/>
                        </a:rPr>
                        <a:t> corrosion, equipment, manual error, etc.</a:t>
                      </a:r>
                    </a:p>
                    <a:p>
                      <a:r>
                        <a:rPr lang="en-US" sz="800" b="1" dirty="0">
                          <a:latin typeface="IBM Plex Sans Condensed" panose="020B0506050203000203" pitchFamily="34" charset="77"/>
                        </a:rPr>
                        <a:t>CAUSE_DETAILS: </a:t>
                      </a:r>
                      <a:r>
                        <a:rPr lang="en-US" sz="800" dirty="0">
                          <a:latin typeface="IBM Plex Sans Condensed" panose="020B0506050203000203" pitchFamily="34" charset="77"/>
                        </a:rPr>
                        <a:t>more detailed than above; </a:t>
                      </a:r>
                      <a:r>
                        <a:rPr lang="en-US" sz="800" b="1" dirty="0">
                          <a:latin typeface="IBM Plex Sans Condensed" panose="020B0506050203000203" pitchFamily="34" charset="77"/>
                        </a:rPr>
                        <a:t>NARRATIVE</a:t>
                      </a:r>
                    </a:p>
                  </a:txBody>
                  <a:tcPr anchor="ctr">
                    <a:noFill/>
                  </a:tcPr>
                </a:tc>
                <a:extLst>
                  <a:ext uri="{0D108BD9-81ED-4DB2-BD59-A6C34878D82A}">
                    <a16:rowId xmlns:a16="http://schemas.microsoft.com/office/drawing/2014/main" val="2476054352"/>
                  </a:ext>
                </a:extLst>
              </a:tr>
              <a:tr h="248019">
                <a:tc>
                  <a:txBody>
                    <a:bodyPr/>
                    <a:lstStyle/>
                    <a:p>
                      <a:pPr algn="ctr"/>
                      <a:r>
                        <a:rPr lang="en-US" sz="1000" dirty="0">
                          <a:solidFill>
                            <a:schemeClr val="bg1"/>
                          </a:solidFill>
                          <a:latin typeface="IBM Plex Sans Condensed" panose="020B0506050203000203" pitchFamily="34" charset="77"/>
                        </a:rPr>
                        <a:t>G</a:t>
                      </a:r>
                    </a:p>
                  </a:txBody>
                  <a:tcPr anchor="ctr">
                    <a:lnR w="6350" cap="flat" cmpd="sng" algn="ctr">
                      <a:solidFill>
                        <a:schemeClr val="tx1"/>
                      </a:solidFill>
                      <a:prstDash val="solid"/>
                      <a:round/>
                      <a:headEnd type="none" w="med" len="med"/>
                      <a:tailEnd type="none" w="med" len="med"/>
                    </a:lnR>
                    <a:solidFill>
                      <a:srgbClr val="175C61"/>
                    </a:solidFill>
                  </a:tcPr>
                </a:tc>
                <a:tc>
                  <a:txBody>
                    <a:bodyPr/>
                    <a:lstStyle/>
                    <a:p>
                      <a:r>
                        <a:rPr lang="en-US" sz="800" dirty="0">
                          <a:latin typeface="IBM Plex Sans Condensed" panose="020B0506050203000203" pitchFamily="34" charset="77"/>
                        </a:rPr>
                        <a:t>Accident_gravity_reporting_regulated_jul2020_present.txt</a:t>
                      </a:r>
                    </a:p>
                  </a:txBody>
                  <a:tcPr anchor="ctr">
                    <a:lnL w="6350" cap="flat" cmpd="sng" algn="ctr">
                      <a:solidFill>
                        <a:schemeClr val="tx1"/>
                      </a:solidFill>
                      <a:prstDash val="solid"/>
                      <a:round/>
                      <a:headEnd type="none" w="med" len="med"/>
                      <a:tailEnd type="none" w="med" len="med"/>
                    </a:lnL>
                    <a:noFill/>
                  </a:tcPr>
                </a:tc>
                <a:tc>
                  <a:txBody>
                    <a:bodyPr/>
                    <a:lstStyle/>
                    <a:p>
                      <a:r>
                        <a:rPr lang="en-US" sz="800" dirty="0">
                          <a:latin typeface="IBM Plex Sans Condensed" panose="020B0506050203000203" pitchFamily="34" charset="77"/>
                        </a:rPr>
                        <a:t>Transportation incidents of hazardous liquids flowing through gravity pipelines. </a:t>
                      </a:r>
                    </a:p>
                  </a:txBody>
                  <a:tcPr anchor="ctr">
                    <a:noFill/>
                  </a:tcPr>
                </a:tc>
                <a:tc>
                  <a:txBody>
                    <a:bodyPr/>
                    <a:lstStyle/>
                    <a:p>
                      <a:r>
                        <a:rPr lang="en-US" sz="800" dirty="0">
                          <a:latin typeface="IBM Plex Sans Condensed" panose="020B0506050203000203" pitchFamily="34" charset="77"/>
                        </a:rPr>
                        <a:t>2021 to 2023</a:t>
                      </a:r>
                    </a:p>
                  </a:txBody>
                  <a:tcPr anchor="ctr">
                    <a:noFill/>
                  </a:tcPr>
                </a:tc>
                <a:tc>
                  <a:txBody>
                    <a:bodyPr/>
                    <a:lstStyle/>
                    <a:p>
                      <a:r>
                        <a:rPr lang="en-US" sz="800" dirty="0">
                          <a:latin typeface="IBM Plex Sans Condensed" panose="020B0506050203000203" pitchFamily="34" charset="77"/>
                        </a:rPr>
                        <a:t>297</a:t>
                      </a:r>
                    </a:p>
                  </a:txBody>
                  <a:tcPr anchor="ctr">
                    <a:noFill/>
                  </a:tcPr>
                </a:tc>
                <a:tc>
                  <a:txBody>
                    <a:bodyPr/>
                    <a:lstStyle/>
                    <a:p>
                      <a:r>
                        <a:rPr lang="en-US" sz="800" dirty="0">
                          <a:latin typeface="IBM Plex Sans Condensed" panose="020B0506050203000203" pitchFamily="34" charset="77"/>
                        </a:rPr>
                        <a:t>Crude Oil (Nothing else)</a:t>
                      </a:r>
                    </a:p>
                  </a:txBody>
                  <a:tcPr anchor="ctr">
                    <a:no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b="1" dirty="0">
                          <a:latin typeface="IBM Plex Sans Condensed" panose="020B0506050203000203" pitchFamily="34" charset="77"/>
                        </a:rPr>
                        <a:t>CAUSE:</a:t>
                      </a:r>
                      <a:r>
                        <a:rPr lang="en-US" sz="800" dirty="0">
                          <a:latin typeface="IBM Plex Sans Condensed" panose="020B0506050203000203" pitchFamily="34" charset="77"/>
                        </a:rPr>
                        <a:t> corrosion, equipment, manual error, etc.</a:t>
                      </a:r>
                    </a:p>
                    <a:p>
                      <a:r>
                        <a:rPr lang="en-US" sz="800" b="1" dirty="0">
                          <a:latin typeface="IBM Plex Sans Condensed" panose="020B0506050203000203" pitchFamily="34" charset="77"/>
                        </a:rPr>
                        <a:t>CAUSE_DETAILS: </a:t>
                      </a:r>
                      <a:r>
                        <a:rPr lang="en-US" sz="800" dirty="0">
                          <a:latin typeface="IBM Plex Sans Condensed" panose="020B0506050203000203" pitchFamily="34" charset="77"/>
                        </a:rPr>
                        <a:t>more detailed than above; NARRATIVE</a:t>
                      </a:r>
                    </a:p>
                  </a:txBody>
                  <a:tcPr anchor="ctr">
                    <a:noFill/>
                  </a:tcPr>
                </a:tc>
                <a:extLst>
                  <a:ext uri="{0D108BD9-81ED-4DB2-BD59-A6C34878D82A}">
                    <a16:rowId xmlns:a16="http://schemas.microsoft.com/office/drawing/2014/main" val="967564320"/>
                  </a:ext>
                </a:extLst>
              </a:tr>
            </a:tbl>
          </a:graphicData>
        </a:graphic>
      </p:graphicFrame>
      <p:sp>
        <p:nvSpPr>
          <p:cNvPr id="14" name="TextBox 13">
            <a:extLst>
              <a:ext uri="{FF2B5EF4-FFF2-40B4-BE49-F238E27FC236}">
                <a16:creationId xmlns:a16="http://schemas.microsoft.com/office/drawing/2014/main" id="{B7082469-53E4-5BB0-0EA1-AF46CA9402B9}"/>
              </a:ext>
            </a:extLst>
          </p:cNvPr>
          <p:cNvSpPr txBox="1"/>
          <p:nvPr/>
        </p:nvSpPr>
        <p:spPr>
          <a:xfrm>
            <a:off x="348341" y="4873745"/>
            <a:ext cx="2272940" cy="1277273"/>
          </a:xfrm>
          <a:prstGeom prst="rect">
            <a:avLst/>
          </a:prstGeom>
          <a:noFill/>
        </p:spPr>
        <p:txBody>
          <a:bodyPr wrap="square" rtlCol="0">
            <a:spAutoFit/>
          </a:bodyPr>
          <a:lstStyle/>
          <a:p>
            <a:r>
              <a:rPr lang="en-US" sz="1100" dirty="0">
                <a:latin typeface="IBM Plex Sans Condensed" panose="020B0506050203000203" pitchFamily="34" charset="77"/>
              </a:rPr>
              <a:t>The Pipeline and Hazardous Materials Safety Administration (PHMSA) is responsible for regulating and ensuring the safe and secure movement of hazardous materials within the United States [7].</a:t>
            </a:r>
          </a:p>
        </p:txBody>
      </p:sp>
      <p:sp>
        <p:nvSpPr>
          <p:cNvPr id="7" name="Rounded Rectangle 6">
            <a:extLst>
              <a:ext uri="{FF2B5EF4-FFF2-40B4-BE49-F238E27FC236}">
                <a16:creationId xmlns:a16="http://schemas.microsoft.com/office/drawing/2014/main" id="{28516C13-C562-2C46-5461-CB9ADDAC9408}"/>
              </a:ext>
            </a:extLst>
          </p:cNvPr>
          <p:cNvSpPr/>
          <p:nvPr/>
        </p:nvSpPr>
        <p:spPr>
          <a:xfrm>
            <a:off x="348341" y="1694467"/>
            <a:ext cx="2272940" cy="350164"/>
          </a:xfrm>
          <a:prstGeom prst="roundRect">
            <a:avLst/>
          </a:prstGeom>
          <a:solidFill>
            <a:srgbClr val="2DAAA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Spectral" panose="02020502060000000000" pitchFamily="18" charset="77"/>
              </a:rPr>
              <a:t>Canadian Datasets</a:t>
            </a:r>
            <a:r>
              <a:rPr lang="en-US" sz="1400" dirty="0">
                <a:solidFill>
                  <a:srgbClr val="FF0000"/>
                </a:solidFill>
                <a:latin typeface="Spectral" panose="02020502060000000000" pitchFamily="18" charset="77"/>
              </a:rPr>
              <a:t>*</a:t>
            </a:r>
            <a:endParaRPr lang="en-US" sz="1400" dirty="0">
              <a:solidFill>
                <a:schemeClr val="bg1"/>
              </a:solidFill>
              <a:latin typeface="Spectral" panose="02020502060000000000" pitchFamily="18" charset="77"/>
            </a:endParaRPr>
          </a:p>
        </p:txBody>
      </p:sp>
      <p:sp>
        <p:nvSpPr>
          <p:cNvPr id="10" name="Rounded Rectangle 9">
            <a:extLst>
              <a:ext uri="{FF2B5EF4-FFF2-40B4-BE49-F238E27FC236}">
                <a16:creationId xmlns:a16="http://schemas.microsoft.com/office/drawing/2014/main" id="{AEFB077F-7647-224C-67AF-4025534A4958}"/>
              </a:ext>
            </a:extLst>
          </p:cNvPr>
          <p:cNvSpPr/>
          <p:nvPr/>
        </p:nvSpPr>
        <p:spPr>
          <a:xfrm>
            <a:off x="348341" y="4446407"/>
            <a:ext cx="2272940" cy="350164"/>
          </a:xfrm>
          <a:prstGeom prst="roundRect">
            <a:avLst/>
          </a:prstGeom>
          <a:solidFill>
            <a:srgbClr val="175C6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Spectral" panose="02020502060000000000" pitchFamily="18" charset="77"/>
              </a:rPr>
              <a:t>American Datasets</a:t>
            </a:r>
            <a:endParaRPr lang="en-US" sz="1400" dirty="0">
              <a:solidFill>
                <a:srgbClr val="FF0000"/>
              </a:solidFill>
              <a:latin typeface="Spectral" panose="02020502060000000000" pitchFamily="18" charset="77"/>
            </a:endParaRPr>
          </a:p>
        </p:txBody>
      </p:sp>
      <p:sp>
        <p:nvSpPr>
          <p:cNvPr id="11" name="TextBox 10">
            <a:extLst>
              <a:ext uri="{FF2B5EF4-FFF2-40B4-BE49-F238E27FC236}">
                <a16:creationId xmlns:a16="http://schemas.microsoft.com/office/drawing/2014/main" id="{0EBA3669-ECF5-C373-E647-E88DA4775883}"/>
              </a:ext>
            </a:extLst>
          </p:cNvPr>
          <p:cNvSpPr txBox="1"/>
          <p:nvPr/>
        </p:nvSpPr>
        <p:spPr>
          <a:xfrm>
            <a:off x="348341" y="6330190"/>
            <a:ext cx="7376162" cy="215444"/>
          </a:xfrm>
          <a:prstGeom prst="rect">
            <a:avLst/>
          </a:prstGeom>
          <a:noFill/>
        </p:spPr>
        <p:txBody>
          <a:bodyPr wrap="square" rtlCol="0">
            <a:spAutoFit/>
          </a:bodyPr>
          <a:lstStyle/>
          <a:p>
            <a:r>
              <a:rPr lang="en-US" sz="800" i="1" dirty="0">
                <a:solidFill>
                  <a:srgbClr val="FF0000"/>
                </a:solidFill>
                <a:latin typeface="IBM Plex Sans Condensed" panose="020B0506050203000203" pitchFamily="34" charset="77"/>
              </a:rPr>
              <a:t>*</a:t>
            </a:r>
            <a:r>
              <a:rPr lang="en-US" sz="800" i="1" dirty="0">
                <a:latin typeface="IBM Plex Sans Condensed" panose="020B0506050203000203" pitchFamily="34" charset="77"/>
              </a:rPr>
              <a:t>Omitting pipeline transportation occurrence data from Jan 1979 to 1990 as the TSB does not warrant the quality, accuracy, reliability or completeness of its data </a:t>
            </a:r>
            <a:r>
              <a:rPr lang="en-US" sz="800" dirty="0">
                <a:latin typeface="IBM Plex Sans Condensed" panose="020B0506050203000203" pitchFamily="34" charset="77"/>
              </a:rPr>
              <a:t>[8]</a:t>
            </a:r>
          </a:p>
        </p:txBody>
      </p:sp>
      <p:cxnSp>
        <p:nvCxnSpPr>
          <p:cNvPr id="3" name="Straight Connector 2">
            <a:extLst>
              <a:ext uri="{FF2B5EF4-FFF2-40B4-BE49-F238E27FC236}">
                <a16:creationId xmlns:a16="http://schemas.microsoft.com/office/drawing/2014/main" id="{1893308B-CB05-D4C8-C968-2D0C78AE6442}"/>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6471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29733-4F69-984C-781F-03875AE70E9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9081FF8-902A-A7D2-6F62-E33B253A89BA}"/>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Approach</a:t>
            </a:r>
          </a:p>
        </p:txBody>
      </p:sp>
      <p:pic>
        <p:nvPicPr>
          <p:cNvPr id="6" name="Picture 2" descr="Validere Acquires Regulatory Reporting Platform Clairifi - Validere">
            <a:extLst>
              <a:ext uri="{FF2B5EF4-FFF2-40B4-BE49-F238E27FC236}">
                <a16:creationId xmlns:a16="http://schemas.microsoft.com/office/drawing/2014/main" id="{AAA9DC98-6011-137A-4C65-7909DDEAF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33342A4-5981-1568-6CDA-3435224E8239}"/>
              </a:ext>
            </a:extLst>
          </p:cNvPr>
          <p:cNvSpPr txBox="1"/>
          <p:nvPr/>
        </p:nvSpPr>
        <p:spPr>
          <a:xfrm>
            <a:off x="348342" y="1047347"/>
            <a:ext cx="11408227" cy="307777"/>
          </a:xfrm>
          <a:prstGeom prst="rect">
            <a:avLst/>
          </a:prstGeom>
          <a:noFill/>
        </p:spPr>
        <p:txBody>
          <a:bodyPr wrap="square" rtlCol="0">
            <a:spAutoFit/>
          </a:bodyPr>
          <a:lstStyle/>
          <a:p>
            <a:r>
              <a:rPr lang="en-US" sz="1400" dirty="0">
                <a:latin typeface="IBM Plex Sans Condensed" panose="020B0506050203000203" pitchFamily="34" charset="77"/>
              </a:rPr>
              <a:t>Before diving into a dataset, we need to ensure that we’re taking a logical approach to the problem that encompasses the possible scenarios / outcomes. </a:t>
            </a:r>
          </a:p>
        </p:txBody>
      </p:sp>
      <p:sp>
        <p:nvSpPr>
          <p:cNvPr id="3" name="Rectangle 2">
            <a:extLst>
              <a:ext uri="{FF2B5EF4-FFF2-40B4-BE49-F238E27FC236}">
                <a16:creationId xmlns:a16="http://schemas.microsoft.com/office/drawing/2014/main" id="{FC515DE9-2445-1D98-90E9-7FFE21D81BB4}"/>
              </a:ext>
            </a:extLst>
          </p:cNvPr>
          <p:cNvSpPr/>
          <p:nvPr/>
        </p:nvSpPr>
        <p:spPr>
          <a:xfrm>
            <a:off x="431074" y="1578454"/>
            <a:ext cx="11325492" cy="274480"/>
          </a:xfrm>
          <a:prstGeom prst="rect">
            <a:avLst/>
          </a:prstGeom>
          <a:solidFill>
            <a:srgbClr val="21344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Spectral" panose="02020502060000000000" pitchFamily="18" charset="77"/>
              </a:rPr>
              <a:t>Approach #1 – Crude Oil vs. NOT Crude Oil</a:t>
            </a:r>
          </a:p>
        </p:txBody>
      </p:sp>
      <p:sp>
        <p:nvSpPr>
          <p:cNvPr id="12" name="Rectangle 11">
            <a:extLst>
              <a:ext uri="{FF2B5EF4-FFF2-40B4-BE49-F238E27FC236}">
                <a16:creationId xmlns:a16="http://schemas.microsoft.com/office/drawing/2014/main" id="{0F2F546F-7563-9B03-3558-FFFBE656E4CE}"/>
              </a:ext>
            </a:extLst>
          </p:cNvPr>
          <p:cNvSpPr/>
          <p:nvPr/>
        </p:nvSpPr>
        <p:spPr>
          <a:xfrm>
            <a:off x="431075" y="1852934"/>
            <a:ext cx="11325494" cy="6042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latin typeface="IBM Plex Sans Condensed" panose="020B0506050203000203" pitchFamily="34" charset="77"/>
              </a:rPr>
              <a:t>One way to determine whether the physical or chemical properties of crude oil influence pipeline accidents is to look at accidents that involved crude oil versus accidents that involved transporting other substances (e.g., natural gas). If there is a discernable difference between accidents for different substance types, we may be able to infer that there are inherent properties of crude oil (that don’t exist / are less prominent in other substances) that are contributing to these incidents. </a:t>
            </a:r>
          </a:p>
        </p:txBody>
      </p:sp>
      <p:sp>
        <p:nvSpPr>
          <p:cNvPr id="17" name="Rectangle 16">
            <a:extLst>
              <a:ext uri="{FF2B5EF4-FFF2-40B4-BE49-F238E27FC236}">
                <a16:creationId xmlns:a16="http://schemas.microsoft.com/office/drawing/2014/main" id="{2CF9B963-2A9D-6AC6-2634-F3D86A518FE8}"/>
              </a:ext>
            </a:extLst>
          </p:cNvPr>
          <p:cNvSpPr/>
          <p:nvPr/>
        </p:nvSpPr>
        <p:spPr>
          <a:xfrm>
            <a:off x="431073" y="2675223"/>
            <a:ext cx="11325492" cy="274480"/>
          </a:xfrm>
          <a:prstGeom prst="rect">
            <a:avLst/>
          </a:prstGeom>
          <a:solidFill>
            <a:srgbClr val="21344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Spectral" panose="02020502060000000000" pitchFamily="18" charset="77"/>
              </a:rPr>
              <a:t>Approach #2 – Inherent Properties of Crude Oil</a:t>
            </a:r>
          </a:p>
        </p:txBody>
      </p:sp>
      <p:sp>
        <p:nvSpPr>
          <p:cNvPr id="18" name="Rectangle 17">
            <a:extLst>
              <a:ext uri="{FF2B5EF4-FFF2-40B4-BE49-F238E27FC236}">
                <a16:creationId xmlns:a16="http://schemas.microsoft.com/office/drawing/2014/main" id="{9D1CFC32-C9A2-CEE0-8276-FE3F06934235}"/>
              </a:ext>
            </a:extLst>
          </p:cNvPr>
          <p:cNvSpPr/>
          <p:nvPr/>
        </p:nvSpPr>
        <p:spPr>
          <a:xfrm>
            <a:off x="431074" y="2949703"/>
            <a:ext cx="11325494" cy="4546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latin typeface="IBM Plex Sans Condensed" panose="020B0506050203000203" pitchFamily="34" charset="77"/>
              </a:rPr>
              <a:t>The second, and perhaps more direct approach to the problem, is to evaluate crude-oil specific incidents to see if its variations in composition (heavy vs. light, sour vs. sweet) are a direct contributor to pipeline accidents. </a:t>
            </a:r>
          </a:p>
        </p:txBody>
      </p:sp>
      <p:cxnSp>
        <p:nvCxnSpPr>
          <p:cNvPr id="5" name="Straight Connector 4">
            <a:extLst>
              <a:ext uri="{FF2B5EF4-FFF2-40B4-BE49-F238E27FC236}">
                <a16:creationId xmlns:a16="http://schemas.microsoft.com/office/drawing/2014/main" id="{D5CEC30F-4BB7-EF6E-4027-2FDB2B1FF2EB}"/>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A59016E9-54A9-206F-BFA2-D3F455965922}"/>
              </a:ext>
            </a:extLst>
          </p:cNvPr>
          <p:cNvSpPr/>
          <p:nvPr/>
        </p:nvSpPr>
        <p:spPr>
          <a:xfrm>
            <a:off x="431073" y="3453647"/>
            <a:ext cx="6265187" cy="2860065"/>
          </a:xfrm>
          <a:prstGeom prst="roundRect">
            <a:avLst/>
          </a:prstGeom>
          <a:solidFill>
            <a:srgbClr val="F7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0A2636"/>
                </a:solidFill>
                <a:latin typeface="Spectral" panose="02020502060000000000" pitchFamily="18" charset="77"/>
              </a:rPr>
              <a:t>Considerations for Dataset Selection</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Given that we have both Canadian and American datasets, it would be ideal to analyze at least one of each because:</a:t>
            </a:r>
          </a:p>
          <a:p>
            <a:pPr lvl="1"/>
            <a:r>
              <a:rPr lang="en-US" sz="1100" dirty="0">
                <a:solidFill>
                  <a:schemeClr val="tx1"/>
                </a:solidFill>
                <a:latin typeface="IBM Plex Sans Condensed" panose="020B0506050203000203" pitchFamily="34" charset="77"/>
              </a:rPr>
              <a:t>1) The data that is required by the governing bodies may vary and therefore result in different attributes / information provided about the incident</a:t>
            </a:r>
          </a:p>
          <a:p>
            <a:pPr lvl="1"/>
            <a:r>
              <a:rPr lang="en-US" sz="1100" dirty="0">
                <a:solidFill>
                  <a:schemeClr val="tx1"/>
                </a:solidFill>
                <a:latin typeface="IBM Plex Sans Condensed" panose="020B0506050203000203" pitchFamily="34" charset="77"/>
              </a:rPr>
              <a:t>2) Canada and the USA have varying geographies, and this may influence substance properties (e.g., difference in temperature could affect corrosion rates)</a:t>
            </a:r>
          </a:p>
          <a:p>
            <a:pPr lvl="1"/>
            <a:r>
              <a:rPr lang="en-US" sz="1100" dirty="0">
                <a:solidFill>
                  <a:schemeClr val="tx1"/>
                </a:solidFill>
                <a:latin typeface="IBM Plex Sans Condensed" panose="020B0506050203000203" pitchFamily="34" charset="77"/>
              </a:rPr>
              <a:t>3) Because Canada and the USA have different governing bodies for their pipelines, the pipeline-specific specifications (e.g., what materials meet code to build pipelines) may vary, which could contribute to pipeline incidents based on the substance being transported</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Additionally, it seems logical to select data that is as recent as possible and to select datasets with the highest number of records (assuming they are of decent quality). </a:t>
            </a:r>
          </a:p>
        </p:txBody>
      </p:sp>
      <p:sp>
        <p:nvSpPr>
          <p:cNvPr id="9" name="Rounded Rectangle 8">
            <a:extLst>
              <a:ext uri="{FF2B5EF4-FFF2-40B4-BE49-F238E27FC236}">
                <a16:creationId xmlns:a16="http://schemas.microsoft.com/office/drawing/2014/main" id="{04AEF331-D7F3-445C-1981-94E0CFECE3C6}"/>
              </a:ext>
            </a:extLst>
          </p:cNvPr>
          <p:cNvSpPr/>
          <p:nvPr/>
        </p:nvSpPr>
        <p:spPr>
          <a:xfrm>
            <a:off x="6905270" y="3532611"/>
            <a:ext cx="4851295" cy="2110304"/>
          </a:xfrm>
          <a:prstGeom prst="round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a:solidFill>
                  <a:srgbClr val="2DAAAF"/>
                </a:solidFill>
                <a:latin typeface="IBM Plex Sans Condensed" panose="020B0506050203000203" pitchFamily="34" charset="77"/>
              </a:rPr>
              <a:t>DATASET SELECTION</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Given the desired approaches and considerations for dataset selection, dataset A (Canada) will be selected for </a:t>
            </a:r>
            <a:r>
              <a:rPr lang="en-US" sz="1100" b="1" dirty="0">
                <a:solidFill>
                  <a:schemeClr val="tx1"/>
                </a:solidFill>
                <a:latin typeface="IBM Plex Sans Condensed" panose="020B0506050203000203" pitchFamily="34" charset="77"/>
              </a:rPr>
              <a:t>Approach #1 </a:t>
            </a:r>
            <a:r>
              <a:rPr lang="en-US" sz="1100" dirty="0">
                <a:solidFill>
                  <a:schemeClr val="tx1"/>
                </a:solidFill>
                <a:latin typeface="IBM Plex Sans Condensed" panose="020B0506050203000203" pitchFamily="34" charset="77"/>
              </a:rPr>
              <a:t>and dataset E (USA) for </a:t>
            </a:r>
            <a:r>
              <a:rPr lang="en-US" sz="1100" b="1" dirty="0">
                <a:solidFill>
                  <a:schemeClr val="tx1"/>
                </a:solidFill>
                <a:latin typeface="IBM Plex Sans Condensed" panose="020B0506050203000203" pitchFamily="34" charset="77"/>
              </a:rPr>
              <a:t>Approach #2</a:t>
            </a:r>
            <a:r>
              <a:rPr lang="en-US" sz="1100" dirty="0">
                <a:solidFill>
                  <a:schemeClr val="tx1"/>
                </a:solidFill>
                <a:latin typeface="IBM Plex Sans Condensed" panose="020B0506050203000203" pitchFamily="34" charset="77"/>
              </a:rPr>
              <a:t>. </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Dataset E had to be used for </a:t>
            </a:r>
            <a:r>
              <a:rPr lang="en-US" sz="1100" b="1" dirty="0">
                <a:solidFill>
                  <a:schemeClr val="tx1"/>
                </a:solidFill>
                <a:latin typeface="IBM Plex Sans Condensed" panose="020B0506050203000203" pitchFamily="34" charset="77"/>
              </a:rPr>
              <a:t>Approach #2 </a:t>
            </a:r>
            <a:r>
              <a:rPr lang="en-US" sz="1100" dirty="0">
                <a:solidFill>
                  <a:schemeClr val="tx1"/>
                </a:solidFill>
                <a:latin typeface="IBM Plex Sans Condensed" panose="020B0506050203000203" pitchFamily="34" charset="77"/>
              </a:rPr>
              <a:t>given that it is the only dataset that contains property-specific information about the crude oil being transported</a:t>
            </a:r>
            <a:r>
              <a:rPr lang="en-US" sz="1100" dirty="0">
                <a:solidFill>
                  <a:srgbClr val="FF0000"/>
                </a:solidFill>
                <a:latin typeface="IBM Plex Sans Condensed" panose="020B0506050203000203" pitchFamily="34" charset="77"/>
              </a:rPr>
              <a:t>*</a:t>
            </a:r>
            <a:r>
              <a:rPr lang="en-US" sz="1100" dirty="0">
                <a:solidFill>
                  <a:schemeClr val="tx1"/>
                </a:solidFill>
                <a:latin typeface="IBM Plex Sans Condensed" panose="020B0506050203000203" pitchFamily="34" charset="77"/>
              </a:rPr>
              <a:t>. That left the two Canadian datasets for </a:t>
            </a:r>
            <a:r>
              <a:rPr lang="en-US" sz="1100" b="1" dirty="0">
                <a:solidFill>
                  <a:schemeClr val="tx1"/>
                </a:solidFill>
                <a:latin typeface="IBM Plex Sans Condensed" panose="020B0506050203000203" pitchFamily="34" charset="77"/>
              </a:rPr>
              <a:t>Approach #1</a:t>
            </a:r>
            <a:r>
              <a:rPr lang="en-US" sz="1100" dirty="0">
                <a:solidFill>
                  <a:schemeClr val="tx1"/>
                </a:solidFill>
                <a:latin typeface="IBM Plex Sans Condensed" panose="020B0506050203000203" pitchFamily="34" charset="77"/>
              </a:rPr>
              <a:t>; dataset A was selected because dataset B contained information about incidents at pipeline facilities / processing plants which is outside of the scope of this analysis.</a:t>
            </a:r>
          </a:p>
        </p:txBody>
      </p:sp>
      <p:sp>
        <p:nvSpPr>
          <p:cNvPr id="10" name="Rectangle 9">
            <a:extLst>
              <a:ext uri="{FF2B5EF4-FFF2-40B4-BE49-F238E27FC236}">
                <a16:creationId xmlns:a16="http://schemas.microsoft.com/office/drawing/2014/main" id="{1B1D26D1-B8B1-4EF5-4528-3C8E87C0AE46}"/>
              </a:ext>
            </a:extLst>
          </p:cNvPr>
          <p:cNvSpPr/>
          <p:nvPr/>
        </p:nvSpPr>
        <p:spPr>
          <a:xfrm>
            <a:off x="7088777" y="5729913"/>
            <a:ext cx="4667788" cy="24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i="1" dirty="0">
                <a:solidFill>
                  <a:srgbClr val="FF0000"/>
                </a:solidFill>
                <a:latin typeface="IBM Plex Sans Condensed" panose="020B0506050203000203" pitchFamily="34" charset="77"/>
              </a:rPr>
              <a:t>*</a:t>
            </a:r>
            <a:r>
              <a:rPr lang="en-US" sz="800" i="1" dirty="0">
                <a:solidFill>
                  <a:schemeClr val="tx1"/>
                </a:solidFill>
                <a:latin typeface="IBM Plex Sans Condensed" panose="020B0506050203000203" pitchFamily="34" charset="77"/>
              </a:rPr>
              <a:t>Dataset B contains crude oil vs. crude oil-sour, however, only two of the hundreds of crude oil records are crude oil-sour. </a:t>
            </a:r>
          </a:p>
        </p:txBody>
      </p:sp>
    </p:spTree>
    <p:extLst>
      <p:ext uri="{BB962C8B-B14F-4D97-AF65-F5344CB8AC3E}">
        <p14:creationId xmlns:p14="http://schemas.microsoft.com/office/powerpoint/2010/main" val="2416666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Analysis – Approach #1</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862E31D-0345-BEBE-7624-873846F702F6}"/>
              </a:ext>
            </a:extLst>
          </p:cNvPr>
          <p:cNvSpPr txBox="1"/>
          <p:nvPr/>
        </p:nvSpPr>
        <p:spPr>
          <a:xfrm>
            <a:off x="348342" y="1047347"/>
            <a:ext cx="11408227" cy="523220"/>
          </a:xfrm>
          <a:prstGeom prst="rect">
            <a:avLst/>
          </a:prstGeom>
          <a:noFill/>
        </p:spPr>
        <p:txBody>
          <a:bodyPr wrap="square" rtlCol="0">
            <a:spAutoFit/>
          </a:bodyPr>
          <a:lstStyle/>
          <a:p>
            <a:r>
              <a:rPr lang="en-US" sz="1400" dirty="0">
                <a:latin typeface="IBM Plex Sans Condensed" panose="020B0506050203000203" pitchFamily="34" charset="77"/>
              </a:rPr>
              <a:t>The key steps taken in the analysis of </a:t>
            </a:r>
            <a:r>
              <a:rPr lang="en-US" sz="1400" b="1" dirty="0">
                <a:latin typeface="IBM Plex Sans Condensed" panose="020B0506050203000203" pitchFamily="34" charset="77"/>
              </a:rPr>
              <a:t>Approach #1 </a:t>
            </a:r>
            <a:r>
              <a:rPr lang="en-US" sz="1400" dirty="0">
                <a:latin typeface="IBM Plex Sans Condensed" panose="020B0506050203000203" pitchFamily="34" charset="77"/>
              </a:rPr>
              <a:t>are summarized below. The corresponding script for this analysis is in the “</a:t>
            </a:r>
            <a:r>
              <a:rPr lang="en-US" sz="1400" dirty="0" err="1">
                <a:latin typeface="IBM Plex Sans Condensed" panose="020B0506050203000203" pitchFamily="34" charset="77"/>
              </a:rPr>
              <a:t>dataset_A.ipynb</a:t>
            </a:r>
            <a:r>
              <a:rPr lang="en-US" sz="1400" dirty="0">
                <a:latin typeface="IBM Plex Sans Condensed" panose="020B0506050203000203" pitchFamily="34" charset="77"/>
              </a:rPr>
              <a:t>” file, which falls under the “</a:t>
            </a:r>
            <a:r>
              <a:rPr lang="en-US" sz="1400" dirty="0" err="1">
                <a:latin typeface="IBM Plex Sans Condensed" panose="020B0506050203000203" pitchFamily="34" charset="77"/>
              </a:rPr>
              <a:t>src</a:t>
            </a:r>
            <a:r>
              <a:rPr lang="en-US" sz="1400" dirty="0">
                <a:latin typeface="IBM Plex Sans Condensed" panose="020B0506050203000203" pitchFamily="34" charset="77"/>
              </a:rPr>
              <a:t>” folder. The script itself includes further explanation of the decision-making process. </a:t>
            </a:r>
          </a:p>
        </p:txBody>
      </p:sp>
      <p:graphicFrame>
        <p:nvGraphicFramePr>
          <p:cNvPr id="5" name="Table 4">
            <a:extLst>
              <a:ext uri="{FF2B5EF4-FFF2-40B4-BE49-F238E27FC236}">
                <a16:creationId xmlns:a16="http://schemas.microsoft.com/office/drawing/2014/main" id="{CCA75BF7-BB04-89B2-FA61-7C258FBA389E}"/>
              </a:ext>
            </a:extLst>
          </p:cNvPr>
          <p:cNvGraphicFramePr>
            <a:graphicFrameLocks noGrp="1"/>
          </p:cNvGraphicFramePr>
          <p:nvPr>
            <p:extLst>
              <p:ext uri="{D42A27DB-BD31-4B8C-83A1-F6EECF244321}">
                <p14:modId xmlns:p14="http://schemas.microsoft.com/office/powerpoint/2010/main" val="3485776024"/>
              </p:ext>
            </p:extLst>
          </p:nvPr>
        </p:nvGraphicFramePr>
        <p:xfrm>
          <a:off x="348342" y="1694803"/>
          <a:ext cx="11408226" cy="4319373"/>
        </p:xfrm>
        <a:graphic>
          <a:graphicData uri="http://schemas.openxmlformats.org/drawingml/2006/table">
            <a:tbl>
              <a:tblPr firstRow="1" bandRow="1">
                <a:tableStyleId>{5C22544A-7EE6-4342-B048-85BDC9FD1C3A}</a:tableStyleId>
              </a:tblPr>
              <a:tblGrid>
                <a:gridCol w="1341121">
                  <a:extLst>
                    <a:ext uri="{9D8B030D-6E8A-4147-A177-3AD203B41FA5}">
                      <a16:colId xmlns:a16="http://schemas.microsoft.com/office/drawing/2014/main" val="229692544"/>
                    </a:ext>
                  </a:extLst>
                </a:gridCol>
                <a:gridCol w="10067105">
                  <a:extLst>
                    <a:ext uri="{9D8B030D-6E8A-4147-A177-3AD203B41FA5}">
                      <a16:colId xmlns:a16="http://schemas.microsoft.com/office/drawing/2014/main" val="2013799710"/>
                    </a:ext>
                  </a:extLst>
                </a:gridCol>
              </a:tblGrid>
              <a:tr h="203984">
                <a:tc>
                  <a:txBody>
                    <a:bodyPr/>
                    <a:lstStyle/>
                    <a:p>
                      <a:r>
                        <a:rPr lang="en-US" sz="1100" b="0" dirty="0">
                          <a:solidFill>
                            <a:schemeClr val="bg1"/>
                          </a:solidFill>
                          <a:latin typeface="IBM Plex Sans Condensed" panose="020B0506050203000203" pitchFamily="34" charset="77"/>
                        </a:rPr>
                        <a:t>Step</a:t>
                      </a:r>
                    </a:p>
                  </a:txBody>
                  <a:tcPr>
                    <a:lnB w="12700" cap="flat" cmpd="sng" algn="ctr">
                      <a:solidFill>
                        <a:schemeClr val="tx1"/>
                      </a:solidFill>
                      <a:prstDash val="solid"/>
                      <a:round/>
                      <a:headEnd type="none" w="med" len="med"/>
                      <a:tailEnd type="none" w="med" len="med"/>
                    </a:lnB>
                    <a:solidFill>
                      <a:srgbClr val="0A2636"/>
                    </a:solidFill>
                  </a:tcPr>
                </a:tc>
                <a:tc>
                  <a:txBody>
                    <a:bodyPr/>
                    <a:lstStyle/>
                    <a:p>
                      <a:r>
                        <a:rPr lang="en-US" sz="1100" b="0" dirty="0">
                          <a:solidFill>
                            <a:schemeClr val="bg1"/>
                          </a:solidFill>
                          <a:latin typeface="IBM Plex Sans Condensed" panose="020B0506050203000203" pitchFamily="34" charset="77"/>
                        </a:rPr>
                        <a:t>Description</a:t>
                      </a:r>
                    </a:p>
                  </a:txBody>
                  <a:tcPr>
                    <a:lnB w="12700" cap="flat" cmpd="sng" algn="ctr">
                      <a:solidFill>
                        <a:schemeClr val="tx1"/>
                      </a:solidFill>
                      <a:prstDash val="solid"/>
                      <a:round/>
                      <a:headEnd type="none" w="med" len="med"/>
                      <a:tailEnd type="none" w="med" len="med"/>
                    </a:lnB>
                    <a:solidFill>
                      <a:srgbClr val="0A2636"/>
                    </a:solidFill>
                  </a:tcPr>
                </a:tc>
                <a:extLst>
                  <a:ext uri="{0D108BD9-81ED-4DB2-BD59-A6C34878D82A}">
                    <a16:rowId xmlns:a16="http://schemas.microsoft.com/office/drawing/2014/main" val="1204148481"/>
                  </a:ext>
                </a:extLst>
              </a:tr>
              <a:tr h="216733">
                <a:tc>
                  <a:txBody>
                    <a:bodyPr/>
                    <a:lstStyle/>
                    <a:p>
                      <a:r>
                        <a:rPr lang="en-US" sz="1100" dirty="0">
                          <a:solidFill>
                            <a:schemeClr val="tx1"/>
                          </a:solidFill>
                          <a:latin typeface="IBM Plex Sans Condensed" panose="020B0506050203000203" pitchFamily="34" charset="77"/>
                        </a:rPr>
                        <a:t>1. Data Ingestion</a:t>
                      </a:r>
                    </a:p>
                  </a:txBody>
                  <a:tcPr>
                    <a:lnT w="12700" cap="flat" cmpd="sng" algn="ctr">
                      <a:solidFill>
                        <a:schemeClr val="tx1"/>
                      </a:solidFill>
                      <a:prstDash val="solid"/>
                      <a:round/>
                      <a:headEnd type="none" w="med" len="med"/>
                      <a:tailEnd type="none" w="med" len="med"/>
                    </a:lnT>
                    <a:solidFill>
                      <a:srgbClr val="F7F9FC"/>
                    </a:solidFill>
                  </a:tcPr>
                </a:tc>
                <a:tc>
                  <a:txBody>
                    <a:bodyPr/>
                    <a:lstStyle/>
                    <a:p>
                      <a:r>
                        <a:rPr lang="en-US" sz="1100" dirty="0">
                          <a:solidFill>
                            <a:schemeClr val="tx1"/>
                          </a:solidFill>
                          <a:latin typeface="IBM Plex Sans Condensed" panose="020B0506050203000203" pitchFamily="34" charset="77"/>
                        </a:rPr>
                        <a:t>1.1 Load in dataset A given its relative location to the root directory.</a:t>
                      </a:r>
                    </a:p>
                  </a:txBody>
                  <a:tcPr>
                    <a:lnT w="12700" cap="flat" cmpd="sng" algn="ctr">
                      <a:solidFill>
                        <a:schemeClr val="tx1"/>
                      </a:solidFill>
                      <a:prstDash val="solid"/>
                      <a:round/>
                      <a:headEnd type="none" w="med" len="med"/>
                      <a:tailEnd type="none" w="med" len="med"/>
                    </a:lnT>
                    <a:solidFill>
                      <a:srgbClr val="F7F9FC"/>
                    </a:solidFill>
                  </a:tcPr>
                </a:tc>
                <a:extLst>
                  <a:ext uri="{0D108BD9-81ED-4DB2-BD59-A6C34878D82A}">
                    <a16:rowId xmlns:a16="http://schemas.microsoft.com/office/drawing/2014/main" val="1306168736"/>
                  </a:ext>
                </a:extLst>
              </a:tr>
              <a:tr h="3569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IBM Plex Sans Condensed" panose="020B0506050203000203" pitchFamily="34" charset="77"/>
                        </a:rPr>
                        <a:t>2. Data Cleaning</a:t>
                      </a:r>
                    </a:p>
                  </a:txBody>
                  <a:tcPr>
                    <a:noFill/>
                  </a:tcPr>
                </a:tc>
                <a:tc>
                  <a:txBody>
                    <a:bodyPr/>
                    <a:lstStyle/>
                    <a:p>
                      <a:r>
                        <a:rPr lang="en-US" sz="1100" dirty="0">
                          <a:solidFill>
                            <a:schemeClr val="tx1"/>
                          </a:solidFill>
                          <a:latin typeface="IBM Plex Sans Condensed" panose="020B0506050203000203" pitchFamily="34" charset="77"/>
                        </a:rPr>
                        <a:t>2.1 Identify columns from data dictionary that could be relevant to 1) the inherent properties of the substance being carried, 2) pipeline specifications, or 3) the cause of the incident.</a:t>
                      </a:r>
                    </a:p>
                  </a:txBody>
                  <a:tcPr>
                    <a:noFill/>
                  </a:tcPr>
                </a:tc>
                <a:extLst>
                  <a:ext uri="{0D108BD9-81ED-4DB2-BD59-A6C34878D82A}">
                    <a16:rowId xmlns:a16="http://schemas.microsoft.com/office/drawing/2014/main" val="2774700380"/>
                  </a:ext>
                </a:extLst>
              </a:tr>
              <a:tr h="35697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2.2 Optimize the substance carried column using the released substance type column. Want to perform this task before dropping attributes that don’t meet a specific threshold. Additionally, map any substance that does not equal crude oil to 0, and any crude oil substance to 1. </a:t>
                      </a:r>
                    </a:p>
                  </a:txBody>
                  <a:tcPr>
                    <a:noFill/>
                  </a:tcPr>
                </a:tc>
                <a:extLst>
                  <a:ext uri="{0D108BD9-81ED-4DB2-BD59-A6C34878D82A}">
                    <a16:rowId xmlns:a16="http://schemas.microsoft.com/office/drawing/2014/main" val="577049468"/>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2.3 Drop any attributes (columns) that are less than 50% populated. </a:t>
                      </a:r>
                    </a:p>
                  </a:txBody>
                  <a:tcPr>
                    <a:noFill/>
                  </a:tcPr>
                </a:tc>
                <a:extLst>
                  <a:ext uri="{0D108BD9-81ED-4DB2-BD59-A6C34878D82A}">
                    <a16:rowId xmlns:a16="http://schemas.microsoft.com/office/drawing/2014/main" val="229333649"/>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2.4 Clean numeric columns</a:t>
                      </a:r>
                    </a:p>
                  </a:txBody>
                  <a:tcPr>
                    <a:noFill/>
                  </a:tcPr>
                </a:tc>
                <a:extLst>
                  <a:ext uri="{0D108BD9-81ED-4DB2-BD59-A6C34878D82A}">
                    <a16:rowId xmlns:a16="http://schemas.microsoft.com/office/drawing/2014/main" val="2747464908"/>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2.5 Map categorical columns to binary/numeric.</a:t>
                      </a:r>
                    </a:p>
                  </a:txBody>
                  <a:tcPr>
                    <a:noFill/>
                  </a:tcPr>
                </a:tc>
                <a:extLst>
                  <a:ext uri="{0D108BD9-81ED-4DB2-BD59-A6C34878D82A}">
                    <a16:rowId xmlns:a16="http://schemas.microsoft.com/office/drawing/2014/main" val="2476907000"/>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2.6 Map descriptive columns (e.g., “what happened category”) to binary columns, i.e., one-hot encode. </a:t>
                      </a:r>
                    </a:p>
                  </a:txBody>
                  <a:tcPr>
                    <a:noFill/>
                  </a:tcPr>
                </a:tc>
                <a:extLst>
                  <a:ext uri="{0D108BD9-81ED-4DB2-BD59-A6C34878D82A}">
                    <a16:rowId xmlns:a16="http://schemas.microsoft.com/office/drawing/2014/main" val="3691941983"/>
                  </a:ext>
                </a:extLst>
              </a:tr>
              <a:tr h="356973">
                <a:tc rowSpan="2">
                  <a:txBody>
                    <a:bodyPr/>
                    <a:lstStyle/>
                    <a:p>
                      <a:r>
                        <a:rPr lang="en-US" sz="1100" dirty="0">
                          <a:solidFill>
                            <a:schemeClr val="tx1"/>
                          </a:solidFill>
                          <a:latin typeface="IBM Plex Sans Condensed" panose="020B0506050203000203" pitchFamily="34" charset="77"/>
                        </a:rPr>
                        <a:t>3. Data Exploration</a:t>
                      </a:r>
                    </a:p>
                  </a:txBody>
                  <a:tcPr>
                    <a:solidFill>
                      <a:srgbClr val="F7F9FC"/>
                    </a:solidFill>
                  </a:tcPr>
                </a:tc>
                <a:tc>
                  <a:txBody>
                    <a:bodyPr/>
                    <a:lstStyle/>
                    <a:p>
                      <a:r>
                        <a:rPr lang="en-US" sz="1100" dirty="0">
                          <a:solidFill>
                            <a:schemeClr val="tx1"/>
                          </a:solidFill>
                          <a:latin typeface="IBM Plex Sans Condensed" panose="020B0506050203000203" pitchFamily="34" charset="77"/>
                        </a:rPr>
                        <a:t>3.1 Generate a profiling report of the dataframe to generate a heatmap, identify highly correlated pairs, or display errors / inconsistencies in the dataset (e.g., duplicate rows). </a:t>
                      </a:r>
                    </a:p>
                  </a:txBody>
                  <a:tcPr>
                    <a:solidFill>
                      <a:srgbClr val="F7F9FC"/>
                    </a:solidFill>
                  </a:tcPr>
                </a:tc>
                <a:extLst>
                  <a:ext uri="{0D108BD9-81ED-4DB2-BD59-A6C34878D82A}">
                    <a16:rowId xmlns:a16="http://schemas.microsoft.com/office/drawing/2014/main" val="1023900183"/>
                  </a:ext>
                </a:extLst>
              </a:tr>
              <a:tr h="216733">
                <a:tc vMerge="1">
                  <a:txBody>
                    <a:bodyPr/>
                    <a:lstStyle/>
                    <a:p>
                      <a:endParaRPr lang="en-US" sz="1100" dirty="0">
                        <a:solidFill>
                          <a:schemeClr val="tx1"/>
                        </a:solidFill>
                        <a:latin typeface="IBM Plex Sans Condensed" panose="020B0506050203000203" pitchFamily="34" charset="77"/>
                      </a:endParaRPr>
                    </a:p>
                  </a:txBody>
                  <a:tcPr>
                    <a:solidFill>
                      <a:srgbClr val="F7F9FC"/>
                    </a:solidFill>
                  </a:tcPr>
                </a:tc>
                <a:tc>
                  <a:txBody>
                    <a:bodyPr/>
                    <a:lstStyle/>
                    <a:p>
                      <a:r>
                        <a:rPr lang="en-US" sz="1100" dirty="0">
                          <a:solidFill>
                            <a:schemeClr val="tx1"/>
                          </a:solidFill>
                          <a:latin typeface="IBM Plex Sans Condensed" panose="020B0506050203000203" pitchFamily="34" charset="77"/>
                        </a:rPr>
                        <a:t>3.2 Output descriptive statistics (count, mean, etc.) of numeric columns to identify additional trends. </a:t>
                      </a:r>
                    </a:p>
                  </a:txBody>
                  <a:tcPr>
                    <a:solidFill>
                      <a:srgbClr val="F7F9FC"/>
                    </a:solidFill>
                  </a:tcPr>
                </a:tc>
                <a:extLst>
                  <a:ext uri="{0D108BD9-81ED-4DB2-BD59-A6C34878D82A}">
                    <a16:rowId xmlns:a16="http://schemas.microsoft.com/office/drawing/2014/main" val="1666048895"/>
                  </a:ext>
                </a:extLst>
              </a:tr>
              <a:tr h="2167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IBM Plex Sans Condensed" panose="020B0506050203000203" pitchFamily="34" charset="77"/>
                        </a:rPr>
                        <a:t>4. ML Models</a:t>
                      </a:r>
                    </a:p>
                  </a:txBody>
                  <a:tcPr>
                    <a:noFill/>
                  </a:tcPr>
                </a:tc>
                <a:tc>
                  <a:txBody>
                    <a:bodyPr/>
                    <a:lstStyle/>
                    <a:p>
                      <a:r>
                        <a:rPr lang="en-US" sz="1100" dirty="0">
                          <a:solidFill>
                            <a:schemeClr val="tx1"/>
                          </a:solidFill>
                          <a:latin typeface="IBM Plex Sans Condensed" panose="020B0506050203000203" pitchFamily="34" charset="77"/>
                        </a:rPr>
                        <a:t>4.1 Preprocess dataframe for ml models by running a correlation matrix and dropping one of the columns found in each high-correlated pair.</a:t>
                      </a:r>
                    </a:p>
                  </a:txBody>
                  <a:tcPr>
                    <a:noFill/>
                  </a:tcPr>
                </a:tc>
                <a:extLst>
                  <a:ext uri="{0D108BD9-81ED-4DB2-BD59-A6C34878D82A}">
                    <a16:rowId xmlns:a16="http://schemas.microsoft.com/office/drawing/2014/main" val="826640950"/>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4.2 Run a logistic regression model on the data to identify if substance type (crude oil vs. not crude oil) can be predicted by the other attributes.</a:t>
                      </a:r>
                    </a:p>
                  </a:txBody>
                  <a:tcPr>
                    <a:noFill/>
                  </a:tcPr>
                </a:tc>
                <a:extLst>
                  <a:ext uri="{0D108BD9-81ED-4DB2-BD59-A6C34878D82A}">
                    <a16:rowId xmlns:a16="http://schemas.microsoft.com/office/drawing/2014/main" val="3261816373"/>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4.3 Random forest. </a:t>
                      </a:r>
                    </a:p>
                  </a:txBody>
                  <a:tcPr>
                    <a:noFill/>
                  </a:tcPr>
                </a:tc>
                <a:extLst>
                  <a:ext uri="{0D108BD9-81ED-4DB2-BD59-A6C34878D82A}">
                    <a16:rowId xmlns:a16="http://schemas.microsoft.com/office/drawing/2014/main" val="1463503125"/>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4.4 Decision tree.</a:t>
                      </a:r>
                    </a:p>
                  </a:txBody>
                  <a:tcPr>
                    <a:noFill/>
                  </a:tcPr>
                </a:tc>
                <a:extLst>
                  <a:ext uri="{0D108BD9-81ED-4DB2-BD59-A6C34878D82A}">
                    <a16:rowId xmlns:a16="http://schemas.microsoft.com/office/drawing/2014/main" val="3273281738"/>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4.5 Support Vector Machine (SVM). </a:t>
                      </a:r>
                    </a:p>
                  </a:txBody>
                  <a:tcPr>
                    <a:noFill/>
                  </a:tcPr>
                </a:tc>
                <a:extLst>
                  <a:ext uri="{0D108BD9-81ED-4DB2-BD59-A6C34878D82A}">
                    <a16:rowId xmlns:a16="http://schemas.microsoft.com/office/drawing/2014/main" val="1464377571"/>
                  </a:ext>
                </a:extLst>
              </a:tr>
            </a:tbl>
          </a:graphicData>
        </a:graphic>
      </p:graphicFrame>
      <p:cxnSp>
        <p:nvCxnSpPr>
          <p:cNvPr id="2" name="Straight Connector 1">
            <a:extLst>
              <a:ext uri="{FF2B5EF4-FFF2-40B4-BE49-F238E27FC236}">
                <a16:creationId xmlns:a16="http://schemas.microsoft.com/office/drawing/2014/main" id="{3FD9CC1D-C12D-8E76-DF29-A1FD8DA6CCF2}"/>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4706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Analysis – Approach #2</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862E31D-0345-BEBE-7624-873846F702F6}"/>
              </a:ext>
            </a:extLst>
          </p:cNvPr>
          <p:cNvSpPr txBox="1"/>
          <p:nvPr/>
        </p:nvSpPr>
        <p:spPr>
          <a:xfrm>
            <a:off x="348342" y="1047347"/>
            <a:ext cx="11408227" cy="523220"/>
          </a:xfrm>
          <a:prstGeom prst="rect">
            <a:avLst/>
          </a:prstGeom>
          <a:noFill/>
        </p:spPr>
        <p:txBody>
          <a:bodyPr wrap="square" rtlCol="0">
            <a:spAutoFit/>
          </a:bodyPr>
          <a:lstStyle/>
          <a:p>
            <a:r>
              <a:rPr lang="en-US" sz="1400" dirty="0">
                <a:latin typeface="IBM Plex Sans Condensed" panose="020B0506050203000203" pitchFamily="34" charset="77"/>
              </a:rPr>
              <a:t>Similar to the previous slide, the key steps taken in the analysis of </a:t>
            </a:r>
            <a:r>
              <a:rPr lang="en-US" sz="1400" b="1" dirty="0">
                <a:latin typeface="IBM Plex Sans Condensed" panose="020B0506050203000203" pitchFamily="34" charset="77"/>
              </a:rPr>
              <a:t>Approach #2 </a:t>
            </a:r>
            <a:r>
              <a:rPr lang="en-US" sz="1400" dirty="0">
                <a:latin typeface="IBM Plex Sans Condensed" panose="020B0506050203000203" pitchFamily="34" charset="77"/>
              </a:rPr>
              <a:t>are summarized below. The corresponding script for this analysis is in the “</a:t>
            </a:r>
            <a:r>
              <a:rPr lang="en-US" sz="1400" dirty="0" err="1">
                <a:latin typeface="IBM Plex Sans Condensed" panose="020B0506050203000203" pitchFamily="34" charset="77"/>
              </a:rPr>
              <a:t>dataset_E.ipynb</a:t>
            </a:r>
            <a:r>
              <a:rPr lang="en-US" sz="1400" dirty="0">
                <a:latin typeface="IBM Plex Sans Condensed" panose="020B0506050203000203" pitchFamily="34" charset="77"/>
              </a:rPr>
              <a:t>” file. Once again, the script itself includes further explanation of the decision-making process. </a:t>
            </a:r>
          </a:p>
        </p:txBody>
      </p:sp>
      <p:graphicFrame>
        <p:nvGraphicFramePr>
          <p:cNvPr id="5" name="Table 4">
            <a:extLst>
              <a:ext uri="{FF2B5EF4-FFF2-40B4-BE49-F238E27FC236}">
                <a16:creationId xmlns:a16="http://schemas.microsoft.com/office/drawing/2014/main" id="{CCA75BF7-BB04-89B2-FA61-7C258FBA389E}"/>
              </a:ext>
            </a:extLst>
          </p:cNvPr>
          <p:cNvGraphicFramePr>
            <a:graphicFrameLocks noGrp="1"/>
          </p:cNvGraphicFramePr>
          <p:nvPr>
            <p:extLst>
              <p:ext uri="{D42A27DB-BD31-4B8C-83A1-F6EECF244321}">
                <p14:modId xmlns:p14="http://schemas.microsoft.com/office/powerpoint/2010/main" val="2773062411"/>
              </p:ext>
            </p:extLst>
          </p:nvPr>
        </p:nvGraphicFramePr>
        <p:xfrm>
          <a:off x="348342" y="1694803"/>
          <a:ext cx="11408226" cy="3061966"/>
        </p:xfrm>
        <a:graphic>
          <a:graphicData uri="http://schemas.openxmlformats.org/drawingml/2006/table">
            <a:tbl>
              <a:tblPr firstRow="1" bandRow="1">
                <a:tableStyleId>{5C22544A-7EE6-4342-B048-85BDC9FD1C3A}</a:tableStyleId>
              </a:tblPr>
              <a:tblGrid>
                <a:gridCol w="1367247">
                  <a:extLst>
                    <a:ext uri="{9D8B030D-6E8A-4147-A177-3AD203B41FA5}">
                      <a16:colId xmlns:a16="http://schemas.microsoft.com/office/drawing/2014/main" val="229692544"/>
                    </a:ext>
                  </a:extLst>
                </a:gridCol>
                <a:gridCol w="10040979">
                  <a:extLst>
                    <a:ext uri="{9D8B030D-6E8A-4147-A177-3AD203B41FA5}">
                      <a16:colId xmlns:a16="http://schemas.microsoft.com/office/drawing/2014/main" val="2013799710"/>
                    </a:ext>
                  </a:extLst>
                </a:gridCol>
              </a:tblGrid>
              <a:tr h="195199">
                <a:tc>
                  <a:txBody>
                    <a:bodyPr/>
                    <a:lstStyle/>
                    <a:p>
                      <a:r>
                        <a:rPr lang="en-US" sz="1100" b="0">
                          <a:solidFill>
                            <a:schemeClr val="bg1"/>
                          </a:solidFill>
                          <a:latin typeface="IBM Plex Sans Condensed" panose="020B0506050203000203" pitchFamily="34" charset="77"/>
                        </a:rPr>
                        <a:t>Step</a:t>
                      </a:r>
                      <a:endParaRPr lang="en-US" sz="1100" b="0" dirty="0">
                        <a:solidFill>
                          <a:schemeClr val="bg1"/>
                        </a:solidFill>
                        <a:latin typeface="IBM Plex Sans Condensed" panose="020B0506050203000203" pitchFamily="34" charset="77"/>
                      </a:endParaRPr>
                    </a:p>
                  </a:txBody>
                  <a:tcPr>
                    <a:lnB w="12700" cap="flat" cmpd="sng" algn="ctr">
                      <a:solidFill>
                        <a:schemeClr val="tx1"/>
                      </a:solidFill>
                      <a:prstDash val="solid"/>
                      <a:round/>
                      <a:headEnd type="none" w="med" len="med"/>
                      <a:tailEnd type="none" w="med" len="med"/>
                    </a:lnB>
                    <a:solidFill>
                      <a:srgbClr val="0A2636"/>
                    </a:solidFill>
                  </a:tcPr>
                </a:tc>
                <a:tc>
                  <a:txBody>
                    <a:bodyPr/>
                    <a:lstStyle/>
                    <a:p>
                      <a:r>
                        <a:rPr lang="en-US" sz="1100" b="0" dirty="0">
                          <a:solidFill>
                            <a:schemeClr val="bg1"/>
                          </a:solidFill>
                          <a:latin typeface="IBM Plex Sans Condensed" panose="020B0506050203000203" pitchFamily="34" charset="77"/>
                        </a:rPr>
                        <a:t>Description</a:t>
                      </a:r>
                    </a:p>
                  </a:txBody>
                  <a:tcPr>
                    <a:lnB w="12700" cap="flat" cmpd="sng" algn="ctr">
                      <a:solidFill>
                        <a:schemeClr val="tx1"/>
                      </a:solidFill>
                      <a:prstDash val="solid"/>
                      <a:round/>
                      <a:headEnd type="none" w="med" len="med"/>
                      <a:tailEnd type="none" w="med" len="med"/>
                    </a:lnB>
                    <a:solidFill>
                      <a:srgbClr val="0A2636"/>
                    </a:solidFill>
                  </a:tcPr>
                </a:tc>
                <a:extLst>
                  <a:ext uri="{0D108BD9-81ED-4DB2-BD59-A6C34878D82A}">
                    <a16:rowId xmlns:a16="http://schemas.microsoft.com/office/drawing/2014/main" val="1204148481"/>
                  </a:ext>
                </a:extLst>
              </a:tr>
              <a:tr h="207399">
                <a:tc>
                  <a:txBody>
                    <a:bodyPr/>
                    <a:lstStyle/>
                    <a:p>
                      <a:r>
                        <a:rPr lang="en-US" sz="1100" dirty="0">
                          <a:solidFill>
                            <a:schemeClr val="tx1"/>
                          </a:solidFill>
                          <a:latin typeface="IBM Plex Sans Condensed" panose="020B0506050203000203" pitchFamily="34" charset="77"/>
                        </a:rPr>
                        <a:t>1. Data Ingestion</a:t>
                      </a:r>
                    </a:p>
                  </a:txBody>
                  <a:tcPr>
                    <a:lnT w="12700" cap="flat" cmpd="sng" algn="ctr">
                      <a:solidFill>
                        <a:schemeClr val="tx1"/>
                      </a:solidFill>
                      <a:prstDash val="solid"/>
                      <a:round/>
                      <a:headEnd type="none" w="med" len="med"/>
                      <a:tailEnd type="none" w="med" len="med"/>
                    </a:lnT>
                    <a:solidFill>
                      <a:srgbClr val="F7F9FC"/>
                    </a:solidFill>
                  </a:tcPr>
                </a:tc>
                <a:tc>
                  <a:txBody>
                    <a:bodyPr/>
                    <a:lstStyle/>
                    <a:p>
                      <a:r>
                        <a:rPr lang="en-US" sz="1100" dirty="0">
                          <a:solidFill>
                            <a:schemeClr val="tx1"/>
                          </a:solidFill>
                          <a:latin typeface="IBM Plex Sans Condensed" panose="020B0506050203000203" pitchFamily="34" charset="77"/>
                        </a:rPr>
                        <a:t>1.1 Load in dataset E given its relative location to the root directory.</a:t>
                      </a:r>
                    </a:p>
                  </a:txBody>
                  <a:tcPr>
                    <a:lnT w="12700" cap="flat" cmpd="sng" algn="ctr">
                      <a:solidFill>
                        <a:schemeClr val="tx1"/>
                      </a:solidFill>
                      <a:prstDash val="solid"/>
                      <a:round/>
                      <a:headEnd type="none" w="med" len="med"/>
                      <a:tailEnd type="none" w="med" len="med"/>
                    </a:lnT>
                    <a:solidFill>
                      <a:srgbClr val="F7F9FC"/>
                    </a:solidFill>
                  </a:tcPr>
                </a:tc>
                <a:extLst>
                  <a:ext uri="{0D108BD9-81ED-4DB2-BD59-A6C34878D82A}">
                    <a16:rowId xmlns:a16="http://schemas.microsoft.com/office/drawing/2014/main" val="1306168736"/>
                  </a:ext>
                </a:extLst>
              </a:tr>
              <a:tr h="207399">
                <a:tc>
                  <a:txBody>
                    <a:bodyPr/>
                    <a:lstStyle/>
                    <a:p>
                      <a:r>
                        <a:rPr lang="en-US" sz="1100" dirty="0">
                          <a:solidFill>
                            <a:schemeClr val="tx1"/>
                          </a:solidFill>
                          <a:latin typeface="IBM Plex Sans Condensed" panose="020B0506050203000203" pitchFamily="34" charset="77"/>
                        </a:rPr>
                        <a:t>2. Data Cleaning</a:t>
                      </a:r>
                    </a:p>
                  </a:txBody>
                  <a:tcPr>
                    <a:noFill/>
                  </a:tcPr>
                </a:tc>
                <a:tc>
                  <a:txBody>
                    <a:bodyPr/>
                    <a:lstStyle/>
                    <a:p>
                      <a:r>
                        <a:rPr lang="en-US" sz="1100" dirty="0">
                          <a:solidFill>
                            <a:schemeClr val="tx1"/>
                          </a:solidFill>
                          <a:latin typeface="IBM Plex Sans Condensed" panose="020B0506050203000203" pitchFamily="34" charset="77"/>
                        </a:rPr>
                        <a:t>2.1 Prioritize the commodity column as their properties (sweet vs. sour, heavy vs light) are the basis of this analysis. Map these properties to binary columns using string extrapolation. E.g., “Heavy </a:t>
                      </a:r>
                      <a:r>
                        <a:rPr lang="en-US" sz="1100" dirty="0" err="1">
                          <a:solidFill>
                            <a:schemeClr val="tx1"/>
                          </a:solidFill>
                          <a:latin typeface="IBM Plex Sans Condensed" panose="020B0506050203000203" pitchFamily="34" charset="77"/>
                        </a:rPr>
                        <a:t>Louisana</a:t>
                      </a:r>
                      <a:r>
                        <a:rPr lang="en-US" sz="1100" dirty="0">
                          <a:solidFill>
                            <a:schemeClr val="tx1"/>
                          </a:solidFill>
                          <a:latin typeface="IBM Plex Sans Condensed" panose="020B0506050203000203" pitchFamily="34" charset="77"/>
                        </a:rPr>
                        <a:t> Sweet” would mark a 1 in the “heavy” and “sweet” columns. These properties were only given for a tiny portion (~45/1355) of the records. </a:t>
                      </a:r>
                    </a:p>
                  </a:txBody>
                  <a:tcPr>
                    <a:noFill/>
                  </a:tcPr>
                </a:tc>
                <a:extLst>
                  <a:ext uri="{0D108BD9-81ED-4DB2-BD59-A6C34878D82A}">
                    <a16:rowId xmlns:a16="http://schemas.microsoft.com/office/drawing/2014/main" val="874727889"/>
                  </a:ext>
                </a:extLst>
              </a:tr>
              <a:tr h="285764">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2.2 Identify and fill in the general cause of the incident using logic from the corresponding data dictionary. </a:t>
                      </a:r>
                    </a:p>
                  </a:txBody>
                  <a:tcPr>
                    <a:solidFill>
                      <a:schemeClr val="accent4">
                        <a:lumMod val="20000"/>
                        <a:lumOff val="80000"/>
                      </a:schemeClr>
                    </a:solidFill>
                  </a:tcPr>
                </a:tc>
                <a:extLst>
                  <a:ext uri="{0D108BD9-81ED-4DB2-BD59-A6C34878D82A}">
                    <a16:rowId xmlns:a16="http://schemas.microsoft.com/office/drawing/2014/main" val="577049468"/>
                  </a:ext>
                </a:extLst>
              </a:tr>
              <a:tr h="207399">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2.3 Clean the remaining columns using a similar process to that for dataset A / Approach #1. </a:t>
                      </a:r>
                    </a:p>
                  </a:txBody>
                  <a:tcPr>
                    <a:solidFill>
                      <a:schemeClr val="accent4">
                        <a:lumMod val="20000"/>
                        <a:lumOff val="80000"/>
                      </a:schemeClr>
                    </a:solidFill>
                  </a:tcPr>
                </a:tc>
                <a:extLst>
                  <a:ext uri="{0D108BD9-81ED-4DB2-BD59-A6C34878D82A}">
                    <a16:rowId xmlns:a16="http://schemas.microsoft.com/office/drawing/2014/main" val="229333649"/>
                  </a:ext>
                </a:extLst>
              </a:tr>
              <a:tr h="341598">
                <a:tc>
                  <a:txBody>
                    <a:bodyPr/>
                    <a:lstStyle/>
                    <a:p>
                      <a:r>
                        <a:rPr lang="en-US" sz="1100" dirty="0">
                          <a:solidFill>
                            <a:schemeClr val="tx1"/>
                          </a:solidFill>
                          <a:latin typeface="IBM Plex Sans Condensed" panose="020B0506050203000203" pitchFamily="34" charset="77"/>
                        </a:rPr>
                        <a:t>3. Data Exploration</a:t>
                      </a:r>
                    </a:p>
                  </a:txBody>
                  <a:tcPr>
                    <a:solidFill>
                      <a:srgbClr val="F7F9F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IBM Plex Sans Condensed" panose="020B0506050203000203" pitchFamily="34" charset="77"/>
                        </a:rPr>
                        <a:t>3.1 Generate a profiling report of the dataframe to generate a heatmap, identify highly correlated pairs, or display errors / inconsistencies in the dataset (e.g., duplicate rows). </a:t>
                      </a:r>
                    </a:p>
                  </a:txBody>
                  <a:tcPr>
                    <a:solidFill>
                      <a:schemeClr val="accent4">
                        <a:lumMod val="20000"/>
                        <a:lumOff val="80000"/>
                      </a:schemeClr>
                    </a:solidFill>
                  </a:tcPr>
                </a:tc>
                <a:extLst>
                  <a:ext uri="{0D108BD9-81ED-4DB2-BD59-A6C34878D82A}">
                    <a16:rowId xmlns:a16="http://schemas.microsoft.com/office/drawing/2014/main" val="2747464908"/>
                  </a:ext>
                </a:extLst>
              </a:tr>
              <a:tr h="207399">
                <a:tc>
                  <a:txBody>
                    <a:bodyPr/>
                    <a:lstStyle/>
                    <a:p>
                      <a:r>
                        <a:rPr lang="en-US" sz="1100" dirty="0">
                          <a:solidFill>
                            <a:schemeClr val="tx1"/>
                          </a:solidFill>
                          <a:latin typeface="IBM Plex Sans Condensed" panose="020B0506050203000203" pitchFamily="34" charset="77"/>
                        </a:rPr>
                        <a:t>4. ML Models</a:t>
                      </a:r>
                    </a:p>
                  </a:txBody>
                  <a:tcPr>
                    <a:noFill/>
                  </a:tcPr>
                </a:tc>
                <a:tc>
                  <a:txBody>
                    <a:bodyPr/>
                    <a:lstStyle/>
                    <a:p>
                      <a:r>
                        <a:rPr lang="en-US" sz="1100" dirty="0">
                          <a:solidFill>
                            <a:schemeClr val="tx1"/>
                          </a:solidFill>
                          <a:latin typeface="IBM Plex Sans Condensed" panose="020B0506050203000203" pitchFamily="34" charset="77"/>
                        </a:rPr>
                        <a:t>4.1 Preprocess dataframe for ml models by running a correlation matrix and dropping one of the columns found in each high-correlated pair.</a:t>
                      </a:r>
                    </a:p>
                  </a:txBody>
                  <a:tcPr>
                    <a:solidFill>
                      <a:schemeClr val="accent4">
                        <a:lumMod val="20000"/>
                        <a:lumOff val="80000"/>
                      </a:schemeClr>
                    </a:solidFill>
                  </a:tcPr>
                </a:tc>
                <a:extLst>
                  <a:ext uri="{0D108BD9-81ED-4DB2-BD59-A6C34878D82A}">
                    <a16:rowId xmlns:a16="http://schemas.microsoft.com/office/drawing/2014/main" val="2476907000"/>
                  </a:ext>
                </a:extLst>
              </a:tr>
              <a:tr h="207399">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4.2 Run a decision tree model on the data to identify if the specific properties of the crude oil had an affect on the incident type. </a:t>
                      </a:r>
                    </a:p>
                  </a:txBody>
                  <a:tcPr>
                    <a:solidFill>
                      <a:schemeClr val="accent4">
                        <a:lumMod val="20000"/>
                        <a:lumOff val="80000"/>
                      </a:schemeClr>
                    </a:solidFill>
                  </a:tcPr>
                </a:tc>
                <a:extLst>
                  <a:ext uri="{0D108BD9-81ED-4DB2-BD59-A6C34878D82A}">
                    <a16:rowId xmlns:a16="http://schemas.microsoft.com/office/drawing/2014/main" val="3691941983"/>
                  </a:ext>
                </a:extLst>
              </a:tr>
              <a:tr h="285764">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4.3 Random forest.</a:t>
                      </a:r>
                    </a:p>
                  </a:txBody>
                  <a:tcPr>
                    <a:solidFill>
                      <a:schemeClr val="accent4">
                        <a:lumMod val="20000"/>
                        <a:lumOff val="80000"/>
                      </a:schemeClr>
                    </a:solidFill>
                  </a:tcPr>
                </a:tc>
                <a:extLst>
                  <a:ext uri="{0D108BD9-81ED-4DB2-BD59-A6C34878D82A}">
                    <a16:rowId xmlns:a16="http://schemas.microsoft.com/office/drawing/2014/main" val="1023900183"/>
                  </a:ext>
                </a:extLst>
              </a:tr>
              <a:tr h="207399">
                <a:tc>
                  <a:txBody>
                    <a:bodyPr/>
                    <a:lstStyle/>
                    <a:p>
                      <a:endParaRPr lang="en-US" sz="1100" dirty="0">
                        <a:solidFill>
                          <a:schemeClr val="tx1"/>
                        </a:solidFill>
                        <a:latin typeface="IBM Plex Sans Condensed" panose="020B0506050203000203" pitchFamily="34" charset="77"/>
                      </a:endParaRPr>
                    </a:p>
                  </a:txBody>
                  <a:tcPr>
                    <a:lnB w="6350" cap="flat" cmpd="sng" algn="ctr">
                      <a:solidFill>
                        <a:schemeClr val="tx1"/>
                      </a:solidFill>
                      <a:prstDash val="solid"/>
                      <a:round/>
                      <a:headEnd type="none" w="med" len="med"/>
                      <a:tailEnd type="none" w="med" len="med"/>
                    </a:lnB>
                    <a:noFill/>
                  </a:tcPr>
                </a:tc>
                <a:tc>
                  <a:txBody>
                    <a:bodyPr/>
                    <a:lstStyle/>
                    <a:p>
                      <a:r>
                        <a:rPr lang="en-US" sz="1100" dirty="0">
                          <a:solidFill>
                            <a:schemeClr val="tx1"/>
                          </a:solidFill>
                          <a:latin typeface="IBM Plex Sans Condensed" panose="020B0506050203000203" pitchFamily="34" charset="77"/>
                        </a:rPr>
                        <a:t>4.4 Logistic regression.</a:t>
                      </a:r>
                    </a:p>
                  </a:txBody>
                  <a:tcPr>
                    <a:lnB w="635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66048895"/>
                  </a:ext>
                </a:extLst>
              </a:tr>
            </a:tbl>
          </a:graphicData>
        </a:graphic>
      </p:graphicFrame>
      <p:graphicFrame>
        <p:nvGraphicFramePr>
          <p:cNvPr id="2" name="Table 1">
            <a:extLst>
              <a:ext uri="{FF2B5EF4-FFF2-40B4-BE49-F238E27FC236}">
                <a16:creationId xmlns:a16="http://schemas.microsoft.com/office/drawing/2014/main" id="{DBD0D5E7-2C6C-80B4-2B51-485D567C0FD1}"/>
              </a:ext>
            </a:extLst>
          </p:cNvPr>
          <p:cNvGraphicFramePr>
            <a:graphicFrameLocks noGrp="1"/>
          </p:cNvGraphicFramePr>
          <p:nvPr>
            <p:extLst>
              <p:ext uri="{D42A27DB-BD31-4B8C-83A1-F6EECF244321}">
                <p14:modId xmlns:p14="http://schemas.microsoft.com/office/powerpoint/2010/main" val="1852076606"/>
              </p:ext>
            </p:extLst>
          </p:nvPr>
        </p:nvGraphicFramePr>
        <p:xfrm>
          <a:off x="348341" y="5195005"/>
          <a:ext cx="11408225" cy="426720"/>
        </p:xfrm>
        <a:graphic>
          <a:graphicData uri="http://schemas.openxmlformats.org/drawingml/2006/table">
            <a:tbl>
              <a:tblPr firstRow="1" bandRow="1">
                <a:tableStyleId>{5C22544A-7EE6-4342-B048-85BDC9FD1C3A}</a:tableStyleId>
              </a:tblPr>
              <a:tblGrid>
                <a:gridCol w="1089963">
                  <a:extLst>
                    <a:ext uri="{9D8B030D-6E8A-4147-A177-3AD203B41FA5}">
                      <a16:colId xmlns:a16="http://schemas.microsoft.com/office/drawing/2014/main" val="407998216"/>
                    </a:ext>
                  </a:extLst>
                </a:gridCol>
                <a:gridCol w="10318262">
                  <a:extLst>
                    <a:ext uri="{9D8B030D-6E8A-4147-A177-3AD203B41FA5}">
                      <a16:colId xmlns:a16="http://schemas.microsoft.com/office/drawing/2014/main" val="2775065156"/>
                    </a:ext>
                  </a:extLst>
                </a:gridCol>
              </a:tblGrid>
              <a:tr h="370840">
                <a:tc>
                  <a:txBody>
                    <a:bodyPr/>
                    <a:lstStyle/>
                    <a:p>
                      <a:r>
                        <a:rPr lang="en-US" sz="1100" dirty="0">
                          <a:solidFill>
                            <a:schemeClr val="tx1"/>
                          </a:solidFill>
                          <a:latin typeface="IBM Plex Sans Condensed" panose="020B0506050203000203" pitchFamily="34" charset="77"/>
                        </a:rPr>
                        <a:t>Incomplete</a:t>
                      </a:r>
                    </a:p>
                  </a:txBody>
                  <a:tcPr anchor="ctr">
                    <a:solidFill>
                      <a:schemeClr val="accent4">
                        <a:lumMod val="20000"/>
                        <a:lumOff val="80000"/>
                      </a:schemeClr>
                    </a:solidFill>
                  </a:tcPr>
                </a:tc>
                <a:tc>
                  <a:txBody>
                    <a:bodyPr/>
                    <a:lstStyle/>
                    <a:p>
                      <a:r>
                        <a:rPr lang="en-US" sz="1100" b="0" dirty="0">
                          <a:solidFill>
                            <a:schemeClr val="tx1"/>
                          </a:solidFill>
                          <a:latin typeface="IBM Plex Sans Condensed" panose="020B0506050203000203" pitchFamily="34" charset="77"/>
                        </a:rPr>
                        <a:t>The majority of the steps </a:t>
                      </a:r>
                      <a:r>
                        <a:rPr lang="en-US" sz="1100" b="0">
                          <a:solidFill>
                            <a:schemeClr val="tx1"/>
                          </a:solidFill>
                          <a:latin typeface="IBM Plex Sans Condensed" panose="020B0506050203000203" pitchFamily="34" charset="77"/>
                        </a:rPr>
                        <a:t>from 2.2 </a:t>
                      </a:r>
                      <a:r>
                        <a:rPr lang="en-US" sz="1100" b="0" dirty="0">
                          <a:solidFill>
                            <a:schemeClr val="tx1"/>
                          </a:solidFill>
                          <a:latin typeface="IBM Plex Sans Condensed" panose="020B0506050203000203" pitchFamily="34" charset="77"/>
                        </a:rPr>
                        <a:t>- onwards were performed and iterated upon in an attempt to salvage the approach. Ultimately, the minimal number of records (~45) with property-specific information on crude oil limited the extent of this analysis. </a:t>
                      </a:r>
                    </a:p>
                  </a:txBody>
                  <a:tcPr anchor="ctr">
                    <a:noFill/>
                  </a:tcPr>
                </a:tc>
                <a:extLst>
                  <a:ext uri="{0D108BD9-81ED-4DB2-BD59-A6C34878D82A}">
                    <a16:rowId xmlns:a16="http://schemas.microsoft.com/office/drawing/2014/main" val="3057655160"/>
                  </a:ext>
                </a:extLst>
              </a:tr>
            </a:tbl>
          </a:graphicData>
        </a:graphic>
      </p:graphicFrame>
      <p:cxnSp>
        <p:nvCxnSpPr>
          <p:cNvPr id="7" name="Straight Connector 6">
            <a:extLst>
              <a:ext uri="{FF2B5EF4-FFF2-40B4-BE49-F238E27FC236}">
                <a16:creationId xmlns:a16="http://schemas.microsoft.com/office/drawing/2014/main" id="{DAA2A3ED-630F-61FC-4DD3-FAFBD63CCDC0}"/>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1531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59DE6-2381-CD96-FB51-89760579CB0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25A25C7-6EF9-F972-412B-8FAF69CE1107}"/>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Results – Approach #1</a:t>
            </a:r>
          </a:p>
        </p:txBody>
      </p:sp>
      <p:pic>
        <p:nvPicPr>
          <p:cNvPr id="6" name="Picture 2" descr="Validere Acquires Regulatory Reporting Platform Clairifi - Validere">
            <a:extLst>
              <a:ext uri="{FF2B5EF4-FFF2-40B4-BE49-F238E27FC236}">
                <a16:creationId xmlns:a16="http://schemas.microsoft.com/office/drawing/2014/main" id="{57CC82FD-E075-58DF-F79E-37646A3951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1F6B205-12B8-B046-4F9E-AA9C4216C450}"/>
              </a:ext>
            </a:extLst>
          </p:cNvPr>
          <p:cNvSpPr txBox="1"/>
          <p:nvPr/>
        </p:nvSpPr>
        <p:spPr>
          <a:xfrm>
            <a:off x="348342" y="1047347"/>
            <a:ext cx="11408227" cy="307777"/>
          </a:xfrm>
          <a:prstGeom prst="rect">
            <a:avLst/>
          </a:prstGeom>
          <a:noFill/>
        </p:spPr>
        <p:txBody>
          <a:bodyPr wrap="square" rtlCol="0">
            <a:spAutoFit/>
          </a:bodyPr>
          <a:lstStyle/>
          <a:p>
            <a:r>
              <a:rPr lang="en-US" sz="1400" dirty="0">
                <a:latin typeface="IBM Plex Sans Condensed" panose="020B0506050203000203" pitchFamily="34" charset="77"/>
              </a:rPr>
              <a:t>Four machine learning models were run on the cleaned dataset from Approach #1. An interpretation of their results is given below. </a:t>
            </a:r>
          </a:p>
        </p:txBody>
      </p:sp>
      <p:cxnSp>
        <p:nvCxnSpPr>
          <p:cNvPr id="2" name="Straight Connector 1">
            <a:extLst>
              <a:ext uri="{FF2B5EF4-FFF2-40B4-BE49-F238E27FC236}">
                <a16:creationId xmlns:a16="http://schemas.microsoft.com/office/drawing/2014/main" id="{041FF926-5D84-7344-3BDD-09EDEE850A5E}"/>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483DEF61-9B59-1DE8-5372-5890CA64FB75}"/>
              </a:ext>
            </a:extLst>
          </p:cNvPr>
          <p:cNvSpPr/>
          <p:nvPr/>
        </p:nvSpPr>
        <p:spPr>
          <a:xfrm>
            <a:off x="431073" y="1578454"/>
            <a:ext cx="5408015" cy="274480"/>
          </a:xfrm>
          <a:prstGeom prst="rect">
            <a:avLst/>
          </a:prstGeom>
          <a:solidFill>
            <a:srgbClr val="21344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Spectral" panose="02020502060000000000" pitchFamily="18" charset="77"/>
              </a:rPr>
              <a:t>Random Forest / Decision Tree</a:t>
            </a:r>
          </a:p>
        </p:txBody>
      </p:sp>
      <p:sp>
        <p:nvSpPr>
          <p:cNvPr id="8" name="Rectangle 7">
            <a:extLst>
              <a:ext uri="{FF2B5EF4-FFF2-40B4-BE49-F238E27FC236}">
                <a16:creationId xmlns:a16="http://schemas.microsoft.com/office/drawing/2014/main" id="{FC03CF19-0200-03B4-0561-4E66A2C563C3}"/>
              </a:ext>
            </a:extLst>
          </p:cNvPr>
          <p:cNvSpPr/>
          <p:nvPr/>
        </p:nvSpPr>
        <p:spPr>
          <a:xfrm>
            <a:off x="5839088" y="1578454"/>
            <a:ext cx="5917480" cy="274480"/>
          </a:xfrm>
          <a:prstGeom prst="rect">
            <a:avLst/>
          </a:prstGeom>
          <a:solidFill>
            <a:srgbClr val="21344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Spectral" panose="02020502060000000000" pitchFamily="18" charset="77"/>
              </a:rPr>
              <a:t>Logistic Regression / SVM</a:t>
            </a:r>
          </a:p>
        </p:txBody>
      </p:sp>
      <p:graphicFrame>
        <p:nvGraphicFramePr>
          <p:cNvPr id="10" name="Table 9">
            <a:extLst>
              <a:ext uri="{FF2B5EF4-FFF2-40B4-BE49-F238E27FC236}">
                <a16:creationId xmlns:a16="http://schemas.microsoft.com/office/drawing/2014/main" id="{9CE42660-7314-BBAE-768C-C7A3525DD0F0}"/>
              </a:ext>
            </a:extLst>
          </p:cNvPr>
          <p:cNvGraphicFramePr>
            <a:graphicFrameLocks noGrp="1"/>
          </p:cNvGraphicFramePr>
          <p:nvPr>
            <p:extLst>
              <p:ext uri="{D42A27DB-BD31-4B8C-83A1-F6EECF244321}">
                <p14:modId xmlns:p14="http://schemas.microsoft.com/office/powerpoint/2010/main" val="3291669908"/>
              </p:ext>
            </p:extLst>
          </p:nvPr>
        </p:nvGraphicFramePr>
        <p:xfrm>
          <a:off x="174159" y="2070164"/>
          <a:ext cx="2960915" cy="975360"/>
        </p:xfrm>
        <a:graphic>
          <a:graphicData uri="http://schemas.openxmlformats.org/drawingml/2006/table">
            <a:tbl>
              <a:tblPr firstRow="1" bandRow="1">
                <a:tableStyleId>{5C22544A-7EE6-4342-B048-85BDC9FD1C3A}</a:tableStyleId>
              </a:tblPr>
              <a:tblGrid>
                <a:gridCol w="290945">
                  <a:extLst>
                    <a:ext uri="{9D8B030D-6E8A-4147-A177-3AD203B41FA5}">
                      <a16:colId xmlns:a16="http://schemas.microsoft.com/office/drawing/2014/main" val="2512838458"/>
                    </a:ext>
                  </a:extLst>
                </a:gridCol>
                <a:gridCol w="971798">
                  <a:extLst>
                    <a:ext uri="{9D8B030D-6E8A-4147-A177-3AD203B41FA5}">
                      <a16:colId xmlns:a16="http://schemas.microsoft.com/office/drawing/2014/main" val="1161587960"/>
                    </a:ext>
                  </a:extLst>
                </a:gridCol>
                <a:gridCol w="992777">
                  <a:extLst>
                    <a:ext uri="{9D8B030D-6E8A-4147-A177-3AD203B41FA5}">
                      <a16:colId xmlns:a16="http://schemas.microsoft.com/office/drawing/2014/main" val="2071456267"/>
                    </a:ext>
                  </a:extLst>
                </a:gridCol>
                <a:gridCol w="705395">
                  <a:extLst>
                    <a:ext uri="{9D8B030D-6E8A-4147-A177-3AD203B41FA5}">
                      <a16:colId xmlns:a16="http://schemas.microsoft.com/office/drawing/2014/main" val="476015398"/>
                    </a:ext>
                  </a:extLst>
                </a:gridCol>
              </a:tblGrid>
              <a:tr h="156818">
                <a:tc>
                  <a:txBody>
                    <a:bodyPr/>
                    <a:lstStyle/>
                    <a:p>
                      <a:pPr algn="ctr"/>
                      <a:endParaRPr lang="en-US" sz="1000" b="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US" sz="1000" b="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gridSpan="2">
                  <a:txBody>
                    <a:bodyPr/>
                    <a:lstStyle/>
                    <a:p>
                      <a:pPr algn="ctr"/>
                      <a:r>
                        <a:rPr lang="en-US" sz="1000" b="0" dirty="0">
                          <a:solidFill>
                            <a:schemeClr val="tx1"/>
                          </a:solidFill>
                        </a:rPr>
                        <a:t>Predicted</a:t>
                      </a:r>
                    </a:p>
                  </a:txBody>
                  <a:tcPr anchor="ctr">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043316"/>
                  </a:ext>
                </a:extLst>
              </a:tr>
              <a:tr h="240280">
                <a:tc>
                  <a:txBody>
                    <a:bodyPr/>
                    <a:lstStyle/>
                    <a:p>
                      <a:pPr algn="ctr"/>
                      <a:endParaRPr lang="en-US" sz="1000" b="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en-US" sz="1000" b="0" dirty="0"/>
                    </a:p>
                  </a:txBody>
                  <a:tcPr anchor="ctr">
                    <a:lnL w="12700" cmpd="sng">
                      <a:noFill/>
                    </a:lnL>
                    <a:lnR w="6350" cap="flat" cmpd="sng" algn="ctr">
                      <a:solidFill>
                        <a:schemeClr val="tx1"/>
                      </a:solidFill>
                      <a:prstDash val="solid"/>
                      <a:round/>
                      <a:headEnd type="none" w="med" len="med"/>
                      <a:tailEnd type="none" w="med" len="med"/>
                    </a:lnR>
                    <a:lnT w="381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0" dirty="0"/>
                        <a:t>NOT Crude Oil</a:t>
                      </a:r>
                    </a:p>
                  </a:txBody>
                  <a:tcPr anchor="ctr">
                    <a:lnL w="6350" cap="flat" cmpd="sng" algn="ctr">
                      <a:solidFill>
                        <a:schemeClr val="tx1"/>
                      </a:solidFill>
                      <a:prstDash val="solid"/>
                      <a:round/>
                      <a:headEnd type="none" w="med" len="med"/>
                      <a:tailEnd type="none" w="med" len="med"/>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0" dirty="0"/>
                        <a:t>Crude Oil</a:t>
                      </a:r>
                    </a:p>
                  </a:txBody>
                  <a:tcPr anchor="ctr">
                    <a:lnL w="12700" cmpd="sng">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8601158"/>
                  </a:ext>
                </a:extLst>
              </a:tr>
              <a:tr h="156818">
                <a:tc rowSpan="2">
                  <a:txBody>
                    <a:bodyPr/>
                    <a:lstStyle/>
                    <a:p>
                      <a:pPr algn="ctr"/>
                      <a:r>
                        <a:rPr lang="en-US" sz="1000" b="0" dirty="0"/>
                        <a:t>Actual</a:t>
                      </a:r>
                    </a:p>
                  </a:txBody>
                  <a:tcPr vert="vert270" anchor="ctr">
                    <a:lnL w="12700" cmpd="sng">
                      <a:noFill/>
                    </a:lnL>
                    <a:lnR w="63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b="0" dirty="0"/>
                        <a:t>NOT Crude Oil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000" b="0" dirty="0">
                          <a:solidFill>
                            <a:schemeClr val="bg1"/>
                          </a:solidFill>
                        </a:rPr>
                        <a:t>82</a:t>
                      </a:r>
                    </a:p>
                  </a:txBody>
                  <a:tcPr anchor="ctr">
                    <a:lnL w="6350" cap="flat" cmpd="sng" algn="ctr">
                      <a:solidFill>
                        <a:schemeClr val="tx1"/>
                      </a:solidFill>
                      <a:prstDash val="solid"/>
                      <a:round/>
                      <a:headEnd type="none" w="med" len="med"/>
                      <a:tailEnd type="none" w="med" len="med"/>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2DAAAF"/>
                    </a:solidFill>
                  </a:tcPr>
                </a:tc>
                <a:tc>
                  <a:txBody>
                    <a:bodyPr/>
                    <a:lstStyle/>
                    <a:p>
                      <a:pPr algn="ctr"/>
                      <a:r>
                        <a:rPr lang="en-US" sz="1000" b="0" dirty="0">
                          <a:solidFill>
                            <a:schemeClr val="bg1"/>
                          </a:solidFill>
                        </a:rPr>
                        <a:t>1</a:t>
                      </a:r>
                    </a:p>
                  </a:txBody>
                  <a:tcPr anchor="ctr">
                    <a:lnL w="12700" cmpd="sng">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175C61"/>
                    </a:solidFill>
                  </a:tcPr>
                </a:tc>
                <a:extLst>
                  <a:ext uri="{0D108BD9-81ED-4DB2-BD59-A6C34878D82A}">
                    <a16:rowId xmlns:a16="http://schemas.microsoft.com/office/drawing/2014/main" val="4050004438"/>
                  </a:ext>
                </a:extLst>
              </a:tr>
              <a:tr h="156818">
                <a:tc vMerge="1">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b="0" dirty="0"/>
                        <a:t>Crude Oil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0" dirty="0">
                          <a:solidFill>
                            <a:schemeClr val="bg1"/>
                          </a:solidFill>
                        </a:rPr>
                        <a:t>4</a:t>
                      </a:r>
                    </a:p>
                  </a:txBody>
                  <a:tcPr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75C61"/>
                    </a:solidFill>
                  </a:tcPr>
                </a:tc>
                <a:tc>
                  <a:txBody>
                    <a:bodyPr/>
                    <a:lstStyle/>
                    <a:p>
                      <a:pPr algn="ctr"/>
                      <a:r>
                        <a:rPr lang="en-US" sz="1000" b="0" dirty="0">
                          <a:solidFill>
                            <a:schemeClr val="bg1"/>
                          </a:solidFill>
                        </a:rPr>
                        <a:t>19</a:t>
                      </a:r>
                    </a:p>
                  </a:txBody>
                  <a:tcPr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DAAAF"/>
                    </a:solidFill>
                  </a:tcPr>
                </a:tc>
                <a:extLst>
                  <a:ext uri="{0D108BD9-81ED-4DB2-BD59-A6C34878D82A}">
                    <a16:rowId xmlns:a16="http://schemas.microsoft.com/office/drawing/2014/main" val="2258521280"/>
                  </a:ext>
                </a:extLst>
              </a:tr>
            </a:tbl>
          </a:graphicData>
        </a:graphic>
      </p:graphicFrame>
      <p:graphicFrame>
        <p:nvGraphicFramePr>
          <p:cNvPr id="12" name="Table 11">
            <a:extLst>
              <a:ext uri="{FF2B5EF4-FFF2-40B4-BE49-F238E27FC236}">
                <a16:creationId xmlns:a16="http://schemas.microsoft.com/office/drawing/2014/main" id="{8436088A-5372-55CC-A33B-A8E9E1B85FB5}"/>
              </a:ext>
            </a:extLst>
          </p:cNvPr>
          <p:cNvGraphicFramePr>
            <a:graphicFrameLocks noGrp="1"/>
          </p:cNvGraphicFramePr>
          <p:nvPr>
            <p:extLst>
              <p:ext uri="{D42A27DB-BD31-4B8C-83A1-F6EECF244321}">
                <p14:modId xmlns:p14="http://schemas.microsoft.com/office/powerpoint/2010/main" val="2379340184"/>
              </p:ext>
            </p:extLst>
          </p:nvPr>
        </p:nvGraphicFramePr>
        <p:xfrm>
          <a:off x="3395608" y="2320104"/>
          <a:ext cx="2182948" cy="731520"/>
        </p:xfrm>
        <a:graphic>
          <a:graphicData uri="http://schemas.openxmlformats.org/drawingml/2006/table">
            <a:tbl>
              <a:tblPr firstRow="1" bandRow="1">
                <a:tableStyleId>{5C22544A-7EE6-4342-B048-85BDC9FD1C3A}</a:tableStyleId>
              </a:tblPr>
              <a:tblGrid>
                <a:gridCol w="927946">
                  <a:extLst>
                    <a:ext uri="{9D8B030D-6E8A-4147-A177-3AD203B41FA5}">
                      <a16:colId xmlns:a16="http://schemas.microsoft.com/office/drawing/2014/main" val="1561686530"/>
                    </a:ext>
                  </a:extLst>
                </a:gridCol>
                <a:gridCol w="662819">
                  <a:extLst>
                    <a:ext uri="{9D8B030D-6E8A-4147-A177-3AD203B41FA5}">
                      <a16:colId xmlns:a16="http://schemas.microsoft.com/office/drawing/2014/main" val="933617151"/>
                    </a:ext>
                  </a:extLst>
                </a:gridCol>
                <a:gridCol w="592183">
                  <a:extLst>
                    <a:ext uri="{9D8B030D-6E8A-4147-A177-3AD203B41FA5}">
                      <a16:colId xmlns:a16="http://schemas.microsoft.com/office/drawing/2014/main" val="800553664"/>
                    </a:ext>
                  </a:extLst>
                </a:gridCol>
              </a:tblGrid>
              <a:tr h="135101">
                <a:tc>
                  <a:txBody>
                    <a:bodyPr/>
                    <a:lstStyle/>
                    <a:p>
                      <a:pPr algn="ctr"/>
                      <a:endParaRPr lang="en-US" sz="1000" b="0" dirty="0">
                        <a:solidFill>
                          <a:schemeClr val="tx1"/>
                        </a:solidFill>
                      </a:endParaRPr>
                    </a:p>
                  </a:txBody>
                  <a:tcPr anchor="ctr">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rPr>
                        <a:t>Precision</a:t>
                      </a:r>
                    </a:p>
                  </a:txBody>
                  <a:tcPr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rPr>
                        <a:t>Recall</a:t>
                      </a:r>
                    </a:p>
                  </a:txBody>
                  <a:tcPr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4489592"/>
                  </a:ext>
                </a:extLst>
              </a:tr>
              <a:tr h="135101">
                <a:tc>
                  <a:txBody>
                    <a:bodyPr/>
                    <a:lstStyle/>
                    <a:p>
                      <a:pPr algn="ctr"/>
                      <a:r>
                        <a:rPr lang="en-US" sz="1000" b="0" dirty="0">
                          <a:solidFill>
                            <a:schemeClr val="tx1"/>
                          </a:solidFill>
                        </a:rPr>
                        <a:t>NOT Crude Oil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ctr"/>
                      <a:r>
                        <a:rPr lang="en-US" sz="1000" b="0" dirty="0">
                          <a:solidFill>
                            <a:schemeClr val="tx1"/>
                          </a:solidFill>
                        </a:rPr>
                        <a:t>0.95</a:t>
                      </a:r>
                    </a:p>
                  </a:txBody>
                  <a:tcPr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tc>
                  <a:txBody>
                    <a:bodyPr/>
                    <a:lstStyle/>
                    <a:p>
                      <a:pPr algn="ctr"/>
                      <a:r>
                        <a:rPr lang="en-US" sz="1000" b="0" dirty="0">
                          <a:solidFill>
                            <a:schemeClr val="tx1"/>
                          </a:solidFill>
                        </a:rPr>
                        <a:t>0.99</a:t>
                      </a:r>
                    </a:p>
                  </a:txBody>
                  <a:tcPr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59904668"/>
                  </a:ext>
                </a:extLst>
              </a:tr>
              <a:tr h="135101">
                <a:tc>
                  <a:txBody>
                    <a:bodyPr/>
                    <a:lstStyle/>
                    <a:p>
                      <a:pPr algn="ctr"/>
                      <a:r>
                        <a:rPr lang="en-US" sz="1000" b="0" dirty="0">
                          <a:solidFill>
                            <a:schemeClr val="tx1"/>
                          </a:solidFill>
                        </a:rPr>
                        <a:t>Crude Oil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rPr>
                        <a:t>0.95</a:t>
                      </a:r>
                    </a:p>
                  </a:txBody>
                  <a:tcPr anchor="ctr">
                    <a:lnL w="63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rPr>
                        <a:t>0.83</a:t>
                      </a:r>
                    </a:p>
                  </a:txBody>
                  <a:tcPr anchor="ctr">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7921922"/>
                  </a:ext>
                </a:extLst>
              </a:tr>
            </a:tbl>
          </a:graphicData>
        </a:graphic>
      </p:graphicFrame>
      <p:cxnSp>
        <p:nvCxnSpPr>
          <p:cNvPr id="15" name="Straight Connector 14">
            <a:extLst>
              <a:ext uri="{FF2B5EF4-FFF2-40B4-BE49-F238E27FC236}">
                <a16:creationId xmlns:a16="http://schemas.microsoft.com/office/drawing/2014/main" id="{DBB26C94-E864-02B1-EB8E-45EE3016C15D}"/>
              </a:ext>
            </a:extLst>
          </p:cNvPr>
          <p:cNvCxnSpPr/>
          <p:nvPr/>
        </p:nvCxnSpPr>
        <p:spPr>
          <a:xfrm>
            <a:off x="5839096" y="1578454"/>
            <a:ext cx="0" cy="4604632"/>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BD1A5873-D45F-839A-44F2-6C65D34B6B89}"/>
              </a:ext>
            </a:extLst>
          </p:cNvPr>
          <p:cNvSpPr/>
          <p:nvPr/>
        </p:nvSpPr>
        <p:spPr>
          <a:xfrm>
            <a:off x="431074" y="3274954"/>
            <a:ext cx="5147477" cy="1551420"/>
          </a:xfrm>
          <a:prstGeom prst="roundRect">
            <a:avLst/>
          </a:prstGeom>
          <a:solidFill>
            <a:srgbClr val="F7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0A2636"/>
                </a:solidFill>
                <a:latin typeface="Spectral" panose="02020502060000000000" pitchFamily="18" charset="77"/>
              </a:rPr>
              <a:t>Feature Importance</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After evaluating feature importance for the random forest, as seen below, it revealed that longitude and latitude, and pipeline length and diameter are the four biggest predictors of crude oil vs. not crude oil incidents. </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This implies that crude oil pipelines exist at different locations than non-crude oil pipelines and that they have different pipeline dimensions. </a:t>
            </a:r>
          </a:p>
        </p:txBody>
      </p:sp>
      <p:pic>
        <p:nvPicPr>
          <p:cNvPr id="20" name="Picture 19" descr="A graph with blue bars&#10;&#10;Description automatically generated">
            <a:extLst>
              <a:ext uri="{FF2B5EF4-FFF2-40B4-BE49-F238E27FC236}">
                <a16:creationId xmlns:a16="http://schemas.microsoft.com/office/drawing/2014/main" id="{64032443-2328-470C-1315-2F4B8AEFF6C0}"/>
              </a:ext>
            </a:extLst>
          </p:cNvPr>
          <p:cNvPicPr>
            <a:picLocks noChangeAspect="1"/>
          </p:cNvPicPr>
          <p:nvPr/>
        </p:nvPicPr>
        <p:blipFill>
          <a:blip r:embed="rId3"/>
          <a:stretch>
            <a:fillRect/>
          </a:stretch>
        </p:blipFill>
        <p:spPr>
          <a:xfrm>
            <a:off x="431074" y="4927591"/>
            <a:ext cx="2137956" cy="1626506"/>
          </a:xfrm>
          <a:prstGeom prst="rect">
            <a:avLst/>
          </a:prstGeom>
        </p:spPr>
      </p:pic>
      <p:sp>
        <p:nvSpPr>
          <p:cNvPr id="21" name="Rounded Rectangle 20">
            <a:extLst>
              <a:ext uri="{FF2B5EF4-FFF2-40B4-BE49-F238E27FC236}">
                <a16:creationId xmlns:a16="http://schemas.microsoft.com/office/drawing/2014/main" id="{CE863CD3-AA23-3AA5-8B22-CA2D811A5262}"/>
              </a:ext>
            </a:extLst>
          </p:cNvPr>
          <p:cNvSpPr/>
          <p:nvPr/>
        </p:nvSpPr>
        <p:spPr>
          <a:xfrm>
            <a:off x="2829566" y="4927591"/>
            <a:ext cx="2748993" cy="1386120"/>
          </a:xfrm>
          <a:prstGeom prst="round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a:solidFill>
                  <a:srgbClr val="2DAAAF"/>
                </a:solidFill>
                <a:latin typeface="IBM Plex Sans Condensed" panose="020B0506050203000203" pitchFamily="34" charset="77"/>
              </a:rPr>
              <a:t>DROPPING COLS &amp; RE-RUNNING MODEL</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After dropping these four columns (as they cannot be directly related to a substance-induced incident), the model produces mediocre results, similar to those of the logistic regression and SVM models. </a:t>
            </a:r>
          </a:p>
        </p:txBody>
      </p:sp>
      <p:graphicFrame>
        <p:nvGraphicFramePr>
          <p:cNvPr id="22" name="Table 21">
            <a:extLst>
              <a:ext uri="{FF2B5EF4-FFF2-40B4-BE49-F238E27FC236}">
                <a16:creationId xmlns:a16="http://schemas.microsoft.com/office/drawing/2014/main" id="{D49390B3-84AF-EE84-A5B0-2F6E546C0523}"/>
              </a:ext>
            </a:extLst>
          </p:cNvPr>
          <p:cNvGraphicFramePr>
            <a:graphicFrameLocks noGrp="1"/>
          </p:cNvGraphicFramePr>
          <p:nvPr>
            <p:extLst>
              <p:ext uri="{D42A27DB-BD31-4B8C-83A1-F6EECF244321}">
                <p14:modId xmlns:p14="http://schemas.microsoft.com/office/powerpoint/2010/main" val="1761548070"/>
              </p:ext>
            </p:extLst>
          </p:nvPr>
        </p:nvGraphicFramePr>
        <p:xfrm>
          <a:off x="5995845" y="2076264"/>
          <a:ext cx="2960915" cy="975360"/>
        </p:xfrm>
        <a:graphic>
          <a:graphicData uri="http://schemas.openxmlformats.org/drawingml/2006/table">
            <a:tbl>
              <a:tblPr firstRow="1" bandRow="1">
                <a:tableStyleId>{5C22544A-7EE6-4342-B048-85BDC9FD1C3A}</a:tableStyleId>
              </a:tblPr>
              <a:tblGrid>
                <a:gridCol w="290945">
                  <a:extLst>
                    <a:ext uri="{9D8B030D-6E8A-4147-A177-3AD203B41FA5}">
                      <a16:colId xmlns:a16="http://schemas.microsoft.com/office/drawing/2014/main" val="2512838458"/>
                    </a:ext>
                  </a:extLst>
                </a:gridCol>
                <a:gridCol w="971798">
                  <a:extLst>
                    <a:ext uri="{9D8B030D-6E8A-4147-A177-3AD203B41FA5}">
                      <a16:colId xmlns:a16="http://schemas.microsoft.com/office/drawing/2014/main" val="1161587960"/>
                    </a:ext>
                  </a:extLst>
                </a:gridCol>
                <a:gridCol w="992777">
                  <a:extLst>
                    <a:ext uri="{9D8B030D-6E8A-4147-A177-3AD203B41FA5}">
                      <a16:colId xmlns:a16="http://schemas.microsoft.com/office/drawing/2014/main" val="2071456267"/>
                    </a:ext>
                  </a:extLst>
                </a:gridCol>
                <a:gridCol w="705395">
                  <a:extLst>
                    <a:ext uri="{9D8B030D-6E8A-4147-A177-3AD203B41FA5}">
                      <a16:colId xmlns:a16="http://schemas.microsoft.com/office/drawing/2014/main" val="476015398"/>
                    </a:ext>
                  </a:extLst>
                </a:gridCol>
              </a:tblGrid>
              <a:tr h="156818">
                <a:tc>
                  <a:txBody>
                    <a:bodyPr/>
                    <a:lstStyle/>
                    <a:p>
                      <a:pPr algn="ctr"/>
                      <a:endParaRPr lang="en-US" sz="1000" b="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US" sz="1000" b="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gridSpan="2">
                  <a:txBody>
                    <a:bodyPr/>
                    <a:lstStyle/>
                    <a:p>
                      <a:pPr algn="ctr"/>
                      <a:r>
                        <a:rPr lang="en-US" sz="1000" b="0" dirty="0">
                          <a:solidFill>
                            <a:schemeClr val="tx1"/>
                          </a:solidFill>
                        </a:rPr>
                        <a:t>Predicted</a:t>
                      </a:r>
                    </a:p>
                  </a:txBody>
                  <a:tcPr anchor="ctr">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043316"/>
                  </a:ext>
                </a:extLst>
              </a:tr>
              <a:tr h="240280">
                <a:tc>
                  <a:txBody>
                    <a:bodyPr/>
                    <a:lstStyle/>
                    <a:p>
                      <a:pPr algn="ctr"/>
                      <a:endParaRPr lang="en-US" sz="1000" b="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en-US" sz="1000" b="0" dirty="0"/>
                    </a:p>
                  </a:txBody>
                  <a:tcPr anchor="ctr">
                    <a:lnL w="12700" cmpd="sng">
                      <a:noFill/>
                    </a:lnL>
                    <a:lnR w="6350" cap="flat" cmpd="sng" algn="ctr">
                      <a:solidFill>
                        <a:schemeClr val="tx1"/>
                      </a:solidFill>
                      <a:prstDash val="solid"/>
                      <a:round/>
                      <a:headEnd type="none" w="med" len="med"/>
                      <a:tailEnd type="none" w="med" len="med"/>
                    </a:lnR>
                    <a:lnT w="381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0" dirty="0"/>
                        <a:t>NOT Crude Oil</a:t>
                      </a:r>
                    </a:p>
                  </a:txBody>
                  <a:tcPr anchor="ctr">
                    <a:lnL w="6350" cap="flat" cmpd="sng" algn="ctr">
                      <a:solidFill>
                        <a:schemeClr val="tx1"/>
                      </a:solidFill>
                      <a:prstDash val="solid"/>
                      <a:round/>
                      <a:headEnd type="none" w="med" len="med"/>
                      <a:tailEnd type="none" w="med" len="med"/>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0" dirty="0"/>
                        <a:t>Crude Oil</a:t>
                      </a:r>
                    </a:p>
                  </a:txBody>
                  <a:tcPr anchor="ctr">
                    <a:lnL w="12700" cmpd="sng">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8601158"/>
                  </a:ext>
                </a:extLst>
              </a:tr>
              <a:tr h="156818">
                <a:tc rowSpan="2">
                  <a:txBody>
                    <a:bodyPr/>
                    <a:lstStyle/>
                    <a:p>
                      <a:pPr algn="ctr"/>
                      <a:r>
                        <a:rPr lang="en-US" sz="1000" b="0" dirty="0"/>
                        <a:t>Actual</a:t>
                      </a:r>
                    </a:p>
                  </a:txBody>
                  <a:tcPr vert="vert270" anchor="ctr">
                    <a:lnL w="12700" cmpd="sng">
                      <a:noFill/>
                    </a:lnL>
                    <a:lnR w="63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b="0" dirty="0"/>
                        <a:t>NOT Crude Oil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000" b="0" dirty="0">
                          <a:solidFill>
                            <a:schemeClr val="bg1"/>
                          </a:solidFill>
                        </a:rPr>
                        <a:t>77</a:t>
                      </a:r>
                    </a:p>
                  </a:txBody>
                  <a:tcPr anchor="ctr">
                    <a:lnL w="6350" cap="flat" cmpd="sng" algn="ctr">
                      <a:solidFill>
                        <a:schemeClr val="tx1"/>
                      </a:solidFill>
                      <a:prstDash val="solid"/>
                      <a:round/>
                      <a:headEnd type="none" w="med" len="med"/>
                      <a:tailEnd type="none" w="med" len="med"/>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2DAAAF"/>
                    </a:solidFill>
                  </a:tcPr>
                </a:tc>
                <a:tc>
                  <a:txBody>
                    <a:bodyPr/>
                    <a:lstStyle/>
                    <a:p>
                      <a:pPr algn="ctr"/>
                      <a:r>
                        <a:rPr lang="en-US" sz="1000" b="0" dirty="0">
                          <a:solidFill>
                            <a:schemeClr val="bg1"/>
                          </a:solidFill>
                        </a:rPr>
                        <a:t>6</a:t>
                      </a:r>
                    </a:p>
                  </a:txBody>
                  <a:tcPr anchor="ctr">
                    <a:lnL w="12700" cmpd="sng">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175C61"/>
                    </a:solidFill>
                  </a:tcPr>
                </a:tc>
                <a:extLst>
                  <a:ext uri="{0D108BD9-81ED-4DB2-BD59-A6C34878D82A}">
                    <a16:rowId xmlns:a16="http://schemas.microsoft.com/office/drawing/2014/main" val="4050004438"/>
                  </a:ext>
                </a:extLst>
              </a:tr>
              <a:tr h="156818">
                <a:tc vMerge="1">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b="0" dirty="0"/>
                        <a:t>Crude Oil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0" dirty="0">
                          <a:solidFill>
                            <a:schemeClr val="bg1"/>
                          </a:solidFill>
                        </a:rPr>
                        <a:t>17</a:t>
                      </a:r>
                    </a:p>
                  </a:txBody>
                  <a:tcPr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75C61"/>
                    </a:solidFill>
                  </a:tcPr>
                </a:tc>
                <a:tc>
                  <a:txBody>
                    <a:bodyPr/>
                    <a:lstStyle/>
                    <a:p>
                      <a:pPr algn="ctr"/>
                      <a:r>
                        <a:rPr lang="en-US" sz="1000" b="0" dirty="0">
                          <a:solidFill>
                            <a:schemeClr val="bg1"/>
                          </a:solidFill>
                        </a:rPr>
                        <a:t>6</a:t>
                      </a:r>
                    </a:p>
                  </a:txBody>
                  <a:tcPr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DAAAF"/>
                    </a:solidFill>
                  </a:tcPr>
                </a:tc>
                <a:extLst>
                  <a:ext uri="{0D108BD9-81ED-4DB2-BD59-A6C34878D82A}">
                    <a16:rowId xmlns:a16="http://schemas.microsoft.com/office/drawing/2014/main" val="2258521280"/>
                  </a:ext>
                </a:extLst>
              </a:tr>
            </a:tbl>
          </a:graphicData>
        </a:graphic>
      </p:graphicFrame>
      <p:graphicFrame>
        <p:nvGraphicFramePr>
          <p:cNvPr id="23" name="Table 22">
            <a:extLst>
              <a:ext uri="{FF2B5EF4-FFF2-40B4-BE49-F238E27FC236}">
                <a16:creationId xmlns:a16="http://schemas.microsoft.com/office/drawing/2014/main" id="{8652646B-0683-5830-436F-38C3221D428A}"/>
              </a:ext>
            </a:extLst>
          </p:cNvPr>
          <p:cNvGraphicFramePr>
            <a:graphicFrameLocks noGrp="1"/>
          </p:cNvGraphicFramePr>
          <p:nvPr>
            <p:extLst>
              <p:ext uri="{D42A27DB-BD31-4B8C-83A1-F6EECF244321}">
                <p14:modId xmlns:p14="http://schemas.microsoft.com/office/powerpoint/2010/main" val="2090693680"/>
              </p:ext>
            </p:extLst>
          </p:nvPr>
        </p:nvGraphicFramePr>
        <p:xfrm>
          <a:off x="9217294" y="2320104"/>
          <a:ext cx="2182948" cy="731520"/>
        </p:xfrm>
        <a:graphic>
          <a:graphicData uri="http://schemas.openxmlformats.org/drawingml/2006/table">
            <a:tbl>
              <a:tblPr firstRow="1" bandRow="1">
                <a:tableStyleId>{5C22544A-7EE6-4342-B048-85BDC9FD1C3A}</a:tableStyleId>
              </a:tblPr>
              <a:tblGrid>
                <a:gridCol w="927946">
                  <a:extLst>
                    <a:ext uri="{9D8B030D-6E8A-4147-A177-3AD203B41FA5}">
                      <a16:colId xmlns:a16="http://schemas.microsoft.com/office/drawing/2014/main" val="1561686530"/>
                    </a:ext>
                  </a:extLst>
                </a:gridCol>
                <a:gridCol w="662819">
                  <a:extLst>
                    <a:ext uri="{9D8B030D-6E8A-4147-A177-3AD203B41FA5}">
                      <a16:colId xmlns:a16="http://schemas.microsoft.com/office/drawing/2014/main" val="933617151"/>
                    </a:ext>
                  </a:extLst>
                </a:gridCol>
                <a:gridCol w="592183">
                  <a:extLst>
                    <a:ext uri="{9D8B030D-6E8A-4147-A177-3AD203B41FA5}">
                      <a16:colId xmlns:a16="http://schemas.microsoft.com/office/drawing/2014/main" val="800553664"/>
                    </a:ext>
                  </a:extLst>
                </a:gridCol>
              </a:tblGrid>
              <a:tr h="135101">
                <a:tc>
                  <a:txBody>
                    <a:bodyPr/>
                    <a:lstStyle/>
                    <a:p>
                      <a:pPr algn="ctr"/>
                      <a:endParaRPr lang="en-US" sz="1000" b="0" dirty="0">
                        <a:solidFill>
                          <a:schemeClr val="tx1"/>
                        </a:solidFill>
                      </a:endParaRPr>
                    </a:p>
                  </a:txBody>
                  <a:tcPr anchor="ctr">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rPr>
                        <a:t>Precision</a:t>
                      </a:r>
                    </a:p>
                  </a:txBody>
                  <a:tcPr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rPr>
                        <a:t>Recall</a:t>
                      </a:r>
                    </a:p>
                  </a:txBody>
                  <a:tcPr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4489592"/>
                  </a:ext>
                </a:extLst>
              </a:tr>
              <a:tr h="135101">
                <a:tc>
                  <a:txBody>
                    <a:bodyPr/>
                    <a:lstStyle/>
                    <a:p>
                      <a:pPr algn="ctr"/>
                      <a:r>
                        <a:rPr lang="en-US" sz="1000" b="0" dirty="0">
                          <a:solidFill>
                            <a:schemeClr val="tx1"/>
                          </a:solidFill>
                        </a:rPr>
                        <a:t>NOT Crude Oil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ctr"/>
                      <a:r>
                        <a:rPr lang="en-US" sz="1000" b="0" dirty="0">
                          <a:solidFill>
                            <a:schemeClr val="tx1"/>
                          </a:solidFill>
                        </a:rPr>
                        <a:t>0.82</a:t>
                      </a:r>
                    </a:p>
                  </a:txBody>
                  <a:tcPr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tc>
                  <a:txBody>
                    <a:bodyPr/>
                    <a:lstStyle/>
                    <a:p>
                      <a:pPr algn="ctr"/>
                      <a:r>
                        <a:rPr lang="en-US" sz="1000" b="0" dirty="0">
                          <a:solidFill>
                            <a:schemeClr val="tx1"/>
                          </a:solidFill>
                        </a:rPr>
                        <a:t>0.93</a:t>
                      </a:r>
                    </a:p>
                  </a:txBody>
                  <a:tcPr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59904668"/>
                  </a:ext>
                </a:extLst>
              </a:tr>
              <a:tr h="135101">
                <a:tc>
                  <a:txBody>
                    <a:bodyPr/>
                    <a:lstStyle/>
                    <a:p>
                      <a:pPr algn="ctr"/>
                      <a:r>
                        <a:rPr lang="en-US" sz="1000" b="0" dirty="0">
                          <a:solidFill>
                            <a:schemeClr val="tx1"/>
                          </a:solidFill>
                        </a:rPr>
                        <a:t>Crude Oil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rPr>
                        <a:t>0.50</a:t>
                      </a:r>
                    </a:p>
                  </a:txBody>
                  <a:tcPr anchor="ctr">
                    <a:lnL w="63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rPr>
                        <a:t>0.26</a:t>
                      </a:r>
                    </a:p>
                  </a:txBody>
                  <a:tcPr anchor="ctr">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7921922"/>
                  </a:ext>
                </a:extLst>
              </a:tr>
            </a:tbl>
          </a:graphicData>
        </a:graphic>
      </p:graphicFrame>
      <p:sp>
        <p:nvSpPr>
          <p:cNvPr id="24" name="Rectangle 23">
            <a:extLst>
              <a:ext uri="{FF2B5EF4-FFF2-40B4-BE49-F238E27FC236}">
                <a16:creationId xmlns:a16="http://schemas.microsoft.com/office/drawing/2014/main" id="{26394FE2-0B37-E80A-AC3E-31C8692B4236}"/>
              </a:ext>
            </a:extLst>
          </p:cNvPr>
          <p:cNvSpPr/>
          <p:nvPr/>
        </p:nvSpPr>
        <p:spPr>
          <a:xfrm>
            <a:off x="4686655" y="2103007"/>
            <a:ext cx="891901" cy="1613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ACCURACY: 0.95</a:t>
            </a:r>
          </a:p>
        </p:txBody>
      </p:sp>
      <p:sp>
        <p:nvSpPr>
          <p:cNvPr id="25" name="Rectangle 24">
            <a:extLst>
              <a:ext uri="{FF2B5EF4-FFF2-40B4-BE49-F238E27FC236}">
                <a16:creationId xmlns:a16="http://schemas.microsoft.com/office/drawing/2014/main" id="{C98802B3-115C-224C-B952-B96E5C4AB2A1}"/>
              </a:ext>
            </a:extLst>
          </p:cNvPr>
          <p:cNvSpPr/>
          <p:nvPr/>
        </p:nvSpPr>
        <p:spPr>
          <a:xfrm>
            <a:off x="10508341" y="2103006"/>
            <a:ext cx="891901" cy="1613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ACCURACY: 0.80</a:t>
            </a:r>
          </a:p>
        </p:txBody>
      </p:sp>
      <p:sp>
        <p:nvSpPr>
          <p:cNvPr id="26" name="Rounded Rectangle 25">
            <a:extLst>
              <a:ext uri="{FF2B5EF4-FFF2-40B4-BE49-F238E27FC236}">
                <a16:creationId xmlns:a16="http://schemas.microsoft.com/office/drawing/2014/main" id="{40D5FA33-2481-B58B-48A4-1EFDFDF8CE66}"/>
              </a:ext>
            </a:extLst>
          </p:cNvPr>
          <p:cNvSpPr/>
          <p:nvPr/>
        </p:nvSpPr>
        <p:spPr>
          <a:xfrm>
            <a:off x="6224083" y="3274954"/>
            <a:ext cx="5176153" cy="1551420"/>
          </a:xfrm>
          <a:prstGeom prst="roundRect">
            <a:avLst/>
          </a:prstGeom>
          <a:solidFill>
            <a:srgbClr val="F7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0A2636"/>
                </a:solidFill>
                <a:latin typeface="Spectral" panose="02020502060000000000" pitchFamily="18" charset="77"/>
              </a:rPr>
              <a:t>Interpretation</a:t>
            </a:r>
          </a:p>
          <a:p>
            <a:endParaRPr lang="en-US" sz="1100" dirty="0">
              <a:solidFill>
                <a:schemeClr val="tx1"/>
              </a:solidFill>
              <a:latin typeface="IBM Plex Sans Condensed" panose="020B0506050203000203" pitchFamily="34" charset="77"/>
            </a:endParaRPr>
          </a:p>
          <a:p>
            <a:r>
              <a:rPr lang="en-US" sz="1100" b="1" dirty="0">
                <a:solidFill>
                  <a:schemeClr val="tx1"/>
                </a:solidFill>
                <a:latin typeface="IBM Plex Sans Condensed" panose="020B0506050203000203" pitchFamily="34" charset="77"/>
              </a:rPr>
              <a:t>Results: </a:t>
            </a:r>
            <a:r>
              <a:rPr lang="en-US" sz="1100" dirty="0">
                <a:solidFill>
                  <a:schemeClr val="tx1"/>
                </a:solidFill>
                <a:latin typeface="IBM Plex Sans Condensed" panose="020B0506050203000203" pitchFamily="34" charset="77"/>
              </a:rPr>
              <a:t>The models are good at predicting NOT Crude Oil but they are not good at predicting Crude Oil. This could be a result of the imbalanced dataset, given that there are ~2x as many NOT Crude Oil records as there are Crude Oil. </a:t>
            </a:r>
          </a:p>
          <a:p>
            <a:endParaRPr lang="en-US" sz="1100" dirty="0">
              <a:solidFill>
                <a:schemeClr val="tx1"/>
              </a:solidFill>
              <a:latin typeface="IBM Plex Sans Condensed" panose="020B0506050203000203" pitchFamily="34" charset="77"/>
            </a:endParaRPr>
          </a:p>
          <a:p>
            <a:r>
              <a:rPr lang="en-US" sz="1100" b="1" dirty="0">
                <a:solidFill>
                  <a:schemeClr val="tx1"/>
                </a:solidFill>
                <a:latin typeface="IBM Plex Sans Condensed" panose="020B0506050203000203" pitchFamily="34" charset="77"/>
              </a:rPr>
              <a:t>Coefficients: </a:t>
            </a:r>
            <a:r>
              <a:rPr lang="en-US" sz="1100" dirty="0">
                <a:solidFill>
                  <a:schemeClr val="tx1"/>
                </a:solidFill>
                <a:latin typeface="IBM Plex Sans Condensed" panose="020B0506050203000203" pitchFamily="34" charset="77"/>
              </a:rPr>
              <a:t>Similar coefficients are predicting Crude Oil vs. NOT Crude Oil. Given our domain knowledge, they do not seem to be especially relevant. </a:t>
            </a:r>
          </a:p>
        </p:txBody>
      </p:sp>
      <p:sp>
        <p:nvSpPr>
          <p:cNvPr id="27" name="Rounded Rectangle 26">
            <a:extLst>
              <a:ext uri="{FF2B5EF4-FFF2-40B4-BE49-F238E27FC236}">
                <a16:creationId xmlns:a16="http://schemas.microsoft.com/office/drawing/2014/main" id="{EFDA89C6-E0CA-F1FB-EAB1-1388D25E37F3}"/>
              </a:ext>
            </a:extLst>
          </p:cNvPr>
          <p:cNvSpPr/>
          <p:nvPr/>
        </p:nvSpPr>
        <p:spPr>
          <a:xfrm>
            <a:off x="6294115" y="4927591"/>
            <a:ext cx="5109019" cy="1255495"/>
          </a:xfrm>
          <a:prstGeom prst="round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a:solidFill>
                  <a:srgbClr val="2DAAAF"/>
                </a:solidFill>
                <a:latin typeface="IBM Plex Sans Condensed" panose="020B0506050203000203" pitchFamily="34" charset="77"/>
              </a:rPr>
              <a:t>CONCLUSION</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Given the model’s ability to accurately predict NOT Crude Oil incidents, we could conclude that there are inherent differences in NOT Crude Oil accidents vs. Crude Oil accidents. However, further analysis needs to be performed to identify exactly what properties of Crude Oil (or of NOT Crude Oil) are contributing to these accidents. </a:t>
            </a:r>
          </a:p>
        </p:txBody>
      </p:sp>
    </p:spTree>
    <p:extLst>
      <p:ext uri="{BB962C8B-B14F-4D97-AF65-F5344CB8AC3E}">
        <p14:creationId xmlns:p14="http://schemas.microsoft.com/office/powerpoint/2010/main" val="4241895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Results – Approach #2</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CB30CD3-8335-30C5-9FAD-B2DA3F7B3B60}"/>
              </a:ext>
            </a:extLst>
          </p:cNvPr>
          <p:cNvSpPr txBox="1"/>
          <p:nvPr/>
        </p:nvSpPr>
        <p:spPr>
          <a:xfrm>
            <a:off x="348342" y="1047347"/>
            <a:ext cx="11408227" cy="307777"/>
          </a:xfrm>
          <a:prstGeom prst="rect">
            <a:avLst/>
          </a:prstGeom>
          <a:noFill/>
        </p:spPr>
        <p:txBody>
          <a:bodyPr wrap="square" rtlCol="0">
            <a:spAutoFit/>
          </a:bodyPr>
          <a:lstStyle/>
          <a:p>
            <a:r>
              <a:rPr lang="en-US" sz="1400" dirty="0">
                <a:latin typeface="IBM Plex Sans Condensed" panose="020B0506050203000203" pitchFamily="34" charset="77"/>
              </a:rPr>
              <a:t>Less distinct results from Approach #2 necessitate a discussion and ideas for future investigation. </a:t>
            </a:r>
          </a:p>
        </p:txBody>
      </p:sp>
      <p:cxnSp>
        <p:nvCxnSpPr>
          <p:cNvPr id="2" name="Straight Connector 1">
            <a:extLst>
              <a:ext uri="{FF2B5EF4-FFF2-40B4-BE49-F238E27FC236}">
                <a16:creationId xmlns:a16="http://schemas.microsoft.com/office/drawing/2014/main" id="{8E6A056F-CCD7-E973-BB13-E8C45637CED5}"/>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32C01F8C-51F1-67BA-C086-5689FD02E93B}"/>
              </a:ext>
            </a:extLst>
          </p:cNvPr>
          <p:cNvSpPr/>
          <p:nvPr/>
        </p:nvSpPr>
        <p:spPr>
          <a:xfrm>
            <a:off x="348342" y="1598844"/>
            <a:ext cx="11408227" cy="1224940"/>
          </a:xfrm>
          <a:prstGeom prst="roundRect">
            <a:avLst/>
          </a:prstGeom>
          <a:solidFill>
            <a:srgbClr val="F7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0A2636"/>
                </a:solidFill>
                <a:latin typeface="Spectral" panose="02020502060000000000" pitchFamily="18" charset="77"/>
              </a:rPr>
              <a:t>Discussion</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Dataset E was the only dataset found for Canada / USA that contained property-specific information for crude oil pipeline accidents. Upon extracting this property-specific information, fewer than 50 records remained. Attempts to enhance the data were made, such as keeping in crude oil incidents that did not have specific chemical or physical properties. But proceeding with the analysis of this small sample size ultimately led to unusable results. The data exploration profiling report revealed that light and sour attributes were highly correlated and that the sweet attribute occurred most frequently. However, given the limited sample size, we cannot confidently make conclusions from these findings.</a:t>
            </a:r>
          </a:p>
        </p:txBody>
      </p:sp>
      <p:sp>
        <p:nvSpPr>
          <p:cNvPr id="13" name="Rounded Rectangle 12">
            <a:extLst>
              <a:ext uri="{FF2B5EF4-FFF2-40B4-BE49-F238E27FC236}">
                <a16:creationId xmlns:a16="http://schemas.microsoft.com/office/drawing/2014/main" id="{80131B04-F47E-93AC-3468-C1CC747E9E66}"/>
              </a:ext>
            </a:extLst>
          </p:cNvPr>
          <p:cNvSpPr/>
          <p:nvPr/>
        </p:nvSpPr>
        <p:spPr>
          <a:xfrm>
            <a:off x="348342" y="3066295"/>
            <a:ext cx="11408227" cy="1617590"/>
          </a:xfrm>
          <a:prstGeom prst="roundRect">
            <a:avLst/>
          </a:prstGeom>
          <a:solidFill>
            <a:srgbClr val="F7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0A2636"/>
                </a:solidFill>
                <a:latin typeface="Spectral" panose="02020502060000000000" pitchFamily="18" charset="77"/>
              </a:rPr>
              <a:t>Enhanced Data</a:t>
            </a:r>
          </a:p>
          <a:p>
            <a:endParaRPr lang="en-US" sz="1100" dirty="0">
              <a:solidFill>
                <a:schemeClr val="tx1"/>
              </a:solidFill>
              <a:latin typeface="IBM Plex Sans Condensed" panose="020B0506050203000203" pitchFamily="34" charset="77"/>
            </a:endParaRPr>
          </a:p>
          <a:p>
            <a:pPr marL="171450" indent="-171450">
              <a:buFont typeface="Arial" panose="020B0604020202020204" pitchFamily="34" charset="0"/>
              <a:buChar char="•"/>
            </a:pPr>
            <a:r>
              <a:rPr lang="en-US" sz="1100" dirty="0">
                <a:solidFill>
                  <a:schemeClr val="tx1"/>
                </a:solidFill>
                <a:latin typeface="IBM Plex Sans Condensed" panose="020B0506050203000203" pitchFamily="34" charset="77"/>
              </a:rPr>
              <a:t>With a larger dataset, we could have executed a process like that of Approach #1 to determine what properties of crude oil (if any) influence pipeline accidents. This would consist of further cleaning of relevant attributes and iterating upon models.</a:t>
            </a:r>
          </a:p>
          <a:p>
            <a:pPr marL="171450" indent="-171450">
              <a:buFont typeface="Arial" panose="020B0604020202020204" pitchFamily="34" charset="0"/>
              <a:buChar char="•"/>
            </a:pPr>
            <a:r>
              <a:rPr lang="en-US" sz="1100" dirty="0">
                <a:solidFill>
                  <a:schemeClr val="tx1"/>
                </a:solidFill>
                <a:latin typeface="IBM Plex Sans Condensed" panose="020B0506050203000203" pitchFamily="34" charset="77"/>
              </a:rPr>
              <a:t>A beneficial dataset – which could not be found for this analysis – would contain information about the </a:t>
            </a:r>
            <a:r>
              <a:rPr lang="en-US" sz="1100" b="1" dirty="0">
                <a:solidFill>
                  <a:schemeClr val="tx1"/>
                </a:solidFill>
                <a:latin typeface="IBM Plex Sans Condensed" panose="020B0506050203000203" pitchFamily="34" charset="77"/>
              </a:rPr>
              <a:t>successful transfer </a:t>
            </a:r>
            <a:r>
              <a:rPr lang="en-US" sz="1100" dirty="0">
                <a:solidFill>
                  <a:schemeClr val="tx1"/>
                </a:solidFill>
                <a:latin typeface="IBM Plex Sans Condensed" panose="020B0506050203000203" pitchFamily="34" charset="77"/>
              </a:rPr>
              <a:t>of crude oil across pipelines. For example, if sour crude oil is being transferred the most frequently, but it is found in the least number of incidents, you could potentially conclude that sulfur is less responsible for crude oil-based pipeline accidents.</a:t>
            </a:r>
          </a:p>
          <a:p>
            <a:pPr marL="171450" indent="-171450">
              <a:buFont typeface="Arial" panose="020B0604020202020204" pitchFamily="34" charset="0"/>
              <a:buChar char="•"/>
            </a:pPr>
            <a:r>
              <a:rPr lang="en-US" sz="1100" dirty="0">
                <a:solidFill>
                  <a:schemeClr val="tx1"/>
                </a:solidFill>
                <a:latin typeface="IBM Plex Sans Condensed" panose="020B0506050203000203" pitchFamily="34" charset="77"/>
              </a:rPr>
              <a:t>A method to manually enhance the data is to research the properties of the specific crude oils found in the dataset; for example, researching “ALASKAN NORTH SLOPE CRUDE OIL” to identify if it is sour or sweet, heavy or light. This method was not used in this analysis as the pay-off was not justified: it would have taken significant time and would have only added ~50 records. </a:t>
            </a:r>
          </a:p>
        </p:txBody>
      </p:sp>
      <p:sp>
        <p:nvSpPr>
          <p:cNvPr id="14" name="Rounded Rectangle 13">
            <a:extLst>
              <a:ext uri="{FF2B5EF4-FFF2-40B4-BE49-F238E27FC236}">
                <a16:creationId xmlns:a16="http://schemas.microsoft.com/office/drawing/2014/main" id="{FB4606B9-B129-F639-EAFB-C3BF8BDB623B}"/>
              </a:ext>
            </a:extLst>
          </p:cNvPr>
          <p:cNvSpPr/>
          <p:nvPr/>
        </p:nvSpPr>
        <p:spPr>
          <a:xfrm>
            <a:off x="348342" y="4926396"/>
            <a:ext cx="11408227" cy="1164061"/>
          </a:xfrm>
          <a:prstGeom prst="roundRect">
            <a:avLst/>
          </a:prstGeom>
          <a:solidFill>
            <a:srgbClr val="F7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0A2636"/>
                </a:solidFill>
                <a:latin typeface="Spectral" panose="02020502060000000000" pitchFamily="18" charset="77"/>
              </a:rPr>
              <a:t>Isolating the Problem</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There are myriad factors involved in pipeline incidents which makes it difficult to identify how the properties of crude oil are contributing to the incidents. To isolate the problem, a controlled study could be conducted. This would consist of using various pipeline materials and sizes, running specific crude oils through them (crude oil – sour, crude oil – sweet, crude oil – sour and heavy, etc.), collecting the data, and performing a regression analysis to determine which components of the crude oil are affecting corrosion and wear and tear on the pipelines. </a:t>
            </a:r>
          </a:p>
        </p:txBody>
      </p:sp>
    </p:spTree>
    <p:extLst>
      <p:ext uri="{BB962C8B-B14F-4D97-AF65-F5344CB8AC3E}">
        <p14:creationId xmlns:p14="http://schemas.microsoft.com/office/powerpoint/2010/main" val="3229023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EA97F-6833-FAE5-7980-93E301F9DA6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5C91DFB-3909-82EF-CFD5-B78C5580DF2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Conclusion &amp; Suggested Next Steps</a:t>
            </a:r>
          </a:p>
        </p:txBody>
      </p:sp>
      <p:pic>
        <p:nvPicPr>
          <p:cNvPr id="6" name="Picture 2" descr="Validere Acquires Regulatory Reporting Platform Clairifi - Validere">
            <a:extLst>
              <a:ext uri="{FF2B5EF4-FFF2-40B4-BE49-F238E27FC236}">
                <a16:creationId xmlns:a16="http://schemas.microsoft.com/office/drawing/2014/main" id="{377D52B8-6077-B9C9-8026-D21F181EEE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743ACAB-1C0D-B0BA-CD73-E75C5B6EA939}"/>
              </a:ext>
            </a:extLst>
          </p:cNvPr>
          <p:cNvSpPr txBox="1"/>
          <p:nvPr/>
        </p:nvSpPr>
        <p:spPr>
          <a:xfrm>
            <a:off x="348342" y="1047347"/>
            <a:ext cx="11408227" cy="523220"/>
          </a:xfrm>
          <a:prstGeom prst="rect">
            <a:avLst/>
          </a:prstGeom>
          <a:noFill/>
        </p:spPr>
        <p:txBody>
          <a:bodyPr wrap="square" rtlCol="0">
            <a:spAutoFit/>
          </a:bodyPr>
          <a:lstStyle/>
          <a:p>
            <a:r>
              <a:rPr lang="en-US" sz="1400" dirty="0">
                <a:latin typeface="IBM Plex Sans Condensed" panose="020B0506050203000203" pitchFamily="34" charset="77"/>
              </a:rPr>
              <a:t>Given the results from our two approaches, we cannot safely conclude which properties of crude oil, if any, are responsible for pipeline accidents. But we can provide four distinct next steps, in order of importance, that could facilitate further analysis of this topic.  </a:t>
            </a:r>
          </a:p>
        </p:txBody>
      </p:sp>
      <p:cxnSp>
        <p:nvCxnSpPr>
          <p:cNvPr id="2" name="Straight Connector 1">
            <a:extLst>
              <a:ext uri="{FF2B5EF4-FFF2-40B4-BE49-F238E27FC236}">
                <a16:creationId xmlns:a16="http://schemas.microsoft.com/office/drawing/2014/main" id="{1329072F-70E6-D0F7-5762-677130534514}"/>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
        <p:nvSpPr>
          <p:cNvPr id="5" name="Rounded Rectangle 4">
            <a:extLst>
              <a:ext uri="{FF2B5EF4-FFF2-40B4-BE49-F238E27FC236}">
                <a16:creationId xmlns:a16="http://schemas.microsoft.com/office/drawing/2014/main" id="{EFE90C46-7F7F-C64B-23FB-334A326D7286}"/>
              </a:ext>
            </a:extLst>
          </p:cNvPr>
          <p:cNvSpPr/>
          <p:nvPr/>
        </p:nvSpPr>
        <p:spPr>
          <a:xfrm>
            <a:off x="348341" y="1814287"/>
            <a:ext cx="11408227" cy="1023582"/>
          </a:xfrm>
          <a:prstGeom prst="roundRect">
            <a:avLst/>
          </a:prstGeom>
          <a:solidFill>
            <a:srgbClr val="F7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0A2636"/>
                </a:solidFill>
                <a:latin typeface="Spectral" panose="02020502060000000000" pitchFamily="18" charset="77"/>
              </a:rPr>
              <a:t>Conclusion</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From Approach #1, we concluded that there are potential differences between pipeline accidents in which crude oil was the substance being transferred vs. other substances (e.g., natural gas). From Approach #2, we were unable to form a confident conclusion given our limited dataset. However, the collective analyses from these two approaches provided insight into how this problem can be isolated and investigated to a further extent. </a:t>
            </a:r>
          </a:p>
        </p:txBody>
      </p:sp>
      <p:sp>
        <p:nvSpPr>
          <p:cNvPr id="7" name="Rounded Rectangle 6">
            <a:extLst>
              <a:ext uri="{FF2B5EF4-FFF2-40B4-BE49-F238E27FC236}">
                <a16:creationId xmlns:a16="http://schemas.microsoft.com/office/drawing/2014/main" id="{5C886A06-4E1F-0014-7CAC-96638EC2958D}"/>
              </a:ext>
            </a:extLst>
          </p:cNvPr>
          <p:cNvSpPr/>
          <p:nvPr/>
        </p:nvSpPr>
        <p:spPr>
          <a:xfrm>
            <a:off x="348342" y="3067504"/>
            <a:ext cx="5490754" cy="1345533"/>
          </a:xfrm>
          <a:prstGeom prst="round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US" sz="1100" dirty="0">
                <a:solidFill>
                  <a:srgbClr val="2DAAAF"/>
                </a:solidFill>
                <a:latin typeface="IBM Plex Sans Condensed" panose="020B0506050203000203" pitchFamily="34" charset="77"/>
              </a:rPr>
              <a:t>1 – CONTROLLED STUDY</a:t>
            </a:r>
          </a:p>
          <a:p>
            <a:pPr algn="just"/>
            <a:endParaRPr lang="en-US" sz="1100" dirty="0">
              <a:solidFill>
                <a:schemeClr val="tx1"/>
              </a:solidFill>
              <a:latin typeface="IBM Plex Sans Condensed" panose="020B0506050203000203" pitchFamily="34" charset="77"/>
            </a:endParaRPr>
          </a:p>
          <a:p>
            <a:pPr algn="just"/>
            <a:r>
              <a:rPr lang="en-US" sz="1100" dirty="0">
                <a:solidFill>
                  <a:schemeClr val="tx1"/>
                </a:solidFill>
                <a:latin typeface="IBM Plex Sans Condensed" panose="020B0506050203000203" pitchFamily="34" charset="77"/>
              </a:rPr>
              <a:t>Given the complexity of pipeline incidents, the number one suggestion for future investigation is isolating the problem in a controlled environment. A controlled study would take significant time and resources but would provide the most accurate results as to how the physical and chemical properties of crude oil influence pipeline accidents. (Similar study: [9])</a:t>
            </a:r>
          </a:p>
        </p:txBody>
      </p:sp>
      <p:sp>
        <p:nvSpPr>
          <p:cNvPr id="8" name="Rounded Rectangle 7">
            <a:extLst>
              <a:ext uri="{FF2B5EF4-FFF2-40B4-BE49-F238E27FC236}">
                <a16:creationId xmlns:a16="http://schemas.microsoft.com/office/drawing/2014/main" id="{23E8FDB3-B0B5-923B-ECC7-705D3BEA6878}"/>
              </a:ext>
            </a:extLst>
          </p:cNvPr>
          <p:cNvSpPr/>
          <p:nvPr/>
        </p:nvSpPr>
        <p:spPr>
          <a:xfrm>
            <a:off x="5839096" y="3067504"/>
            <a:ext cx="5917472" cy="1345533"/>
          </a:xfrm>
          <a:prstGeom prst="round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US" sz="1100" dirty="0">
                <a:solidFill>
                  <a:srgbClr val="2DAAAF"/>
                </a:solidFill>
                <a:latin typeface="IBM Plex Sans Condensed" panose="020B0506050203000203" pitchFamily="34" charset="77"/>
              </a:rPr>
              <a:t>2 – LARGER DATASET FOR CRUDE OIL INCIDENTS</a:t>
            </a:r>
          </a:p>
          <a:p>
            <a:pPr algn="just"/>
            <a:endParaRPr lang="en-US" sz="1100" dirty="0">
              <a:solidFill>
                <a:schemeClr val="tx1"/>
              </a:solidFill>
              <a:latin typeface="IBM Plex Sans Condensed" panose="020B0506050203000203" pitchFamily="34" charset="77"/>
            </a:endParaRPr>
          </a:p>
          <a:p>
            <a:pPr algn="just"/>
            <a:r>
              <a:rPr lang="en-US" sz="1100" dirty="0">
                <a:solidFill>
                  <a:schemeClr val="tx1"/>
                </a:solidFill>
                <a:latin typeface="IBM Plex Sans Condensed" panose="020B0506050203000203" pitchFamily="34" charset="77"/>
              </a:rPr>
              <a:t>Other than performing a controlled study, the most direct approach for determining which properties of crude oil affect pipeline incidents is to identify how different types of crude oil relate to the frequency and type of pipeline accidents. Two methods to gather this data are: 1) reaching out to the governing bodies (CER / PHMSA) for additional data or 2) manually researching (or contacting) each company’s crude oil to determine its properties. </a:t>
            </a:r>
          </a:p>
        </p:txBody>
      </p:sp>
      <p:sp>
        <p:nvSpPr>
          <p:cNvPr id="9" name="Rounded Rectangle 8">
            <a:extLst>
              <a:ext uri="{FF2B5EF4-FFF2-40B4-BE49-F238E27FC236}">
                <a16:creationId xmlns:a16="http://schemas.microsoft.com/office/drawing/2014/main" id="{69426532-FDEE-4681-0AC6-0095AEE06B4C}"/>
              </a:ext>
            </a:extLst>
          </p:cNvPr>
          <p:cNvSpPr/>
          <p:nvPr/>
        </p:nvSpPr>
        <p:spPr>
          <a:xfrm>
            <a:off x="348342" y="4413039"/>
            <a:ext cx="5490754" cy="1345534"/>
          </a:xfrm>
          <a:prstGeom prst="round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US" sz="1100" dirty="0">
                <a:solidFill>
                  <a:srgbClr val="2DAAAF"/>
                </a:solidFill>
                <a:latin typeface="IBM Plex Sans Condensed" panose="020B0506050203000203" pitchFamily="34" charset="77"/>
              </a:rPr>
              <a:t>3 – ALL PIPELINE TRANSFER DATA</a:t>
            </a:r>
          </a:p>
          <a:p>
            <a:pPr algn="just"/>
            <a:endParaRPr lang="en-US" sz="1100" dirty="0">
              <a:solidFill>
                <a:schemeClr val="tx1"/>
              </a:solidFill>
              <a:latin typeface="IBM Plex Sans Condensed" panose="020B0506050203000203" pitchFamily="34" charset="77"/>
            </a:endParaRPr>
          </a:p>
          <a:p>
            <a:pPr algn="just"/>
            <a:r>
              <a:rPr lang="en-US" sz="1100" dirty="0">
                <a:solidFill>
                  <a:schemeClr val="tx1"/>
                </a:solidFill>
                <a:latin typeface="IBM Plex Sans Condensed" panose="020B0506050203000203" pitchFamily="34" charset="77"/>
              </a:rPr>
              <a:t>Instead of only looking at pipeline incidents, it could prove valuable to look at all data surrounding the transfer of substances via pipelines. This could identify the proportion of crude oil properties that are most-involved in pipeline accidents. Once again, contacting the governing bodies of pipeline regulations would be a good first step for sourcing this data. </a:t>
            </a:r>
          </a:p>
        </p:txBody>
      </p:sp>
      <p:sp>
        <p:nvSpPr>
          <p:cNvPr id="10" name="Rounded Rectangle 9">
            <a:extLst>
              <a:ext uri="{FF2B5EF4-FFF2-40B4-BE49-F238E27FC236}">
                <a16:creationId xmlns:a16="http://schemas.microsoft.com/office/drawing/2014/main" id="{3D52CF75-A7FA-A026-9349-8F30850C7264}"/>
              </a:ext>
            </a:extLst>
          </p:cNvPr>
          <p:cNvSpPr/>
          <p:nvPr/>
        </p:nvSpPr>
        <p:spPr>
          <a:xfrm>
            <a:off x="5839096" y="4413037"/>
            <a:ext cx="5917473" cy="1716027"/>
          </a:xfrm>
          <a:prstGeom prst="round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US" sz="1100" dirty="0">
                <a:solidFill>
                  <a:srgbClr val="2DAAAF"/>
                </a:solidFill>
                <a:latin typeface="IBM Plex Sans Condensed" panose="020B0506050203000203" pitchFamily="34" charset="77"/>
              </a:rPr>
              <a:t>4 – EVALUATE FEATURE IMPORTANCE OF “NOT CRUDE OIL” INCIDENTS</a:t>
            </a:r>
          </a:p>
          <a:p>
            <a:pPr algn="just"/>
            <a:endParaRPr lang="en-US" sz="1100" dirty="0">
              <a:solidFill>
                <a:schemeClr val="tx1"/>
              </a:solidFill>
              <a:latin typeface="IBM Plex Sans Condensed" panose="020B0506050203000203" pitchFamily="34" charset="77"/>
            </a:endParaRPr>
          </a:p>
          <a:p>
            <a:pPr algn="just"/>
            <a:r>
              <a:rPr lang="en-US" sz="1100" dirty="0">
                <a:solidFill>
                  <a:schemeClr val="tx1"/>
                </a:solidFill>
                <a:latin typeface="IBM Plex Sans Condensed" panose="020B0506050203000203" pitchFamily="34" charset="77"/>
              </a:rPr>
              <a:t>Given that the models from Approach #1 were able to confidently predict NOT Crude Oil incidents, it would be worthwhile to evaluate which features are contributing to these predictions. This could reveal which attributes are relevant for NOT Crude Oil instances, which could be potentially helpful for their Crude Oil counterparts.</a:t>
            </a:r>
          </a:p>
          <a:p>
            <a:pPr algn="just"/>
            <a:endParaRPr lang="en-US" sz="1100" dirty="0">
              <a:solidFill>
                <a:schemeClr val="tx1"/>
              </a:solidFill>
              <a:latin typeface="IBM Plex Sans Condensed" panose="020B0506050203000203" pitchFamily="34" charset="77"/>
            </a:endParaRPr>
          </a:p>
          <a:p>
            <a:pPr algn="just"/>
            <a:r>
              <a:rPr lang="en-US" sz="1100" dirty="0">
                <a:solidFill>
                  <a:schemeClr val="tx1"/>
                </a:solidFill>
                <a:latin typeface="IBM Plex Sans Condensed" panose="020B0506050203000203" pitchFamily="34" charset="77"/>
              </a:rPr>
              <a:t>Additionally, the model could be expanded by concatenating / merging additional datasets. This is not recommended as a first approach due to inconsistencies in data structures.</a:t>
            </a:r>
          </a:p>
        </p:txBody>
      </p:sp>
    </p:spTree>
    <p:extLst>
      <p:ext uri="{BB962C8B-B14F-4D97-AF65-F5344CB8AC3E}">
        <p14:creationId xmlns:p14="http://schemas.microsoft.com/office/powerpoint/2010/main" val="2116172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8FAC0-7A5F-CB72-74FF-7B2DC972673E}"/>
            </a:ext>
          </a:extLst>
        </p:cNvPr>
        <p:cNvGrpSpPr/>
        <p:nvPr/>
      </p:nvGrpSpPr>
      <p:grpSpPr>
        <a:xfrm>
          <a:off x="0" y="0"/>
          <a:ext cx="0" cy="0"/>
          <a:chOff x="0" y="0"/>
          <a:chExt cx="0" cy="0"/>
        </a:xfrm>
      </p:grpSpPr>
      <p:pic>
        <p:nvPicPr>
          <p:cNvPr id="7" name="Picture 2" descr="ESG Is Not a Black Box - Validere">
            <a:extLst>
              <a:ext uri="{FF2B5EF4-FFF2-40B4-BE49-F238E27FC236}">
                <a16:creationId xmlns:a16="http://schemas.microsoft.com/office/drawing/2014/main" id="{712C5647-59F6-A90A-0049-6A4BD6F371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1ABE4732-3A76-7F20-5401-CB869C5947DB}"/>
              </a:ext>
            </a:extLst>
          </p:cNvPr>
          <p:cNvSpPr/>
          <p:nvPr/>
        </p:nvSpPr>
        <p:spPr>
          <a:xfrm>
            <a:off x="729573" y="2926086"/>
            <a:ext cx="6698838" cy="502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bg1"/>
                </a:solidFill>
                <a:latin typeface="Spectral" panose="02020502060000000000" pitchFamily="18" charset="77"/>
              </a:rPr>
              <a:t>Part B – Regulations &amp; Implications</a:t>
            </a:r>
          </a:p>
        </p:txBody>
      </p:sp>
      <p:pic>
        <p:nvPicPr>
          <p:cNvPr id="4" name="Picture 2" descr="Validere Acquires Regulatory Reporting Platform Clairifi - Validere">
            <a:extLst>
              <a:ext uri="{FF2B5EF4-FFF2-40B4-BE49-F238E27FC236}">
                <a16:creationId xmlns:a16="http://schemas.microsoft.com/office/drawing/2014/main" id="{49CC5BA3-427C-E9F1-1F70-BA24DA5D46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8137" y="6313713"/>
            <a:ext cx="2377441" cy="247559"/>
          </a:xfrm>
          <a:prstGeom prst="rect">
            <a:avLst/>
          </a:prstGeom>
          <a:noFill/>
          <a:extLst>
            <a:ext uri="{909E8E84-426E-40DD-AFC4-6F175D3DCCD1}">
              <a14:hiddenFill xmlns:a14="http://schemas.microsoft.com/office/drawing/2010/main">
                <a:solidFill>
                  <a:srgbClr val="FFFFFF"/>
                </a:solidFill>
              </a14:hiddenFill>
            </a:ext>
          </a:extLst>
        </p:spPr>
      </p:pic>
      <p:cxnSp>
        <p:nvCxnSpPr>
          <p:cNvPr id="2" name="Straight Connector 1">
            <a:extLst>
              <a:ext uri="{FF2B5EF4-FFF2-40B4-BE49-F238E27FC236}">
                <a16:creationId xmlns:a16="http://schemas.microsoft.com/office/drawing/2014/main" id="{FB936853-1040-58E3-31D2-0E175CCE3D7D}"/>
              </a:ext>
            </a:extLst>
          </p:cNvPr>
          <p:cNvCxnSpPr>
            <a:cxnSpLocks/>
          </p:cNvCxnSpPr>
          <p:nvPr/>
        </p:nvCxnSpPr>
        <p:spPr>
          <a:xfrm>
            <a:off x="827314" y="3579789"/>
            <a:ext cx="6731726" cy="0"/>
          </a:xfrm>
          <a:prstGeom prst="line">
            <a:avLst/>
          </a:prstGeom>
          <a:ln w="28575">
            <a:solidFill>
              <a:srgbClr val="D6DBD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6858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Current &amp; Proposed Regulations</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446A0DB-5D02-B35C-44C5-F05E5426C5DF}"/>
              </a:ext>
            </a:extLst>
          </p:cNvPr>
          <p:cNvSpPr txBox="1"/>
          <p:nvPr/>
        </p:nvSpPr>
        <p:spPr>
          <a:xfrm>
            <a:off x="290763" y="1047347"/>
            <a:ext cx="11465807" cy="307777"/>
          </a:xfrm>
          <a:prstGeom prst="rect">
            <a:avLst/>
          </a:prstGeom>
          <a:noFill/>
        </p:spPr>
        <p:txBody>
          <a:bodyPr wrap="square" rtlCol="0">
            <a:spAutoFit/>
          </a:bodyPr>
          <a:lstStyle/>
          <a:p>
            <a:r>
              <a:rPr lang="en-US" sz="1400" dirty="0">
                <a:latin typeface="IBM Plex Sans Condensed" panose="020B0506050203000203" pitchFamily="34" charset="77"/>
              </a:rPr>
              <a:t>To propose regulations, we need to understand the current regulations and how they’ve evolved over time. </a:t>
            </a:r>
          </a:p>
        </p:txBody>
      </p:sp>
      <p:cxnSp>
        <p:nvCxnSpPr>
          <p:cNvPr id="3" name="Straight Connector 2">
            <a:extLst>
              <a:ext uri="{FF2B5EF4-FFF2-40B4-BE49-F238E27FC236}">
                <a16:creationId xmlns:a16="http://schemas.microsoft.com/office/drawing/2014/main" id="{74DD0D0A-05E0-08B5-7489-888377C8F00A}"/>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
        <p:nvSpPr>
          <p:cNvPr id="10" name="Rounded Rectangle 9">
            <a:extLst>
              <a:ext uri="{FF2B5EF4-FFF2-40B4-BE49-F238E27FC236}">
                <a16:creationId xmlns:a16="http://schemas.microsoft.com/office/drawing/2014/main" id="{BE2531BD-E42C-D218-5C76-613C1EF41C6E}"/>
              </a:ext>
            </a:extLst>
          </p:cNvPr>
          <p:cNvSpPr/>
          <p:nvPr/>
        </p:nvSpPr>
        <p:spPr>
          <a:xfrm>
            <a:off x="2394857" y="1477043"/>
            <a:ext cx="9304133" cy="497458"/>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buAutoNum type="arabicPeriod"/>
            </a:pPr>
            <a:r>
              <a:rPr lang="en-US" sz="1100" dirty="0">
                <a:solidFill>
                  <a:schemeClr val="tx1"/>
                </a:solidFill>
                <a:latin typeface="IBM Plex Sans Condensed" panose="020B0506050203000203" pitchFamily="34" charset="77"/>
              </a:rPr>
              <a:t>What regulations on those properties would you recommend? </a:t>
            </a:r>
          </a:p>
          <a:p>
            <a:pPr marL="228600" indent="-228600">
              <a:buAutoNum type="arabicPeriod"/>
            </a:pPr>
            <a:r>
              <a:rPr lang="en-US" sz="1100" dirty="0">
                <a:solidFill>
                  <a:schemeClr val="tx1"/>
                </a:solidFill>
                <a:latin typeface="IBM Plex Sans Condensed" panose="020B0506050203000203" pitchFamily="34" charset="77"/>
              </a:rPr>
              <a:t>Have we gotten better at regulating those properties over time?</a:t>
            </a:r>
          </a:p>
        </p:txBody>
      </p:sp>
      <p:graphicFrame>
        <p:nvGraphicFramePr>
          <p:cNvPr id="13" name="Table 12">
            <a:extLst>
              <a:ext uri="{FF2B5EF4-FFF2-40B4-BE49-F238E27FC236}">
                <a16:creationId xmlns:a16="http://schemas.microsoft.com/office/drawing/2014/main" id="{5D1F0471-50C7-ACEE-D832-822B0943D635}"/>
              </a:ext>
            </a:extLst>
          </p:cNvPr>
          <p:cNvGraphicFramePr>
            <a:graphicFrameLocks noGrp="1"/>
          </p:cNvGraphicFramePr>
          <p:nvPr>
            <p:extLst>
              <p:ext uri="{D42A27DB-BD31-4B8C-83A1-F6EECF244321}">
                <p14:modId xmlns:p14="http://schemas.microsoft.com/office/powerpoint/2010/main" val="3375873778"/>
              </p:ext>
            </p:extLst>
          </p:nvPr>
        </p:nvGraphicFramePr>
        <p:xfrm>
          <a:off x="290763" y="2101055"/>
          <a:ext cx="11408227" cy="1386840"/>
        </p:xfrm>
        <a:graphic>
          <a:graphicData uri="http://schemas.openxmlformats.org/drawingml/2006/table">
            <a:tbl>
              <a:tblPr firstRow="1" bandRow="1">
                <a:tableStyleId>{5C22544A-7EE6-4342-B048-85BDC9FD1C3A}</a:tableStyleId>
              </a:tblPr>
              <a:tblGrid>
                <a:gridCol w="1927259">
                  <a:extLst>
                    <a:ext uri="{9D8B030D-6E8A-4147-A177-3AD203B41FA5}">
                      <a16:colId xmlns:a16="http://schemas.microsoft.com/office/drawing/2014/main" val="1727256394"/>
                    </a:ext>
                  </a:extLst>
                </a:gridCol>
                <a:gridCol w="9480968">
                  <a:extLst>
                    <a:ext uri="{9D8B030D-6E8A-4147-A177-3AD203B41FA5}">
                      <a16:colId xmlns:a16="http://schemas.microsoft.com/office/drawing/2014/main" val="2493933945"/>
                    </a:ext>
                  </a:extLst>
                </a:gridCol>
              </a:tblGrid>
              <a:tr h="129243">
                <a:tc>
                  <a:txBody>
                    <a:bodyPr/>
                    <a:lstStyle/>
                    <a:p>
                      <a:r>
                        <a:rPr lang="en-US" sz="1100" b="0" dirty="0">
                          <a:solidFill>
                            <a:schemeClr val="bg1"/>
                          </a:solidFill>
                          <a:latin typeface="Spectral" panose="02020502060000000000" pitchFamily="18" charset="77"/>
                        </a:rPr>
                        <a:t>Governing Body, Year</a:t>
                      </a:r>
                    </a:p>
                  </a:txBody>
                  <a:tcPr>
                    <a:solidFill>
                      <a:srgbClr val="0A2536"/>
                    </a:solidFill>
                  </a:tcPr>
                </a:tc>
                <a:tc>
                  <a:txBody>
                    <a:bodyPr/>
                    <a:lstStyle/>
                    <a:p>
                      <a:r>
                        <a:rPr lang="en-US" sz="1100" b="0" dirty="0">
                          <a:solidFill>
                            <a:schemeClr val="bg1"/>
                          </a:solidFill>
                          <a:latin typeface="Spectral" panose="02020502060000000000" pitchFamily="18" charset="77"/>
                        </a:rPr>
                        <a:t>Regulation</a:t>
                      </a:r>
                    </a:p>
                  </a:txBody>
                  <a:tcPr>
                    <a:solidFill>
                      <a:srgbClr val="0A2536"/>
                    </a:solidFill>
                  </a:tcPr>
                </a:tc>
                <a:extLst>
                  <a:ext uri="{0D108BD9-81ED-4DB2-BD59-A6C34878D82A}">
                    <a16:rowId xmlns:a16="http://schemas.microsoft.com/office/drawing/2014/main" val="3859704445"/>
                  </a:ext>
                </a:extLst>
              </a:tr>
              <a:tr h="129243">
                <a:tc>
                  <a:txBody>
                    <a:bodyPr/>
                    <a:lstStyle/>
                    <a:p>
                      <a:r>
                        <a:rPr lang="en-US" sz="800" dirty="0">
                          <a:solidFill>
                            <a:schemeClr val="tx1"/>
                          </a:solidFill>
                          <a:latin typeface="IBM Plex Sans Condensed" panose="020B0506050203000203" pitchFamily="34" charset="77"/>
                        </a:rPr>
                        <a:t>PHMSA, 2013</a:t>
                      </a:r>
                    </a:p>
                  </a:txBody>
                  <a:tcPr anchor="ctr">
                    <a:noFill/>
                  </a:tcPr>
                </a:tc>
                <a:tc>
                  <a:txBody>
                    <a:bodyPr/>
                    <a:lstStyle/>
                    <a:p>
                      <a:r>
                        <a:rPr lang="en-US" sz="800" dirty="0">
                          <a:solidFill>
                            <a:schemeClr val="tx1"/>
                          </a:solidFill>
                        </a:rPr>
                        <a:t>The PHMSA along with Federal Railroad Administration launched Operation Classification to verify that crude oil is being properly classified by performing unannounced spot inspections and data collection, and by sampling and testing at strategic locations in the crude oil transportation chain [10].</a:t>
                      </a:r>
                    </a:p>
                  </a:txBody>
                  <a:tcPr anchor="ctr">
                    <a:noFill/>
                  </a:tcPr>
                </a:tc>
                <a:extLst>
                  <a:ext uri="{0D108BD9-81ED-4DB2-BD59-A6C34878D82A}">
                    <a16:rowId xmlns:a16="http://schemas.microsoft.com/office/drawing/2014/main" val="1695792492"/>
                  </a:ext>
                </a:extLst>
              </a:tr>
              <a:tr h="212871">
                <a:tc>
                  <a:txBody>
                    <a:bodyPr/>
                    <a:lstStyle/>
                    <a:p>
                      <a:r>
                        <a:rPr lang="en-US" sz="800" dirty="0">
                          <a:solidFill>
                            <a:schemeClr val="tx1"/>
                          </a:solidFill>
                          <a:latin typeface="IBM Plex Sans Condensed" panose="020B0506050203000203" pitchFamily="34" charset="77"/>
                        </a:rPr>
                        <a:t>DOT / Transport Canada, 2015</a:t>
                      </a:r>
                    </a:p>
                  </a:txBody>
                  <a:tcPr anchor="ctr">
                    <a:solidFill>
                      <a:srgbClr val="F7F9FC"/>
                    </a:solidFill>
                  </a:tcPr>
                </a:tc>
                <a:tc>
                  <a:txBody>
                    <a:bodyPr/>
                    <a:lstStyle/>
                    <a:p>
                      <a:r>
                        <a:rPr lang="en-US" sz="800" dirty="0">
                          <a:solidFill>
                            <a:schemeClr val="tx1"/>
                          </a:solidFill>
                        </a:rPr>
                        <a:t>The US Department of Transportation (DOT) in conjunction with Transport Canada created a plan to conduct a research study to develop a more comprehensive understanding of the properties of crude oil [10]. The review has a heavy focus on identifying which properties are correlated with combustion. The study discusses a difficulty in utilizing available data because of sample point variability, sampling method variability, and analytical method variability. As of the plan’s announcement, there was no funding for the work (and the subsequent product cannot be found online). </a:t>
                      </a:r>
                    </a:p>
                  </a:txBody>
                  <a:tcPr anchor="ctr">
                    <a:solidFill>
                      <a:srgbClr val="F7F9FC"/>
                    </a:solidFill>
                  </a:tcPr>
                </a:tc>
                <a:extLst>
                  <a:ext uri="{0D108BD9-81ED-4DB2-BD59-A6C34878D82A}">
                    <a16:rowId xmlns:a16="http://schemas.microsoft.com/office/drawing/2014/main" val="3315963100"/>
                  </a:ext>
                </a:extLst>
              </a:tr>
              <a:tr h="212871">
                <a:tc>
                  <a:txBody>
                    <a:bodyPr/>
                    <a:lstStyle/>
                    <a:p>
                      <a:r>
                        <a:rPr lang="en-US" sz="800" dirty="0">
                          <a:solidFill>
                            <a:schemeClr val="tx1"/>
                          </a:solidFill>
                          <a:latin typeface="IBM Plex Sans Condensed" panose="020B0506050203000203" pitchFamily="34" charset="77"/>
                        </a:rPr>
                        <a:t>AER, 2023</a:t>
                      </a: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The Alberta Energy Regulator (AER) makes frequent updates to the OIL AND GAS CONSERVATION RULES (among other documents). With regards to the regulation of crude oil, the current version of this document states that the operator of wells / oil sands are required to keep records of the crude oil received into the pipeline and file the records with the Regulator [12].</a:t>
                      </a:r>
                    </a:p>
                  </a:txBody>
                  <a:tcPr anchor="ctr">
                    <a:noFill/>
                  </a:tcPr>
                </a:tc>
                <a:extLst>
                  <a:ext uri="{0D108BD9-81ED-4DB2-BD59-A6C34878D82A}">
                    <a16:rowId xmlns:a16="http://schemas.microsoft.com/office/drawing/2014/main" val="2713758480"/>
                  </a:ext>
                </a:extLst>
              </a:tr>
            </a:tbl>
          </a:graphicData>
        </a:graphic>
      </p:graphicFrame>
      <p:sp>
        <p:nvSpPr>
          <p:cNvPr id="14" name="Rounded Rectangle 13">
            <a:extLst>
              <a:ext uri="{FF2B5EF4-FFF2-40B4-BE49-F238E27FC236}">
                <a16:creationId xmlns:a16="http://schemas.microsoft.com/office/drawing/2014/main" id="{8A2CA7BA-21DE-30A2-F9AA-FFAB68B188F2}"/>
              </a:ext>
            </a:extLst>
          </p:cNvPr>
          <p:cNvSpPr/>
          <p:nvPr/>
        </p:nvSpPr>
        <p:spPr>
          <a:xfrm>
            <a:off x="104504" y="3487895"/>
            <a:ext cx="11652066" cy="275614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2DAAAF"/>
                </a:solidFill>
                <a:latin typeface="Spectral" panose="02020502060000000000" pitchFamily="18" charset="77"/>
              </a:rPr>
              <a:t>DISCUSSION</a:t>
            </a:r>
            <a:endParaRPr lang="en-US" sz="1100" dirty="0">
              <a:solidFill>
                <a:schemeClr val="tx1"/>
              </a:solidFill>
              <a:latin typeface="IBM Plex Sans Condensed" panose="020B0506050203000203" pitchFamily="34" charset="77"/>
            </a:endParaRPr>
          </a:p>
          <a:p>
            <a:r>
              <a:rPr lang="en-US" sz="1000" dirty="0">
                <a:solidFill>
                  <a:schemeClr val="tx1"/>
                </a:solidFill>
                <a:latin typeface="IBM Plex Sans Condensed" panose="020B0506050203000203" pitchFamily="34" charset="77"/>
              </a:rPr>
              <a:t>The governing bodies of crude oil transportation across Canada and the USA have regulations in place to monitor the chemical and physical properties of crude oil. However, given the quantity of crude oil that is being transferred across North America, and the fact that crude oils have unique compositions, it seems unreasonable that a governing body could keep track of the properties of every crude oil that they govern. This is why an audit-based approach, like the PHMSA’s random sampling and AER’s required documentation, form a reasonable set of regulations.</a:t>
            </a:r>
          </a:p>
          <a:p>
            <a:endParaRPr lang="en-US" sz="1000" dirty="0">
              <a:solidFill>
                <a:schemeClr val="tx1"/>
              </a:solidFill>
              <a:latin typeface="IBM Plex Sans Condensed" panose="020B0506050203000203" pitchFamily="34" charset="77"/>
            </a:endParaRPr>
          </a:p>
          <a:p>
            <a:r>
              <a:rPr lang="en-US" sz="1000" dirty="0">
                <a:solidFill>
                  <a:schemeClr val="tx1"/>
                </a:solidFill>
                <a:latin typeface="IBM Plex Sans Condensed" panose="020B0506050203000203" pitchFamily="34" charset="77"/>
              </a:rPr>
              <a:t>Regarding research studies concerning the composition of crude oil, it seems as though numerous organizations have proposed scientific plans to identify relevant properties ([1], [10]). But the necessary funding to execute these studies is not being given. This could potentially be a result of substance-related incidents making up a small portion of total incidents (e.g., human error contributes to more incidents than internal corrosion-related incidents). </a:t>
            </a:r>
          </a:p>
          <a:p>
            <a:endParaRPr lang="en-US" sz="1000" dirty="0">
              <a:solidFill>
                <a:schemeClr val="tx1"/>
              </a:solidFill>
              <a:latin typeface="IBM Plex Sans Condensed" panose="020B0506050203000203" pitchFamily="34" charset="77"/>
            </a:endParaRPr>
          </a:p>
          <a:p>
            <a:r>
              <a:rPr lang="en-US" sz="1000" dirty="0">
                <a:solidFill>
                  <a:schemeClr val="tx1"/>
                </a:solidFill>
                <a:latin typeface="IBM Plex Sans Condensed" panose="020B0506050203000203" pitchFamily="34" charset="77"/>
              </a:rPr>
              <a:t>Ultimately, the regulations regarding the properties of crude oil do not seem to have improved much over time. The intention is there, but the execution is not. This conclusion is reinforced by the datasets provided by these governing bodies on pipeline incidents – next to no data is given regarding the composition of the crude oil that is involved in the respective accident. </a:t>
            </a:r>
          </a:p>
          <a:p>
            <a:endParaRPr lang="en-US" sz="1000" dirty="0">
              <a:solidFill>
                <a:schemeClr val="tx1"/>
              </a:solidFill>
              <a:latin typeface="IBM Plex Sans Condensed" panose="020B0506050203000203" pitchFamily="34" charset="77"/>
            </a:endParaRPr>
          </a:p>
          <a:p>
            <a:r>
              <a:rPr lang="en-US" sz="1000" dirty="0">
                <a:solidFill>
                  <a:schemeClr val="tx1"/>
                </a:solidFill>
                <a:latin typeface="IBM Plex Sans Condensed" panose="020B0506050203000203" pitchFamily="34" charset="77"/>
              </a:rPr>
              <a:t>Without knowing which properties of crude oil are influencing pipeline incidents, we cannot make property-specific recommendations. However, we can make recommendations regarding the sampling and disclosure of crude oil across pipelines (for both regular operations and within incidents). It seems reasonable to require that when a pipeline incident occurs, the company samples the crude oil at the point of failure and includes this is in their disclosure. Additionally, it does not seem unreasonable to require sampling of substances during regular operations at frequent intervals (instead of just at the start) along pipelines that carry crude oil. These could be disclosed at quarterly or yearly intervals. </a:t>
            </a:r>
            <a:endParaRPr lang="en-US" sz="1100" dirty="0">
              <a:solidFill>
                <a:schemeClr val="tx1"/>
              </a:solidFill>
              <a:latin typeface="IBM Plex Sans Condensed" panose="020B0506050203000203" pitchFamily="34" charset="77"/>
            </a:endParaRPr>
          </a:p>
        </p:txBody>
      </p:sp>
      <p:sp>
        <p:nvSpPr>
          <p:cNvPr id="15" name="Rounded Rectangle 14">
            <a:extLst>
              <a:ext uri="{FF2B5EF4-FFF2-40B4-BE49-F238E27FC236}">
                <a16:creationId xmlns:a16="http://schemas.microsoft.com/office/drawing/2014/main" id="{CA0C4F2B-DE56-0F93-0F60-F98384C76C94}"/>
              </a:ext>
            </a:extLst>
          </p:cNvPr>
          <p:cNvSpPr/>
          <p:nvPr/>
        </p:nvSpPr>
        <p:spPr>
          <a:xfrm>
            <a:off x="290763" y="1479360"/>
            <a:ext cx="1938631" cy="497458"/>
          </a:xfrm>
          <a:prstGeom prst="roundRect">
            <a:avLst/>
          </a:prstGeom>
          <a:solidFill>
            <a:srgbClr val="F7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A2636"/>
                </a:solidFill>
                <a:latin typeface="Spectral" panose="02020502060000000000" pitchFamily="18" charset="77"/>
              </a:rPr>
              <a:t>Questions:</a:t>
            </a:r>
          </a:p>
        </p:txBody>
      </p:sp>
    </p:spTree>
    <p:extLst>
      <p:ext uri="{BB962C8B-B14F-4D97-AF65-F5344CB8AC3E}">
        <p14:creationId xmlns:p14="http://schemas.microsoft.com/office/powerpoint/2010/main" val="3947416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74C33-58FB-7BDA-49A4-4C00D5C1606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DE72CDA-C845-1089-44C2-CF07C02AD23D}"/>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Quantifying Success &amp; Market Implications</a:t>
            </a:r>
          </a:p>
        </p:txBody>
      </p:sp>
      <p:pic>
        <p:nvPicPr>
          <p:cNvPr id="6" name="Picture 2" descr="Validere Acquires Regulatory Reporting Platform Clairifi - Validere">
            <a:extLst>
              <a:ext uri="{FF2B5EF4-FFF2-40B4-BE49-F238E27FC236}">
                <a16:creationId xmlns:a16="http://schemas.microsoft.com/office/drawing/2014/main" id="{4B943FA3-94CE-0FDB-9C6D-BFE7AAAC0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DD78157-1D4E-BF31-2F23-9DB18C696A9F}"/>
              </a:ext>
            </a:extLst>
          </p:cNvPr>
          <p:cNvSpPr txBox="1"/>
          <p:nvPr/>
        </p:nvSpPr>
        <p:spPr>
          <a:xfrm>
            <a:off x="290763" y="1047347"/>
            <a:ext cx="11682892" cy="523220"/>
          </a:xfrm>
          <a:prstGeom prst="rect">
            <a:avLst/>
          </a:prstGeom>
          <a:noFill/>
        </p:spPr>
        <p:txBody>
          <a:bodyPr wrap="square" rtlCol="0">
            <a:spAutoFit/>
          </a:bodyPr>
          <a:lstStyle/>
          <a:p>
            <a:r>
              <a:rPr lang="en-US" sz="1400" dirty="0">
                <a:latin typeface="IBM Plex Sans Condensed" panose="020B0506050203000203" pitchFamily="34" charset="77"/>
              </a:rPr>
              <a:t>Should the proposed regulations be implemented, we need to understand how they could impact the oil market and there needs to be a method to quantify their success.</a:t>
            </a:r>
          </a:p>
        </p:txBody>
      </p:sp>
      <p:cxnSp>
        <p:nvCxnSpPr>
          <p:cNvPr id="3" name="Straight Connector 2">
            <a:extLst>
              <a:ext uri="{FF2B5EF4-FFF2-40B4-BE49-F238E27FC236}">
                <a16:creationId xmlns:a16="http://schemas.microsoft.com/office/drawing/2014/main" id="{38706618-F9EE-C9AD-AC18-8955112A8ACB}"/>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
        <p:nvSpPr>
          <p:cNvPr id="7" name="Rounded Rectangle 6">
            <a:extLst>
              <a:ext uri="{FF2B5EF4-FFF2-40B4-BE49-F238E27FC236}">
                <a16:creationId xmlns:a16="http://schemas.microsoft.com/office/drawing/2014/main" id="{41E37A2A-615D-F8A9-BAE6-A4C6024DB426}"/>
              </a:ext>
            </a:extLst>
          </p:cNvPr>
          <p:cNvSpPr/>
          <p:nvPr/>
        </p:nvSpPr>
        <p:spPr>
          <a:xfrm>
            <a:off x="2394857" y="1694804"/>
            <a:ext cx="9304133" cy="497458"/>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latin typeface="IBM Plex Sans Condensed" panose="020B0506050203000203" pitchFamily="34" charset="77"/>
              </a:rPr>
              <a:t>1. What implications on the oil market would these regulations have?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IBM Plex Sans Condensed" panose="020B0506050203000203" pitchFamily="34" charset="77"/>
              </a:rPr>
              <a:t>2. How can success of these regulations be quantified in the short term and long term? </a:t>
            </a:r>
          </a:p>
        </p:txBody>
      </p:sp>
      <p:sp>
        <p:nvSpPr>
          <p:cNvPr id="8" name="Rounded Rectangle 7">
            <a:extLst>
              <a:ext uri="{FF2B5EF4-FFF2-40B4-BE49-F238E27FC236}">
                <a16:creationId xmlns:a16="http://schemas.microsoft.com/office/drawing/2014/main" id="{1D5EC608-E8AC-8FD3-1089-7BAD30B47FF7}"/>
              </a:ext>
            </a:extLst>
          </p:cNvPr>
          <p:cNvSpPr/>
          <p:nvPr/>
        </p:nvSpPr>
        <p:spPr>
          <a:xfrm>
            <a:off x="290763" y="1697121"/>
            <a:ext cx="1938631" cy="497458"/>
          </a:xfrm>
          <a:prstGeom prst="roundRect">
            <a:avLst/>
          </a:prstGeom>
          <a:solidFill>
            <a:srgbClr val="F7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A2636"/>
                </a:solidFill>
                <a:latin typeface="Spectral" panose="02020502060000000000" pitchFamily="18" charset="77"/>
              </a:rPr>
              <a:t>Questions:</a:t>
            </a:r>
          </a:p>
        </p:txBody>
      </p:sp>
      <p:sp>
        <p:nvSpPr>
          <p:cNvPr id="9" name="Rounded Rectangle 8">
            <a:extLst>
              <a:ext uri="{FF2B5EF4-FFF2-40B4-BE49-F238E27FC236}">
                <a16:creationId xmlns:a16="http://schemas.microsoft.com/office/drawing/2014/main" id="{E0CD56CD-8908-0568-25BB-D6E1F0D58AD7}"/>
              </a:ext>
            </a:extLst>
          </p:cNvPr>
          <p:cNvSpPr/>
          <p:nvPr/>
        </p:nvSpPr>
        <p:spPr>
          <a:xfrm>
            <a:off x="2394855" y="2483176"/>
            <a:ext cx="4615543" cy="1891647"/>
          </a:xfrm>
          <a:prstGeom prst="round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a:solidFill>
                  <a:srgbClr val="2DAAAF"/>
                </a:solidFill>
                <a:latin typeface="IBM Plex Sans Condensed" panose="020B0506050203000203" pitchFamily="34" charset="77"/>
              </a:rPr>
              <a:t>SHORT TERM</a:t>
            </a:r>
          </a:p>
          <a:p>
            <a:endParaRPr lang="en-US" sz="1100" dirty="0">
              <a:solidFill>
                <a:schemeClr val="tx1"/>
              </a:solidFill>
              <a:latin typeface="IBM Plex Sans Condensed" panose="020B0506050203000203" pitchFamily="34" charset="77"/>
            </a:endParaRPr>
          </a:p>
          <a:p>
            <a:pPr marL="171450" indent="-171450">
              <a:buFont typeface="Arial" panose="020B0604020202020204" pitchFamily="34" charset="0"/>
              <a:buChar char="•"/>
            </a:pPr>
            <a:r>
              <a:rPr lang="en-US" sz="1100" dirty="0">
                <a:solidFill>
                  <a:schemeClr val="tx1"/>
                </a:solidFill>
                <a:latin typeface="IBM Plex Sans Condensed" panose="020B0506050203000203" pitchFamily="34" charset="77"/>
              </a:rPr>
              <a:t>Meet funding requirements for further scientific evaluation on the inherent properties of crude oil that are influencing pipeline accidents.</a:t>
            </a:r>
          </a:p>
          <a:p>
            <a:pPr marL="171450" indent="-171450">
              <a:buFont typeface="Arial" panose="020B0604020202020204" pitchFamily="34" charset="0"/>
              <a:buChar char="•"/>
            </a:pPr>
            <a:r>
              <a:rPr lang="en-US" sz="1100" dirty="0">
                <a:solidFill>
                  <a:schemeClr val="tx1"/>
                </a:solidFill>
                <a:latin typeface="IBM Plex Sans Condensed" panose="020B0506050203000203" pitchFamily="34" charset="77"/>
              </a:rPr>
              <a:t>Have companies (or governing bodies) take samples of and disclose the crude oil involved in x percentage of pipeline incidents where x increases each year and eventually converges to 1.</a:t>
            </a:r>
          </a:p>
          <a:p>
            <a:pPr marL="171450" indent="-171450">
              <a:buFont typeface="Arial" panose="020B0604020202020204" pitchFamily="34" charset="0"/>
              <a:buChar char="•"/>
            </a:pPr>
            <a:r>
              <a:rPr lang="en-US" sz="1100" dirty="0">
                <a:solidFill>
                  <a:schemeClr val="tx1"/>
                </a:solidFill>
                <a:latin typeface="IBM Plex Sans Condensed" panose="020B0506050203000203" pitchFamily="34" charset="77"/>
              </a:rPr>
              <a:t>Have companies (or governing bodies) take samples of and disclose the crude oil within their pipelines every x kms and at higher-risk points for their pipelines that transfer crude oil. Determine x based on the pipeline length. </a:t>
            </a:r>
          </a:p>
        </p:txBody>
      </p:sp>
      <p:sp>
        <p:nvSpPr>
          <p:cNvPr id="10" name="Rounded Rectangle 9">
            <a:extLst>
              <a:ext uri="{FF2B5EF4-FFF2-40B4-BE49-F238E27FC236}">
                <a16:creationId xmlns:a16="http://schemas.microsoft.com/office/drawing/2014/main" id="{E7E1FDC9-6346-5090-75A6-D07425E9C808}"/>
              </a:ext>
            </a:extLst>
          </p:cNvPr>
          <p:cNvSpPr/>
          <p:nvPr/>
        </p:nvSpPr>
        <p:spPr>
          <a:xfrm>
            <a:off x="7046923" y="2483177"/>
            <a:ext cx="4688591" cy="1891646"/>
          </a:xfrm>
          <a:prstGeom prst="round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a:solidFill>
                  <a:srgbClr val="2DAAAF"/>
                </a:solidFill>
                <a:latin typeface="IBM Plex Sans Condensed" panose="020B0506050203000203" pitchFamily="34" charset="77"/>
              </a:rPr>
              <a:t>LONG TERM</a:t>
            </a:r>
          </a:p>
          <a:p>
            <a:endParaRPr lang="en-US" sz="1100" dirty="0">
              <a:solidFill>
                <a:schemeClr val="tx1"/>
              </a:solidFill>
              <a:latin typeface="IBM Plex Sans Condensed" panose="020B0506050203000203" pitchFamily="34" charset="77"/>
            </a:endParaRPr>
          </a:p>
          <a:p>
            <a:pPr marL="171450" indent="-171450">
              <a:buFont typeface="Arial" panose="020B0604020202020204" pitchFamily="34" charset="0"/>
              <a:buChar char="•"/>
            </a:pPr>
            <a:r>
              <a:rPr lang="en-US" sz="1100" dirty="0">
                <a:solidFill>
                  <a:schemeClr val="tx1"/>
                </a:solidFill>
                <a:latin typeface="IBM Plex Sans Condensed" panose="020B0506050203000203" pitchFamily="34" charset="77"/>
              </a:rPr>
              <a:t>Identify which properties of crude oil are leading to pipeline accidents; extract or minimize the transfer of these properties. </a:t>
            </a:r>
          </a:p>
          <a:p>
            <a:pPr marL="171450" indent="-171450">
              <a:buFont typeface="Arial" panose="020B0604020202020204" pitchFamily="34" charset="0"/>
              <a:buChar char="•"/>
            </a:pPr>
            <a:r>
              <a:rPr lang="en-US" sz="1100" dirty="0">
                <a:solidFill>
                  <a:schemeClr val="tx1"/>
                </a:solidFill>
                <a:latin typeface="IBM Plex Sans Condensed" panose="020B0506050203000203" pitchFamily="34" charset="77"/>
              </a:rPr>
              <a:t>Minimize the number of crude oil-related pipeline incidents based on the analysis of the additional sampling and disclosure of data. Predict the ideal response type for an incident based on the substance that was being carried.</a:t>
            </a:r>
          </a:p>
          <a:p>
            <a:pPr marL="171450" indent="-171450">
              <a:buFont typeface="Arial" panose="020B0604020202020204" pitchFamily="34" charset="0"/>
              <a:buChar char="•"/>
            </a:pPr>
            <a:r>
              <a:rPr lang="en-US" sz="1100" dirty="0">
                <a:solidFill>
                  <a:schemeClr val="tx1"/>
                </a:solidFill>
                <a:latin typeface="IBM Plex Sans Condensed" panose="020B0506050203000203" pitchFamily="34" charset="77"/>
              </a:rPr>
              <a:t>Analyze trends in crude oil prices to identify any economic impact of these regulations (however, safety is the number one priority). </a:t>
            </a:r>
          </a:p>
        </p:txBody>
      </p:sp>
      <p:sp>
        <p:nvSpPr>
          <p:cNvPr id="11" name="Rounded Rectangle 10">
            <a:extLst>
              <a:ext uri="{FF2B5EF4-FFF2-40B4-BE49-F238E27FC236}">
                <a16:creationId xmlns:a16="http://schemas.microsoft.com/office/drawing/2014/main" id="{585BA689-BB0E-D2AA-AB73-66EB5AB25A11}"/>
              </a:ext>
            </a:extLst>
          </p:cNvPr>
          <p:cNvSpPr/>
          <p:nvPr/>
        </p:nvSpPr>
        <p:spPr>
          <a:xfrm>
            <a:off x="290763" y="2549771"/>
            <a:ext cx="1938631" cy="497457"/>
          </a:xfrm>
          <a:prstGeom prst="roundRect">
            <a:avLst/>
          </a:prstGeom>
          <a:solidFill>
            <a:srgbClr val="175C6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Spectral" panose="02020502060000000000" pitchFamily="18" charset="77"/>
              </a:rPr>
              <a:t>Metrics for Quantifying Success</a:t>
            </a:r>
          </a:p>
        </p:txBody>
      </p:sp>
      <p:sp>
        <p:nvSpPr>
          <p:cNvPr id="13" name="Rounded Rectangle 12">
            <a:extLst>
              <a:ext uri="{FF2B5EF4-FFF2-40B4-BE49-F238E27FC236}">
                <a16:creationId xmlns:a16="http://schemas.microsoft.com/office/drawing/2014/main" id="{1BE937AC-2C3A-5362-3921-A3B92817B404}"/>
              </a:ext>
            </a:extLst>
          </p:cNvPr>
          <p:cNvSpPr/>
          <p:nvPr/>
        </p:nvSpPr>
        <p:spPr>
          <a:xfrm>
            <a:off x="290763" y="4554629"/>
            <a:ext cx="1938631" cy="497457"/>
          </a:xfrm>
          <a:prstGeom prst="roundRect">
            <a:avLst/>
          </a:prstGeom>
          <a:solidFill>
            <a:srgbClr val="2DAAA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Spectral" panose="02020502060000000000" pitchFamily="18" charset="77"/>
              </a:rPr>
              <a:t>Implications on the Oil Market</a:t>
            </a:r>
          </a:p>
        </p:txBody>
      </p:sp>
      <p:sp>
        <p:nvSpPr>
          <p:cNvPr id="14" name="Rounded Rectangle 13">
            <a:extLst>
              <a:ext uri="{FF2B5EF4-FFF2-40B4-BE49-F238E27FC236}">
                <a16:creationId xmlns:a16="http://schemas.microsoft.com/office/drawing/2014/main" id="{388FCA6C-F832-F075-8B16-30D4FCF6249E}"/>
              </a:ext>
            </a:extLst>
          </p:cNvPr>
          <p:cNvSpPr/>
          <p:nvPr/>
        </p:nvSpPr>
        <p:spPr>
          <a:xfrm>
            <a:off x="2394855" y="4554629"/>
            <a:ext cx="4615543" cy="1750377"/>
          </a:xfrm>
          <a:prstGeom prst="round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a:solidFill>
                  <a:srgbClr val="2DAAAF"/>
                </a:solidFill>
                <a:latin typeface="IBM Plex Sans Condensed" panose="020B0506050203000203" pitchFamily="34" charset="77"/>
              </a:rPr>
              <a:t>SHORT TERM</a:t>
            </a:r>
          </a:p>
          <a:p>
            <a:endParaRPr lang="en-US" sz="1100" dirty="0">
              <a:solidFill>
                <a:schemeClr val="tx1"/>
              </a:solidFill>
              <a:latin typeface="IBM Plex Sans Condensed" panose="020B0506050203000203" pitchFamily="34" charset="77"/>
            </a:endParaRPr>
          </a:p>
          <a:p>
            <a:pPr marL="171450" indent="-171450">
              <a:buFont typeface="Arial" panose="020B0604020202020204" pitchFamily="34" charset="0"/>
              <a:buChar char="•"/>
            </a:pPr>
            <a:r>
              <a:rPr lang="en-US" sz="1100" dirty="0">
                <a:solidFill>
                  <a:schemeClr val="tx1"/>
                </a:solidFill>
                <a:latin typeface="IBM Plex Sans Condensed" panose="020B0506050203000203" pitchFamily="34" charset="77"/>
              </a:rPr>
              <a:t>Additional funding required to meet disclosures</a:t>
            </a:r>
          </a:p>
          <a:p>
            <a:pPr marL="628650" lvl="1" indent="-171450">
              <a:buFont typeface="Arial" panose="020B0604020202020204" pitchFamily="34" charset="0"/>
              <a:buChar char="•"/>
            </a:pPr>
            <a:r>
              <a:rPr lang="en-US" sz="1100" dirty="0">
                <a:solidFill>
                  <a:schemeClr val="tx1"/>
                </a:solidFill>
                <a:latin typeface="IBM Plex Sans Condensed" panose="020B0506050203000203" pitchFamily="34" charset="77"/>
              </a:rPr>
              <a:t>This would require an up-front investment and could influence company profitability</a:t>
            </a:r>
          </a:p>
          <a:p>
            <a:pPr marL="628650" lvl="1" indent="-171450">
              <a:buFont typeface="Arial" panose="020B0604020202020204" pitchFamily="34" charset="0"/>
              <a:buChar char="•"/>
            </a:pPr>
            <a:r>
              <a:rPr lang="en-US" sz="1100" dirty="0">
                <a:solidFill>
                  <a:schemeClr val="tx1"/>
                </a:solidFill>
                <a:latin typeface="IBM Plex Sans Condensed" panose="020B0506050203000203" pitchFamily="34" charset="77"/>
              </a:rPr>
              <a:t>This could also influence the price of oil that trickles down to consumers</a:t>
            </a:r>
          </a:p>
          <a:p>
            <a:pPr marL="171450" indent="-171450">
              <a:buFont typeface="Arial" panose="020B0604020202020204" pitchFamily="34" charset="0"/>
              <a:buChar char="•"/>
            </a:pPr>
            <a:r>
              <a:rPr lang="en-US" sz="1100" dirty="0">
                <a:solidFill>
                  <a:schemeClr val="tx1"/>
                </a:solidFill>
                <a:latin typeface="IBM Plex Sans Condensed" panose="020B0506050203000203" pitchFamily="34" charset="77"/>
              </a:rPr>
              <a:t>Additional sampling could slow down supply chain which could increase global oil prices (e.g., oil supply chain during COVID-19)</a:t>
            </a:r>
          </a:p>
          <a:p>
            <a:pPr marL="171450" indent="-171450">
              <a:buFont typeface="Arial" panose="020B0604020202020204" pitchFamily="34" charset="0"/>
              <a:buChar char="•"/>
            </a:pPr>
            <a:endParaRPr lang="en-US" sz="1100" dirty="0">
              <a:solidFill>
                <a:schemeClr val="tx1"/>
              </a:solidFill>
              <a:latin typeface="IBM Plex Sans Condensed" panose="020B0506050203000203" pitchFamily="34" charset="77"/>
            </a:endParaRPr>
          </a:p>
        </p:txBody>
      </p:sp>
      <p:sp>
        <p:nvSpPr>
          <p:cNvPr id="15" name="Rounded Rectangle 14">
            <a:extLst>
              <a:ext uri="{FF2B5EF4-FFF2-40B4-BE49-F238E27FC236}">
                <a16:creationId xmlns:a16="http://schemas.microsoft.com/office/drawing/2014/main" id="{F4BD6E55-292A-A4AC-27B1-F343CC862591}"/>
              </a:ext>
            </a:extLst>
          </p:cNvPr>
          <p:cNvSpPr/>
          <p:nvPr/>
        </p:nvSpPr>
        <p:spPr>
          <a:xfrm>
            <a:off x="7046922" y="4554629"/>
            <a:ext cx="4688591" cy="1619748"/>
          </a:xfrm>
          <a:prstGeom prst="round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a:solidFill>
                  <a:srgbClr val="2DAAAF"/>
                </a:solidFill>
                <a:latin typeface="IBM Plex Sans Condensed" panose="020B0506050203000203" pitchFamily="34" charset="77"/>
              </a:rPr>
              <a:t>LONG TERM</a:t>
            </a:r>
          </a:p>
          <a:p>
            <a:endParaRPr lang="en-US" sz="1100" dirty="0">
              <a:solidFill>
                <a:schemeClr val="tx1"/>
              </a:solidFill>
              <a:latin typeface="IBM Plex Sans Condensed" panose="020B0506050203000203" pitchFamily="34" charset="77"/>
            </a:endParaRPr>
          </a:p>
          <a:p>
            <a:pPr marL="171450" indent="-171450">
              <a:buFont typeface="Arial" panose="020B0604020202020204" pitchFamily="34" charset="0"/>
              <a:buChar char="•"/>
            </a:pPr>
            <a:r>
              <a:rPr lang="en-US" sz="1100" dirty="0">
                <a:solidFill>
                  <a:schemeClr val="tx1"/>
                </a:solidFill>
                <a:latin typeface="IBM Plex Sans Condensed" panose="020B0506050203000203" pitchFamily="34" charset="77"/>
              </a:rPr>
              <a:t>Improved safety of pipelines could lead to better public perception of oil transportation. This is especially crucial with a portion of the public demanding the switch to clean energy. </a:t>
            </a:r>
          </a:p>
          <a:p>
            <a:pPr marL="171450" indent="-171450">
              <a:buFont typeface="Arial" panose="020B0604020202020204" pitchFamily="34" charset="0"/>
              <a:buChar char="•"/>
            </a:pPr>
            <a:r>
              <a:rPr lang="en-US" sz="1100" dirty="0">
                <a:solidFill>
                  <a:schemeClr val="tx1"/>
                </a:solidFill>
                <a:latin typeface="IBM Plex Sans Condensed" panose="020B0506050203000203" pitchFamily="34" charset="77"/>
              </a:rPr>
              <a:t>Enhanced transparency regarding crude oil properties could reduce competitive advantages in the market, leading to a more balanced playing field.</a:t>
            </a:r>
          </a:p>
        </p:txBody>
      </p:sp>
    </p:spTree>
    <p:extLst>
      <p:ext uri="{BB962C8B-B14F-4D97-AF65-F5344CB8AC3E}">
        <p14:creationId xmlns:p14="http://schemas.microsoft.com/office/powerpoint/2010/main" val="978028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Validere Acquires Regulatory Reporting Platform Clairifi - Validere">
            <a:extLst>
              <a:ext uri="{FF2B5EF4-FFF2-40B4-BE49-F238E27FC236}">
                <a16:creationId xmlns:a16="http://schemas.microsoft.com/office/drawing/2014/main" id="{0FDE1F5C-16C5-8498-9DE0-2E46B12DF7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2"/>
            <a:ext cx="12192000" cy="68427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Validere Acquires Regulatory Reporting Platform Clairifi - Validere">
            <a:extLst>
              <a:ext uri="{FF2B5EF4-FFF2-40B4-BE49-F238E27FC236}">
                <a16:creationId xmlns:a16="http://schemas.microsoft.com/office/drawing/2014/main" id="{475AA453-2540-595C-9AF1-ABAB7EF5035B}"/>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004B03C2-6477-2A74-0083-A9F5951280FC}"/>
              </a:ext>
            </a:extLst>
          </p:cNvPr>
          <p:cNvSpPr/>
          <p:nvPr/>
        </p:nvSpPr>
        <p:spPr>
          <a:xfrm>
            <a:off x="720864" y="3039815"/>
            <a:ext cx="6698838" cy="4767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bg1"/>
                </a:solidFill>
                <a:latin typeface="Spectral" panose="02020502060000000000" pitchFamily="18" charset="77"/>
              </a:rPr>
              <a:t>References</a:t>
            </a:r>
          </a:p>
        </p:txBody>
      </p:sp>
      <p:cxnSp>
        <p:nvCxnSpPr>
          <p:cNvPr id="10" name="Straight Connector 9">
            <a:extLst>
              <a:ext uri="{FF2B5EF4-FFF2-40B4-BE49-F238E27FC236}">
                <a16:creationId xmlns:a16="http://schemas.microsoft.com/office/drawing/2014/main" id="{CE84DF27-E37A-EC8D-0CD1-61C6DB80C986}"/>
              </a:ext>
            </a:extLst>
          </p:cNvPr>
          <p:cNvCxnSpPr>
            <a:cxnSpLocks/>
          </p:cNvCxnSpPr>
          <p:nvPr/>
        </p:nvCxnSpPr>
        <p:spPr>
          <a:xfrm>
            <a:off x="827314" y="3579789"/>
            <a:ext cx="6731726" cy="0"/>
          </a:xfrm>
          <a:prstGeom prst="line">
            <a:avLst/>
          </a:prstGeom>
          <a:ln w="28575">
            <a:solidFill>
              <a:srgbClr val="D6DBD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083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References</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446A0DB-5D02-B35C-44C5-F05E5426C5DF}"/>
              </a:ext>
            </a:extLst>
          </p:cNvPr>
          <p:cNvSpPr txBox="1"/>
          <p:nvPr/>
        </p:nvSpPr>
        <p:spPr>
          <a:xfrm>
            <a:off x="290763" y="1047347"/>
            <a:ext cx="11682892" cy="4616648"/>
          </a:xfrm>
          <a:prstGeom prst="rect">
            <a:avLst/>
          </a:prstGeom>
          <a:noFill/>
        </p:spPr>
        <p:txBody>
          <a:bodyPr wrap="square" rtlCol="0">
            <a:spAutoFit/>
          </a:bodyPr>
          <a:lstStyle/>
          <a:p>
            <a:r>
              <a:rPr lang="en-US" sz="1400" b="1" dirty="0">
                <a:latin typeface="IBM Plex Sans Condensed" panose="020B0506050203000203" pitchFamily="34" charset="77"/>
              </a:rPr>
              <a:t>Format: Author’s Name, Title, URL</a:t>
            </a:r>
          </a:p>
          <a:p>
            <a:pPr marL="342900" indent="-342900">
              <a:buAutoNum type="arabicPeriod"/>
            </a:pPr>
            <a:endParaRPr lang="en-US" sz="1400" dirty="0">
              <a:latin typeface="IBM Plex Sans Condensed" panose="020B0506050203000203" pitchFamily="34" charset="77"/>
            </a:endParaRPr>
          </a:p>
          <a:p>
            <a:pPr marL="228600" indent="-228600">
              <a:buAutoNum type="arabicPeriod"/>
            </a:pPr>
            <a:r>
              <a:rPr lang="en-US" sz="1400" dirty="0">
                <a:latin typeface="IBM Plex Sans Condensed" panose="020B0506050203000203" pitchFamily="34" charset="77"/>
              </a:rPr>
              <a:t>American Fuel &amp; Petrochemical Manufacturers, A Survey of Bakken Crude Oil Characteristics Assembled For the U.S. Department of Transportation, chrome-extension://</a:t>
            </a:r>
            <a:r>
              <a:rPr lang="en-US" sz="1400" dirty="0" err="1">
                <a:latin typeface="IBM Plex Sans Condensed" panose="020B0506050203000203" pitchFamily="34" charset="77"/>
              </a:rPr>
              <a:t>efaidnbmnnnibpcajpcglclefindmkaj</a:t>
            </a:r>
            <a:r>
              <a:rPr lang="en-US" sz="1400" dirty="0">
                <a:latin typeface="IBM Plex Sans Condensed" panose="020B0506050203000203" pitchFamily="34" charset="77"/>
              </a:rPr>
              <a:t>/https://</a:t>
            </a:r>
            <a:r>
              <a:rPr lang="en-US" sz="1400" dirty="0" err="1">
                <a:latin typeface="IBM Plex Sans Condensed" panose="020B0506050203000203" pitchFamily="34" charset="77"/>
              </a:rPr>
              <a:t>www.nrt.org</a:t>
            </a:r>
            <a:r>
              <a:rPr lang="en-US" sz="1400" dirty="0">
                <a:latin typeface="IBM Plex Sans Condensed" panose="020B0506050203000203" pitchFamily="34" charset="77"/>
              </a:rPr>
              <a:t>/sites/2/files/AFPM%20-%20Survey%20of%20Crude%20Oil%20Characteristics.pdf</a:t>
            </a:r>
          </a:p>
          <a:p>
            <a:pPr marL="228600" indent="-228600">
              <a:buAutoNum type="arabicPeriod"/>
            </a:pPr>
            <a:r>
              <a:rPr lang="en-US" sz="1400" dirty="0">
                <a:latin typeface="IBM Plex Sans Condensed" panose="020B0506050203000203" pitchFamily="34" charset="77"/>
              </a:rPr>
              <a:t>United States Environmental Protection Agency (EPA), Types of Crude Oil, </a:t>
            </a:r>
            <a:r>
              <a:rPr lang="en-US" sz="1400" dirty="0">
                <a:latin typeface="IBM Plex Sans Condensed" panose="020B0506050203000203" pitchFamily="34" charset="77"/>
                <a:hlinkClick r:id="rId3"/>
              </a:rPr>
              <a:t>https://www.epa.gov/emergency-response/types-crude-oil</a:t>
            </a:r>
            <a:endParaRPr lang="en-US" sz="1400" dirty="0">
              <a:latin typeface="IBM Plex Sans Condensed" panose="020B0506050203000203" pitchFamily="34" charset="77"/>
            </a:endParaRPr>
          </a:p>
          <a:p>
            <a:pPr marL="228600" indent="-228600">
              <a:buAutoNum type="arabicPeriod"/>
            </a:pPr>
            <a:r>
              <a:rPr lang="en-US" sz="1400" dirty="0">
                <a:latin typeface="IBM Plex Sans Condensed" panose="020B0506050203000203" pitchFamily="34" charset="77"/>
              </a:rPr>
              <a:t>U.S. Energy Information Administration, Petroleum &amp; Other Liquids – Definitions, Sources and Explanatory Notes, </a:t>
            </a:r>
            <a:r>
              <a:rPr lang="en-US" sz="1400" dirty="0">
                <a:latin typeface="IBM Plex Sans Condensed" panose="020B0506050203000203" pitchFamily="34" charset="77"/>
                <a:hlinkClick r:id="rId4"/>
              </a:rPr>
              <a:t>https://www.eia.gov/dnav/pet/TblDefs/pet_pnp_crq_tbldef2.asp</a:t>
            </a:r>
            <a:endParaRPr lang="en-US" sz="1400" dirty="0">
              <a:latin typeface="IBM Plex Sans Condensed" panose="020B0506050203000203" pitchFamily="34" charset="77"/>
            </a:endParaRPr>
          </a:p>
          <a:p>
            <a:pPr marL="228600" indent="-228600">
              <a:buAutoNum type="arabicPeriod"/>
            </a:pPr>
            <a:r>
              <a:rPr lang="en-US" sz="1400" dirty="0">
                <a:latin typeface="IBM Plex Sans Condensed" panose="020B0506050203000203" pitchFamily="34" charset="77"/>
              </a:rPr>
              <a:t>Kira Beltran, </a:t>
            </a:r>
            <a:r>
              <a:rPr lang="en-US" sz="1400" dirty="0" err="1">
                <a:latin typeface="IBM Plex Sans Condensed" panose="020B0506050203000203" pitchFamily="34" charset="77"/>
              </a:rPr>
              <a:t>PipeSearch</a:t>
            </a:r>
            <a:r>
              <a:rPr lang="en-US" sz="1400" dirty="0">
                <a:latin typeface="IBM Plex Sans Condensed" panose="020B0506050203000203" pitchFamily="34" charset="77"/>
              </a:rPr>
              <a:t>, Types of Crude Oil, </a:t>
            </a:r>
            <a:r>
              <a:rPr lang="en-US" sz="1400" dirty="0">
                <a:latin typeface="IBM Plex Sans Condensed" panose="020B0506050203000203" pitchFamily="34" charset="77"/>
                <a:hlinkClick r:id="rId5"/>
              </a:rPr>
              <a:t>https://www.pipesearch.com/blog/sweet-and-sour-crude-oil/136</a:t>
            </a:r>
            <a:endParaRPr lang="en-US" sz="1400" dirty="0">
              <a:latin typeface="IBM Plex Sans Condensed" panose="020B0506050203000203" pitchFamily="34" charset="77"/>
            </a:endParaRPr>
          </a:p>
          <a:p>
            <a:pPr marL="228600" indent="-228600">
              <a:buAutoNum type="arabicPeriod"/>
            </a:pPr>
            <a:r>
              <a:rPr lang="en-US" sz="1400" dirty="0">
                <a:latin typeface="IBM Plex Sans Condensed" panose="020B0506050203000203" pitchFamily="34" charset="77"/>
              </a:rPr>
              <a:t>PHMSA, Pipeline Failure Causes, </a:t>
            </a:r>
            <a:r>
              <a:rPr lang="en-US" sz="1400" dirty="0">
                <a:latin typeface="IBM Plex Sans Condensed" panose="020B0506050203000203" pitchFamily="34" charset="77"/>
                <a:hlinkClick r:id="rId6"/>
              </a:rPr>
              <a:t>https://www.phmsa.dot.gov/incident-reporting/accident-investigation-division/pipeline-failure-causes</a:t>
            </a:r>
            <a:endParaRPr lang="en-US" sz="1400" dirty="0">
              <a:latin typeface="IBM Plex Sans Condensed" panose="020B0506050203000203" pitchFamily="34" charset="77"/>
            </a:endParaRPr>
          </a:p>
          <a:p>
            <a:pPr marL="228600" indent="-228600">
              <a:buAutoNum type="arabicPeriod"/>
            </a:pPr>
            <a:r>
              <a:rPr lang="en-US" sz="1400" dirty="0">
                <a:latin typeface="IBM Plex Sans Condensed" panose="020B0506050203000203" pitchFamily="34" charset="77"/>
              </a:rPr>
              <a:t>Government of Canada, FAQs Concerning Federally-Regulated Petroleum Pipelines in Canada, </a:t>
            </a:r>
            <a:r>
              <a:rPr lang="en-US" sz="1400" dirty="0">
                <a:latin typeface="IBM Plex Sans Condensed" panose="020B0506050203000203" pitchFamily="34" charset="77"/>
                <a:hlinkClick r:id="rId7"/>
              </a:rPr>
              <a:t>https://natural-resources.canada.ca/our-natural-resources/energy-sources-distribution/fossil-fuels/pipelines/faqs-federally-regulated-petroleum-pipelines-canada/5893#h-4-1</a:t>
            </a:r>
            <a:endParaRPr lang="en-US" sz="1400" dirty="0">
              <a:latin typeface="IBM Plex Sans Condensed" panose="020B0506050203000203" pitchFamily="34" charset="77"/>
            </a:endParaRPr>
          </a:p>
          <a:p>
            <a:pPr marL="228600" indent="-228600">
              <a:buFontTx/>
              <a:buAutoNum type="arabicPeriod"/>
            </a:pPr>
            <a:r>
              <a:rPr lang="en-US" sz="1400" dirty="0">
                <a:latin typeface="IBM Plex Sans Condensed" panose="020B0506050203000203" pitchFamily="34" charset="77"/>
              </a:rPr>
              <a:t>PHMSA, PHMSA Regulations, </a:t>
            </a:r>
            <a:r>
              <a:rPr lang="en-US" sz="1400" dirty="0">
                <a:latin typeface="IBM Plex Sans Condensed" panose="020B0506050203000203" pitchFamily="34" charset="77"/>
                <a:hlinkClick r:id="rId8"/>
              </a:rPr>
              <a:t>https://www.phmsa.dot.gov/regulations</a:t>
            </a:r>
            <a:endParaRPr lang="en-US" sz="1400" dirty="0">
              <a:latin typeface="IBM Plex Sans Condensed" panose="020B0506050203000203" pitchFamily="34" charset="77"/>
            </a:endParaRPr>
          </a:p>
          <a:p>
            <a:pPr marL="228600" indent="-228600">
              <a:buFontTx/>
              <a:buAutoNum type="arabicPeriod"/>
            </a:pPr>
            <a:r>
              <a:rPr lang="en-US" sz="1400" dirty="0">
                <a:latin typeface="IBM Plex Sans Condensed" panose="020B0506050203000203" pitchFamily="34" charset="77"/>
              </a:rPr>
              <a:t>Transportation Safety Board of Canada (TSB), Pipeline occurrence datasets from January 1979, </a:t>
            </a:r>
            <a:r>
              <a:rPr lang="en-US" sz="1400" dirty="0">
                <a:latin typeface="IBM Plex Sans Condensed" panose="020B0506050203000203" pitchFamily="34" charset="77"/>
                <a:hlinkClick r:id="rId9"/>
              </a:rPr>
              <a:t>https://www.tsb.gc.ca/eng/stats/pipeline/data-2.html</a:t>
            </a:r>
            <a:endParaRPr lang="en-US" sz="1400" dirty="0">
              <a:latin typeface="IBM Plex Sans Condensed" panose="020B0506050203000203" pitchFamily="34" charset="77"/>
            </a:endParaRPr>
          </a:p>
          <a:p>
            <a:pPr marL="228600" indent="-228600">
              <a:buFontTx/>
              <a:buAutoNum type="arabicPeriod"/>
            </a:pPr>
            <a:r>
              <a:rPr lang="en-US" sz="1400" dirty="0">
                <a:latin typeface="IBM Plex Sans Condensed" panose="020B0506050203000203" pitchFamily="34" charset="77"/>
              </a:rPr>
              <a:t>Michael Klem, Rapid Identification of Crude Oil Properties, chrome-extension://</a:t>
            </a:r>
            <a:r>
              <a:rPr lang="en-US" sz="1400" dirty="0" err="1">
                <a:latin typeface="IBM Plex Sans Condensed" panose="020B0506050203000203" pitchFamily="34" charset="77"/>
              </a:rPr>
              <a:t>efaidnbmnnnibpcajpcglclefindmkaj</a:t>
            </a:r>
            <a:r>
              <a:rPr lang="en-US" sz="1400" dirty="0">
                <a:latin typeface="IBM Plex Sans Condensed" panose="020B0506050203000203" pitchFamily="34" charset="77"/>
              </a:rPr>
              <a:t>/https://</a:t>
            </a:r>
            <a:r>
              <a:rPr lang="en-US" sz="1400" dirty="0" err="1">
                <a:latin typeface="IBM Plex Sans Condensed" panose="020B0506050203000203" pitchFamily="34" charset="77"/>
              </a:rPr>
              <a:t>www.phmsa.dot.gov</a:t>
            </a:r>
            <a:r>
              <a:rPr lang="en-US" sz="1400" dirty="0">
                <a:latin typeface="IBM Plex Sans Condensed" panose="020B0506050203000203" pitchFamily="34" charset="77"/>
              </a:rPr>
              <a:t>/sites/</a:t>
            </a:r>
            <a:r>
              <a:rPr lang="en-US" sz="1400" dirty="0" err="1">
                <a:latin typeface="IBM Plex Sans Condensed" panose="020B0506050203000203" pitchFamily="34" charset="77"/>
              </a:rPr>
              <a:t>phmsa.dot.gov</a:t>
            </a:r>
            <a:r>
              <a:rPr lang="en-US" sz="1400" dirty="0">
                <a:latin typeface="IBM Plex Sans Condensed" panose="020B0506050203000203" pitchFamily="34" charset="77"/>
              </a:rPr>
              <a:t>/files/docs/</a:t>
            </a:r>
            <a:r>
              <a:rPr lang="en-US" sz="1400" dirty="0" err="1">
                <a:latin typeface="IBM Plex Sans Condensed" panose="020B0506050203000203" pitchFamily="34" charset="77"/>
              </a:rPr>
              <a:t>Rapid_Oil_Classification_of_Crude_Oil_Michael_Klem.pdf</a:t>
            </a:r>
            <a:endParaRPr lang="en-US" sz="1400" dirty="0">
              <a:latin typeface="IBM Plex Sans Condensed" panose="020B0506050203000203" pitchFamily="34" charset="77"/>
            </a:endParaRPr>
          </a:p>
          <a:p>
            <a:pPr marL="228600" indent="-228600">
              <a:buFontTx/>
              <a:buAutoNum type="arabicPeriod"/>
            </a:pPr>
            <a:r>
              <a:rPr lang="en-US" sz="1400" dirty="0">
                <a:latin typeface="IBM Plex Sans Condensed" panose="020B0506050203000203" pitchFamily="34" charset="77"/>
              </a:rPr>
              <a:t>PHMSA, Safe Transportation of Energy Products Overview, </a:t>
            </a:r>
            <a:r>
              <a:rPr lang="en-US" sz="1400" dirty="0">
                <a:latin typeface="IBM Plex Sans Condensed" panose="020B0506050203000203" pitchFamily="34" charset="77"/>
                <a:hlinkClick r:id="rId10"/>
              </a:rPr>
              <a:t>https://www.phmsa.dot.gov/safe-transportation-energy-products/safe-transportation-energy-products-overview</a:t>
            </a:r>
            <a:endParaRPr lang="en-US" sz="1400" dirty="0">
              <a:latin typeface="IBM Plex Sans Condensed" panose="020B0506050203000203" pitchFamily="34" charset="77"/>
            </a:endParaRPr>
          </a:p>
          <a:p>
            <a:pPr marL="228600" indent="-228600">
              <a:buAutoNum type="arabicPeriod"/>
            </a:pPr>
            <a:r>
              <a:rPr lang="en-US" sz="1400" dirty="0">
                <a:latin typeface="IBM Plex Sans Condensed" panose="020B0506050203000203" pitchFamily="34" charset="77"/>
              </a:rPr>
              <a:t>U.S. Department of Energy (DOE), Crude Oil Characteristics Research Sampling, Analysis and Experiment (SAE) Plan</a:t>
            </a:r>
          </a:p>
          <a:p>
            <a:pPr marL="228600" indent="-228600">
              <a:buAutoNum type="arabicPeriod"/>
            </a:pPr>
            <a:r>
              <a:rPr lang="en-US" sz="1400" dirty="0">
                <a:latin typeface="IBM Plex Sans Condensed" panose="020B0506050203000203" pitchFamily="34" charset="77"/>
              </a:rPr>
              <a:t>Province of Alberta, OIL AND GAS CONSERVATION RULES, https://</a:t>
            </a:r>
            <a:r>
              <a:rPr lang="en-US" sz="1400" dirty="0" err="1">
                <a:latin typeface="IBM Plex Sans Condensed" panose="020B0506050203000203" pitchFamily="34" charset="77"/>
              </a:rPr>
              <a:t>www.kings-printer.alberta.ca</a:t>
            </a:r>
            <a:r>
              <a:rPr lang="en-US" sz="1400" dirty="0">
                <a:latin typeface="IBM Plex Sans Condensed" panose="020B0506050203000203" pitchFamily="34" charset="77"/>
              </a:rPr>
              <a:t>/1266.cfm?page=1971_151.cfm&amp;leg_type=</a:t>
            </a:r>
            <a:r>
              <a:rPr lang="en-US" sz="1400" dirty="0" err="1">
                <a:latin typeface="IBM Plex Sans Condensed" panose="020B0506050203000203" pitchFamily="34" charset="77"/>
              </a:rPr>
              <a:t>Regs&amp;isbncln</a:t>
            </a:r>
            <a:r>
              <a:rPr lang="en-US" sz="1400" dirty="0">
                <a:latin typeface="IBM Plex Sans Condensed" panose="020B0506050203000203" pitchFamily="34" charset="77"/>
              </a:rPr>
              <a:t>=9780779807390</a:t>
            </a:r>
          </a:p>
        </p:txBody>
      </p:sp>
      <p:cxnSp>
        <p:nvCxnSpPr>
          <p:cNvPr id="3" name="Straight Connector 2">
            <a:extLst>
              <a:ext uri="{FF2B5EF4-FFF2-40B4-BE49-F238E27FC236}">
                <a16:creationId xmlns:a16="http://schemas.microsoft.com/office/drawing/2014/main" id="{64CED696-04EE-B81C-4804-319C0856FA9E}"/>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1974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Validere expands market fundamentals team with key new hires - Validere">
            <a:extLst>
              <a:ext uri="{FF2B5EF4-FFF2-40B4-BE49-F238E27FC236}">
                <a16:creationId xmlns:a16="http://schemas.microsoft.com/office/drawing/2014/main" id="{8C793E36-BE88-9323-69E1-1A63865EF6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055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Validere Acquires Regulatory Reporting Platform Clairifi - Validere">
            <a:extLst>
              <a:ext uri="{FF2B5EF4-FFF2-40B4-BE49-F238E27FC236}">
                <a16:creationId xmlns:a16="http://schemas.microsoft.com/office/drawing/2014/main" id="{F21EC8ED-FC03-53AF-EC97-8BE020DBED03}"/>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F136DB0-AC35-F84E-D5CC-DD041D591805}"/>
              </a:ext>
            </a:extLst>
          </p:cNvPr>
          <p:cNvSpPr/>
          <p:nvPr/>
        </p:nvSpPr>
        <p:spPr>
          <a:xfrm>
            <a:off x="720865" y="3039815"/>
            <a:ext cx="6698838" cy="4767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bg1"/>
                </a:solidFill>
                <a:latin typeface="Spectral" panose="02020502060000000000" pitchFamily="18" charset="77"/>
              </a:rPr>
              <a:t>Appendix</a:t>
            </a:r>
          </a:p>
        </p:txBody>
      </p:sp>
      <p:cxnSp>
        <p:nvCxnSpPr>
          <p:cNvPr id="5" name="Straight Connector 4">
            <a:extLst>
              <a:ext uri="{FF2B5EF4-FFF2-40B4-BE49-F238E27FC236}">
                <a16:creationId xmlns:a16="http://schemas.microsoft.com/office/drawing/2014/main" id="{A0EDBF0E-F28A-F1AA-F6B5-69E10160F312}"/>
              </a:ext>
            </a:extLst>
          </p:cNvPr>
          <p:cNvCxnSpPr>
            <a:cxnSpLocks/>
          </p:cNvCxnSpPr>
          <p:nvPr/>
        </p:nvCxnSpPr>
        <p:spPr>
          <a:xfrm>
            <a:off x="827314" y="3579789"/>
            <a:ext cx="6731726" cy="0"/>
          </a:xfrm>
          <a:prstGeom prst="line">
            <a:avLst/>
          </a:prstGeom>
          <a:ln w="28575">
            <a:solidFill>
              <a:srgbClr val="D6DBD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390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Appendix A: Composition of Bakken Crude Oil</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A0CCA5E9-1717-D49E-4416-88763975C56C}"/>
              </a:ext>
            </a:extLst>
          </p:cNvPr>
          <p:cNvGraphicFramePr>
            <a:graphicFrameLocks noGrp="1"/>
          </p:cNvGraphicFramePr>
          <p:nvPr>
            <p:extLst>
              <p:ext uri="{D42A27DB-BD31-4B8C-83A1-F6EECF244321}">
                <p14:modId xmlns:p14="http://schemas.microsoft.com/office/powerpoint/2010/main" val="2228488957"/>
              </p:ext>
            </p:extLst>
          </p:nvPr>
        </p:nvGraphicFramePr>
        <p:xfrm>
          <a:off x="3807095" y="1615440"/>
          <a:ext cx="4064001" cy="362712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4049625348"/>
                    </a:ext>
                  </a:extLst>
                </a:gridCol>
                <a:gridCol w="1354667">
                  <a:extLst>
                    <a:ext uri="{9D8B030D-6E8A-4147-A177-3AD203B41FA5}">
                      <a16:colId xmlns:a16="http://schemas.microsoft.com/office/drawing/2014/main" val="3951251874"/>
                    </a:ext>
                  </a:extLst>
                </a:gridCol>
                <a:gridCol w="1354667">
                  <a:extLst>
                    <a:ext uri="{9D8B030D-6E8A-4147-A177-3AD203B41FA5}">
                      <a16:colId xmlns:a16="http://schemas.microsoft.com/office/drawing/2014/main" val="1527429592"/>
                    </a:ext>
                  </a:extLst>
                </a:gridCol>
              </a:tblGrid>
              <a:tr h="148014">
                <a:tc>
                  <a:txBody>
                    <a:bodyPr/>
                    <a:lstStyle/>
                    <a:p>
                      <a:r>
                        <a:rPr lang="en-US" sz="1000" dirty="0">
                          <a:solidFill>
                            <a:schemeClr val="bg1"/>
                          </a:solidFill>
                          <a:latin typeface="IBM Plex Sans Condensed" panose="020B0506050203000203" pitchFamily="34" charset="77"/>
                        </a:rPr>
                        <a:t>Hydrocarbon gas</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A2536"/>
                    </a:solidFill>
                  </a:tcPr>
                </a:tc>
                <a:tc>
                  <a:txBody>
                    <a:bodyPr/>
                    <a:lstStyle/>
                    <a:p>
                      <a:r>
                        <a:rPr lang="en-US" sz="1000" dirty="0">
                          <a:solidFill>
                            <a:schemeClr val="bg1"/>
                          </a:solidFill>
                          <a:latin typeface="IBM Plex Sans Condensed" panose="020B0506050203000203" pitchFamily="34" charset="77"/>
                        </a:rPr>
                        <a:t>Concentration in Liquid Volume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A2536"/>
                    </a:solidFill>
                  </a:tcPr>
                </a:tc>
                <a:tc>
                  <a:txBody>
                    <a:bodyPr/>
                    <a:lstStyle/>
                    <a:p>
                      <a:r>
                        <a:rPr lang="en-US" sz="1000" dirty="0">
                          <a:solidFill>
                            <a:schemeClr val="bg1"/>
                          </a:solidFill>
                          <a:latin typeface="IBM Plex Sans Condensed" panose="020B0506050203000203" pitchFamily="34" charset="77"/>
                        </a:rPr>
                        <a:t>DOT Classification</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0A2536"/>
                    </a:solidFill>
                  </a:tcPr>
                </a:tc>
                <a:extLst>
                  <a:ext uri="{0D108BD9-81ED-4DB2-BD59-A6C34878D82A}">
                    <a16:rowId xmlns:a16="http://schemas.microsoft.com/office/drawing/2014/main" val="2553333783"/>
                  </a:ext>
                </a:extLst>
              </a:tr>
              <a:tr h="148014">
                <a:tc>
                  <a:txBody>
                    <a:bodyPr/>
                    <a:lstStyle/>
                    <a:p>
                      <a:r>
                        <a:rPr lang="en-US" sz="1000" dirty="0">
                          <a:latin typeface="IBM Plex Sans Condensed" panose="020B0506050203000203" pitchFamily="34" charset="77"/>
                        </a:rPr>
                        <a:t>Methane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&lt;0.01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Div. 2.1 Gas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4565260"/>
                  </a:ext>
                </a:extLst>
              </a:tr>
              <a:tr h="148014">
                <a:tc>
                  <a:txBody>
                    <a:bodyPr/>
                    <a:lstStyle/>
                    <a:p>
                      <a:r>
                        <a:rPr lang="en-US" sz="1000" dirty="0">
                          <a:latin typeface="IBM Plex Sans Condensed" panose="020B0506050203000203" pitchFamily="34" charset="77"/>
                        </a:rPr>
                        <a:t>Ethane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IBM Plex Sans Condensed" panose="020B0506050203000203" pitchFamily="34" charset="77"/>
                        </a:rPr>
                        <a:t>Div. 2.1 Gas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0996065"/>
                  </a:ext>
                </a:extLst>
              </a:tr>
              <a:tr h="148014">
                <a:tc>
                  <a:txBody>
                    <a:bodyPr/>
                    <a:lstStyle/>
                    <a:p>
                      <a:r>
                        <a:rPr lang="en-US" sz="1000" dirty="0">
                          <a:latin typeface="IBM Plex Sans Condensed" panose="020B0506050203000203" pitchFamily="34" charset="77"/>
                        </a:rPr>
                        <a:t>Propane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0.80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IBM Plex Sans Condensed" panose="020B0506050203000203" pitchFamily="34" charset="77"/>
                        </a:rPr>
                        <a:t>Div. 2.1 Gas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4387885"/>
                  </a:ext>
                </a:extLst>
              </a:tr>
              <a:tr h="148014">
                <a:tc>
                  <a:txBody>
                    <a:bodyPr/>
                    <a:lstStyle/>
                    <a:p>
                      <a:r>
                        <a:rPr lang="en-US" sz="1000" dirty="0">
                          <a:latin typeface="IBM Plex Sans Condensed" panose="020B0506050203000203" pitchFamily="34" charset="77"/>
                        </a:rPr>
                        <a:t>Iso-Butane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0.46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IBM Plex Sans Condensed" panose="020B0506050203000203" pitchFamily="34" charset="77"/>
                        </a:rPr>
                        <a:t>Div. 2.1 Gas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8878070"/>
                  </a:ext>
                </a:extLst>
              </a:tr>
              <a:tr h="148014">
                <a:tc>
                  <a:txBody>
                    <a:bodyPr/>
                    <a:lstStyle/>
                    <a:p>
                      <a:r>
                        <a:rPr lang="en-US" sz="1000" dirty="0">
                          <a:latin typeface="IBM Plex Sans Condensed" panose="020B0506050203000203" pitchFamily="34" charset="77"/>
                        </a:rPr>
                        <a:t>N- Butane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2.36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IBM Plex Sans Condensed" panose="020B0506050203000203" pitchFamily="34" charset="77"/>
                        </a:rPr>
                        <a:t>Div. 2.1 Gas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7104529"/>
                  </a:ext>
                </a:extLst>
              </a:tr>
              <a:tr h="148014">
                <a:tc>
                  <a:txBody>
                    <a:bodyPr/>
                    <a:lstStyle/>
                    <a:p>
                      <a:r>
                        <a:rPr lang="en-US" sz="1000" dirty="0">
                          <a:latin typeface="IBM Plex Sans Condensed" panose="020B0506050203000203" pitchFamily="34" charset="77"/>
                        </a:rPr>
                        <a:t>Total Gas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3.67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0" dirty="0">
                        <a:latin typeface="IBM Plex Sans Condensed" panose="020B0506050203000203" pitchFamily="34" charset="77"/>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2430970"/>
                  </a:ext>
                </a:extLst>
              </a:tr>
              <a:tr h="148014">
                <a:tc>
                  <a:txBody>
                    <a:bodyPr/>
                    <a:lstStyle/>
                    <a:p>
                      <a:r>
                        <a:rPr lang="en-US" sz="1000" dirty="0">
                          <a:latin typeface="IBM Plex Sans Condensed" panose="020B0506050203000203" pitchFamily="34" charset="77"/>
                        </a:rPr>
                        <a:t>Neopentane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&lt;0.01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Class3; PG I</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5583352"/>
                  </a:ext>
                </a:extLst>
              </a:tr>
              <a:tr h="148014">
                <a:tc>
                  <a:txBody>
                    <a:bodyPr/>
                    <a:lstStyle/>
                    <a:p>
                      <a:r>
                        <a:rPr lang="en-US" sz="1000" dirty="0">
                          <a:latin typeface="IBM Plex Sans Condensed" panose="020B0506050203000203" pitchFamily="34" charset="77"/>
                        </a:rPr>
                        <a:t>Iso-Pentane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1.33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Class3; PG I</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0501438"/>
                  </a:ext>
                </a:extLst>
              </a:tr>
              <a:tr h="148014">
                <a:tc>
                  <a:txBody>
                    <a:bodyPr/>
                    <a:lstStyle/>
                    <a:p>
                      <a:r>
                        <a:rPr lang="en-US" sz="1000" dirty="0">
                          <a:latin typeface="IBM Plex Sans Condensed" panose="020B0506050203000203" pitchFamily="34" charset="77"/>
                        </a:rPr>
                        <a:t>N-Pentane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2.36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Class3; PG II</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8391748"/>
                  </a:ext>
                </a:extLst>
              </a:tr>
              <a:tr h="148014">
                <a:tc>
                  <a:txBody>
                    <a:bodyPr/>
                    <a:lstStyle/>
                    <a:p>
                      <a:r>
                        <a:rPr lang="en-US" sz="1000" dirty="0">
                          <a:latin typeface="IBM Plex Sans Condensed" panose="020B0506050203000203" pitchFamily="34" charset="77"/>
                        </a:rPr>
                        <a:t>Hexanes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4.10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Class3; PG II</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4346941"/>
                  </a:ext>
                </a:extLst>
              </a:tr>
              <a:tr h="158152">
                <a:tc>
                  <a:txBody>
                    <a:bodyPr/>
                    <a:lstStyle/>
                    <a:p>
                      <a:r>
                        <a:rPr lang="en-US" sz="1000" dirty="0" err="1">
                          <a:latin typeface="IBM Plex Sans Condensed" panose="020B0506050203000203" pitchFamily="34" charset="77"/>
                        </a:rPr>
                        <a:t>Heptanes</a:t>
                      </a:r>
                      <a:r>
                        <a:rPr lang="en-US" sz="1000" dirty="0">
                          <a:latin typeface="IBM Plex Sans Condensed" panose="020B0506050203000203" pitchFamily="34" charset="77"/>
                        </a:rPr>
                        <a:t> Plus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88.56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Varies Class 3; PG II to combustible liquid to non-regulated</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8399556"/>
                  </a:ext>
                </a:extLst>
              </a:tr>
              <a:tr h="148014">
                <a:tc>
                  <a:txBody>
                    <a:bodyPr/>
                    <a:lstStyle/>
                    <a:p>
                      <a:r>
                        <a:rPr lang="en-US" sz="1000" dirty="0">
                          <a:latin typeface="IBM Plex Sans Condensed" panose="020B0506050203000203" pitchFamily="34" charset="77"/>
                        </a:rPr>
                        <a:t>Benzenes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sz="1000" dirty="0">
                          <a:latin typeface="IBM Plex Sans Condensed" panose="020B0506050203000203" pitchFamily="34" charset="77"/>
                        </a:rPr>
                        <a:t>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sz="1000" dirty="0">
                          <a:latin typeface="IBM Plex Sans Condensed" panose="020B0506050203000203" pitchFamily="34" charset="77"/>
                        </a:rPr>
                        <a:t>Class 3; PG II</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02920469"/>
                  </a:ext>
                </a:extLst>
              </a:tr>
            </a:tbl>
          </a:graphicData>
        </a:graphic>
      </p:graphicFrame>
      <p:cxnSp>
        <p:nvCxnSpPr>
          <p:cNvPr id="2" name="Straight Connector 1">
            <a:extLst>
              <a:ext uri="{FF2B5EF4-FFF2-40B4-BE49-F238E27FC236}">
                <a16:creationId xmlns:a16="http://schemas.microsoft.com/office/drawing/2014/main" id="{504E4F31-6877-2D81-E605-66C7981CE34A}"/>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8600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6184</TotalTime>
  <Words>5223</Words>
  <Application>Microsoft Macintosh PowerPoint</Application>
  <PresentationFormat>Widescreen</PresentationFormat>
  <Paragraphs>460</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IBM Plex Sans Condensed</vt:lpstr>
      <vt:lpstr>Spectral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Kiera Mcwatt</dc:creator>
  <cp:lastModifiedBy>Kiera Mcwatt</cp:lastModifiedBy>
  <cp:revision>59</cp:revision>
  <dcterms:created xsi:type="dcterms:W3CDTF">2024-01-23T17:24:49Z</dcterms:created>
  <dcterms:modified xsi:type="dcterms:W3CDTF">2024-01-29T23:40:32Z</dcterms:modified>
</cp:coreProperties>
</file>